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3"/>
    <p:sldMasterId id="2147483669" r:id="rId4"/>
  </p:sldMasterIdLst>
  <p:notesMasterIdLst>
    <p:notesMasterId r:id="rId32"/>
  </p:notesMasterIdLst>
  <p:sldIdLst>
    <p:sldId id="256" r:id="rId5"/>
    <p:sldId id="297" r:id="rId6"/>
    <p:sldId id="272" r:id="rId7"/>
    <p:sldId id="266" r:id="rId8"/>
    <p:sldId id="267" r:id="rId9"/>
    <p:sldId id="268" r:id="rId10"/>
    <p:sldId id="269" r:id="rId11"/>
    <p:sldId id="270" r:id="rId12"/>
    <p:sldId id="271" r:id="rId13"/>
    <p:sldId id="273" r:id="rId14"/>
    <p:sldId id="274" r:id="rId15"/>
    <p:sldId id="275" r:id="rId16"/>
    <p:sldId id="276" r:id="rId17"/>
    <p:sldId id="277" r:id="rId18"/>
    <p:sldId id="278" r:id="rId19"/>
    <p:sldId id="279" r:id="rId20"/>
    <p:sldId id="280" r:id="rId21"/>
    <p:sldId id="281" r:id="rId22"/>
    <p:sldId id="288" r:id="rId23"/>
    <p:sldId id="289" r:id="rId24"/>
    <p:sldId id="290" r:id="rId25"/>
    <p:sldId id="291" r:id="rId26"/>
    <p:sldId id="292" r:id="rId27"/>
    <p:sldId id="293" r:id="rId28"/>
    <p:sldId id="294" r:id="rId29"/>
    <p:sldId id="295" r:id="rId30"/>
    <p:sldId id="296"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NGJIAN" initials="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6" Type="http://schemas.openxmlformats.org/officeDocument/2006/relationships/commentAuthors" Target="commentAuthors.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notesMaster" Target="notesMasters/notesMaster1.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charset="0"/>
                  <a:ea typeface="宋体" panose="02010600030101010101" pitchFamily="2" charset="-122"/>
                </a:defRPr>
              </a:lvl2pPr>
              <a:lvl3pPr marL="1143000" indent="-228600">
                <a:defRPr>
                  <a:latin typeface="Calibri" panose="020F0502020204030204" charset="0"/>
                  <a:ea typeface="宋体" panose="02010600030101010101" pitchFamily="2" charset="-122"/>
                </a:defRPr>
              </a:lvl3pPr>
              <a:lvl4pPr marL="1600200" indent="-228600">
                <a:defRPr>
                  <a:latin typeface="Calibri" panose="020F0502020204030204" charset="0"/>
                  <a:ea typeface="宋体" panose="02010600030101010101" pitchFamily="2" charset="-122"/>
                </a:defRPr>
              </a:lvl4pPr>
              <a:lvl5pPr marL="2057400" indent="-228600">
                <a:defRPr>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charset="0"/>
                  <a:ea typeface="宋体" panose="02010600030101010101" pitchFamily="2" charset="-122"/>
                </a:defRPr>
              </a:lvl9pPr>
            </a:lstStyle>
            <a:p>
              <a:r>
                <a:rPr lang="zh-CN" altLang="en-US" dirty="0">
                  <a:solidFill>
                    <a:srgbClr val="AD2B26"/>
                  </a:solidFill>
                  <a:latin typeface="Sitka Heading" charset="0"/>
                  <a:ea typeface="Sitka Heading" charset="0"/>
                  <a:cs typeface="Sitka Heading" charset="0"/>
                </a:rPr>
                <a:t>案例</a:t>
              </a:r>
              <a:endParaRPr lang="zh-CN" altLang="en-US" dirty="0">
                <a:solidFill>
                  <a:srgbClr val="AD2B26"/>
                </a:solidFill>
                <a:latin typeface="Sitka Heading" charset="0"/>
                <a:ea typeface="Sitka Heading" charset="0"/>
                <a:cs typeface="Sitka Heading" charset="0"/>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charset="0"/>
                  <a:ea typeface="宋体" panose="02010600030101010101" pitchFamily="2" charset="-122"/>
                </a:defRPr>
              </a:lvl2pPr>
              <a:lvl3pPr marL="1143000" indent="-228600">
                <a:defRPr>
                  <a:latin typeface="Calibri" panose="020F0502020204030204" charset="0"/>
                  <a:ea typeface="宋体" panose="02010600030101010101" pitchFamily="2" charset="-122"/>
                </a:defRPr>
              </a:lvl3pPr>
              <a:lvl4pPr marL="1600200" indent="-228600">
                <a:defRPr>
                  <a:latin typeface="Calibri" panose="020F0502020204030204" charset="0"/>
                  <a:ea typeface="宋体" panose="02010600030101010101" pitchFamily="2" charset="-122"/>
                </a:defRPr>
              </a:lvl4pPr>
              <a:lvl5pPr marL="2057400" indent="-228600">
                <a:defRPr>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charset="0"/>
                  <a:ea typeface="宋体" panose="02010600030101010101" pitchFamily="2" charset="-122"/>
                </a:defRPr>
              </a:lvl9pPr>
            </a:lstStyle>
            <a:p>
              <a:r>
                <a:rPr lang="zh-CN" altLang="en-US" dirty="0">
                  <a:solidFill>
                    <a:srgbClr val="AD2B26"/>
                  </a:solidFill>
                  <a:latin typeface="Sitka Heading" charset="0"/>
                  <a:ea typeface="Sitka Heading" charset="0"/>
                  <a:cs typeface="Sitka Heading" charset="0"/>
                </a:rPr>
                <a:t>练习</a:t>
              </a:r>
              <a:endParaRPr lang="zh-CN" altLang="en-US" dirty="0">
                <a:solidFill>
                  <a:srgbClr val="AD2B26"/>
                </a:solidFill>
                <a:latin typeface="Sitka Heading" charset="0"/>
                <a:ea typeface="Sitka Heading" charset="0"/>
                <a:cs typeface="Sitka Heading" charset="0"/>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Sitka Heading" charset="0"/>
                <a:ea typeface="Sitka Heading" charset="0"/>
                <a:cs typeface="Sitka Heading" charset="0"/>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Sitka Heading" charset="0"/>
                <a:ea typeface="Sitka Heading" charset="0"/>
                <a:cs typeface="Sitka Heading" charset="0"/>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Sitka Heading" charset="0"/>
                <a:ea typeface="Sitka Heading" charset="0"/>
                <a:cs typeface="Sitka Heading" charset="0"/>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Sitka Heading" charset="0"/>
                <a:ea typeface="Sitka Heading" charset="0"/>
                <a:cs typeface="Sitka Heading" charset="0"/>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Sitka Heading" charset="0"/>
                <a:ea typeface="Sitka Heading" charset="0"/>
                <a:cs typeface="Sitka Heading" charset="0"/>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image" Target="../media/image3.png"/><Relationship Id="rId1"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5" Type="http://schemas.openxmlformats.org/officeDocument/2006/relationships/theme" Target="../theme/theme3.xml"/><Relationship Id="rId4" Type="http://schemas.openxmlformats.org/officeDocument/2006/relationships/slideLayout" Target="../slideLayouts/slideLayout23.xml"/><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0" name="矩形 9"/>
          <p:cNvSpPr/>
          <p:nvPr userDrawn="1"/>
        </p:nvSpPr>
        <p:spPr>
          <a:xfrm>
            <a:off x="4504267" y="260138"/>
            <a:ext cx="7687727" cy="430887"/>
          </a:xfrm>
          <a:prstGeom prst="rect">
            <a:avLst/>
          </a:prstGeom>
        </p:spPr>
        <p:txBody>
          <a:bodyPr wrap="square">
            <a:spAutoFit/>
          </a:bodyPr>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多一句没有，少一句不行，用最短时间，教会最实用的技术！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
        <p:nvSpPr>
          <p:cNvPr id="15" name="矩形 14"/>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17" name="矩形 16"/>
          <p:cNvSpPr/>
          <p:nvPr userDrawn="1"/>
        </p:nvSpPr>
        <p:spPr>
          <a:xfrm>
            <a:off x="-52550" y="719257"/>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19" name="矩形 18"/>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21" name="矩形 20"/>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2" name="任意形状 21"/>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3" name="矩形 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charset="-122"/>
            </a:endParaRPr>
          </a:p>
        </p:txBody>
      </p:sp>
      <p:sp>
        <p:nvSpPr>
          <p:cNvPr id="4"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charset="-122"/>
            </a:endParaRPr>
          </a:p>
        </p:txBody>
      </p:sp>
      <p:sp>
        <p:nvSpPr>
          <p:cNvPr id="5" name="矩形 4"/>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8"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6.png"/><Relationship Id="rId1"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4.png"/><Relationship Id="rId1" Type="http://schemas.openxmlformats.org/officeDocument/2006/relationships/image" Target="../media/image33.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en-US" dirty="0"/>
              <a:t>Spark</a:t>
            </a:r>
            <a:r>
              <a:rPr kumimoji="1" lang="zh-CN" altLang="en-US" dirty="0"/>
              <a:t>新特性</a:t>
            </a:r>
            <a:r>
              <a:rPr kumimoji="1" lang="en-US" altLang="zh-CN" dirty="0"/>
              <a:t>+</a:t>
            </a:r>
            <a:r>
              <a:rPr kumimoji="1" lang="zh-CN" altLang="en-US" dirty="0">
                <a:sym typeface="+mn-ea"/>
              </a:rPr>
              <a:t>核心回顾</a:t>
            </a:r>
            <a:endParaRPr kumimoji="1" lang="en-US" altLang="zh-CN" dirty="0"/>
          </a:p>
        </p:txBody>
      </p:sp>
      <p:pic>
        <p:nvPicPr>
          <p:cNvPr id="6" name="图片 4"/>
          <p:cNvPicPr>
            <a:picLocks noChangeAspect="1"/>
          </p:cNvPicPr>
          <p:nvPr/>
        </p:nvPicPr>
        <p:blipFill>
          <a:blip r:embed="rId1"/>
          <a:stretch>
            <a:fillRect/>
          </a:stretch>
        </p:blipFill>
        <p:spPr>
          <a:xfrm>
            <a:off x="4534535" y="4084955"/>
            <a:ext cx="3148965" cy="15455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831398" y="1096645"/>
            <a:ext cx="6298881" cy="4855845"/>
          </a:xfrm>
        </p:spPr>
        <p:txBody>
          <a:bodyPr/>
          <a:lstStyle/>
          <a:p>
            <a:pPr marL="0" indent="0">
              <a:buNone/>
            </a:pPr>
            <a:r>
              <a:rPr lang="en-US" altLang="zh-CN" dirty="0"/>
              <a:t>1. </a:t>
            </a:r>
            <a:r>
              <a:rPr lang="zh-CN" altLang="en-US" dirty="0"/>
              <a:t>掌握</a:t>
            </a:r>
            <a:r>
              <a:rPr lang="en-US" altLang="zh-CN" dirty="0"/>
              <a:t>Spark</a:t>
            </a:r>
            <a:r>
              <a:rPr lang="zh-CN" altLang="en-US" dirty="0"/>
              <a:t>的</a:t>
            </a:r>
            <a:r>
              <a:rPr lang="en-US" altLang="zh-CN" dirty="0"/>
              <a:t>Shuffle</a:t>
            </a:r>
            <a:r>
              <a:rPr lang="zh-CN" altLang="en-US" dirty="0"/>
              <a:t>流程</a:t>
            </a:r>
            <a:endParaRPr lang="zh-CN" altLang="en-US" dirty="0"/>
          </a:p>
          <a:p>
            <a:pPr marL="0" indent="0">
              <a:buNone/>
            </a:pPr>
            <a:r>
              <a:rPr lang="en-US" altLang="zh-CN" dirty="0"/>
              <a:t>2. </a:t>
            </a:r>
            <a:r>
              <a:rPr lang="zh-CN" altLang="en-US" dirty="0"/>
              <a:t>掌握</a:t>
            </a:r>
            <a:r>
              <a:rPr lang="en-US" altLang="zh-CN" dirty="0"/>
              <a:t>Spark3.0</a:t>
            </a:r>
            <a:r>
              <a:rPr lang="zh-CN" altLang="en-US" dirty="0"/>
              <a:t>新特性</a:t>
            </a:r>
            <a:endParaRPr lang="zh-CN" altLang="en-US" dirty="0"/>
          </a:p>
          <a:p>
            <a:pPr marL="0" indent="0">
              <a:buNone/>
            </a:pPr>
            <a:r>
              <a:rPr lang="en-US" altLang="zh-CN" dirty="0"/>
              <a:t>3. </a:t>
            </a:r>
            <a:r>
              <a:rPr lang="zh-CN" altLang="en-US" dirty="0"/>
              <a:t>理解并复习</a:t>
            </a:r>
            <a:r>
              <a:rPr lang="en-US" altLang="zh-CN" dirty="0"/>
              <a:t>Spark</a:t>
            </a:r>
            <a:r>
              <a:rPr lang="zh-CN" altLang="en-US" dirty="0"/>
              <a:t>的核心概念</a:t>
            </a:r>
            <a:endParaRPr lang="zh-CN" altLang="en-US" dirty="0"/>
          </a:p>
        </p:txBody>
      </p:sp>
      <p:pic>
        <p:nvPicPr>
          <p:cNvPr id="2" name="图片 1"/>
          <p:cNvPicPr>
            <a:picLocks noChangeAspect="1"/>
          </p:cNvPicPr>
          <p:nvPr/>
        </p:nvPicPr>
        <p:blipFill>
          <a:blip r:embed="rId1"/>
          <a:stretch>
            <a:fillRect/>
          </a:stretch>
        </p:blipFill>
        <p:spPr>
          <a:xfrm>
            <a:off x="1296035" y="2757170"/>
            <a:ext cx="3470910" cy="15354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5096462" y="2768759"/>
            <a:ext cx="6725920" cy="548322"/>
          </a:xfrm>
          <a:prstGeom prst="rect">
            <a:avLst/>
          </a:prstGeom>
        </p:spPr>
        <p:txBody>
          <a:bodyPr anchor="t">
            <a:normAutofit fontScale="90000"/>
          </a:bodyPr>
          <a:lstStyle>
            <a:lvl1pPr algn="l" defTabSz="914400" rtl="0" eaLnBrk="1" latinLnBrk="0" hangingPunct="1">
              <a:lnSpc>
                <a:spcPct val="90000"/>
              </a:lnSpc>
              <a:spcBef>
                <a:spcPct val="0"/>
              </a:spcBef>
              <a:buNone/>
              <a:defRPr sz="3600" b="0" i="0" kern="1200">
                <a:solidFill>
                  <a:schemeClr val="tx1">
                    <a:lumMod val="85000"/>
                    <a:lumOff val="15000"/>
                  </a:schemeClr>
                </a:solidFill>
                <a:latin typeface="Sitka Heading" charset="0"/>
                <a:ea typeface="Sitka Heading" charset="0"/>
                <a:cs typeface="Sitka Heading" charset="0"/>
              </a:defRPr>
            </a:lvl1pPr>
          </a:lstStyle>
          <a:p>
            <a:pPr algn="l">
              <a:buClrTx/>
              <a:buSzTx/>
              <a:buFontTx/>
            </a:pPr>
            <a:r>
              <a:rPr lang="zh-CN" altLang="en-US" dirty="0" smtClean="0">
                <a:latin typeface="Alibaba PuHuiTi B" pitchFamily="18" charset="-122"/>
                <a:ea typeface="Alibaba PuHuiTi B" pitchFamily="18" charset="-122"/>
                <a:cs typeface="Alibaba PuHuiTi B" pitchFamily="18" charset="-122"/>
              </a:rPr>
              <a:t>S</a:t>
            </a:r>
            <a:r>
              <a:rPr lang="zh-CN" altLang="en-US" dirty="0">
                <a:latin typeface="Alibaba PuHuiTi B" pitchFamily="18" charset="-122"/>
                <a:ea typeface="Alibaba PuHuiTi B" pitchFamily="18" charset="-122"/>
                <a:cs typeface="Alibaba PuHuiTi B" pitchFamily="18" charset="-122"/>
              </a:rPr>
              <a:t>park </a:t>
            </a:r>
            <a:r>
              <a:rPr lang="en-US" altLang="zh-CN" dirty="0">
                <a:latin typeface="Alibaba PuHuiTi B" pitchFamily="18" charset="-122"/>
                <a:ea typeface="Alibaba PuHuiTi B" pitchFamily="18" charset="-122"/>
                <a:cs typeface="Alibaba PuHuiTi B" pitchFamily="18" charset="-122"/>
              </a:rPr>
              <a:t>Shuffle</a:t>
            </a:r>
            <a:endParaRPr lang="en-US" altLang="zh-CN" dirty="0">
              <a:latin typeface="Alibaba PuHuiTi B" pitchFamily="18" charset="-122"/>
              <a:ea typeface="Alibaba PuHuiTi B" pitchFamily="18" charset="-122"/>
              <a:cs typeface="Alibaba PuHuiTi B" pitchFamily="18" charset="-122"/>
            </a:endParaRPr>
          </a:p>
        </p:txBody>
      </p:sp>
      <p:sp>
        <p:nvSpPr>
          <p:cNvPr id="5" name="文本占位符 4"/>
          <p:cNvSpPr>
            <a:spLocks noGrp="1"/>
          </p:cNvSpPr>
          <p:nvPr/>
        </p:nvSpPr>
        <p:spPr>
          <a:xfrm>
            <a:off x="3881755" y="2468880"/>
            <a:ext cx="1127125" cy="1148080"/>
          </a:xfrm>
          <a:prstGeom prst="rect">
            <a:avLst/>
          </a:prstGeom>
        </p:spPr>
        <p:txBody>
          <a:bodyPr anchor="ctr"/>
          <a:lstStyle>
            <a:lvl1pPr marL="228600" indent="-228600" algn="ctr" defTabSz="914400" rtl="0" eaLnBrk="1" latinLnBrk="0" hangingPunct="1">
              <a:lnSpc>
                <a:spcPct val="90000"/>
              </a:lnSpc>
              <a:spcBef>
                <a:spcPts val="1000"/>
              </a:spcBef>
              <a:buFont typeface="Arial" panose="020B0604020202020204" pitchFamily="34" charset="0"/>
              <a:buNone/>
              <a:defRPr sz="4000" b="1" i="0" kern="1200">
                <a:solidFill>
                  <a:srgbClr val="FFFFFF"/>
                </a:solidFill>
                <a:latin typeface="Sitka Heading" charset="0"/>
                <a:ea typeface="Sitka Heading" charset="0"/>
                <a:cs typeface="Sitka Heading" charset="0"/>
              </a:defRPr>
            </a:lvl1pPr>
            <a:lvl2pPr marL="6858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smtClean="0">
                <a:latin typeface="Alibaba PuHuiTi B" pitchFamily="18" charset="-122"/>
                <a:ea typeface="Alibaba PuHuiTi B" pitchFamily="18" charset="-122"/>
                <a:cs typeface="Alibaba PuHuiTi B" pitchFamily="18" charset="-122"/>
              </a:rPr>
              <a:t>第一章</a:t>
            </a:r>
            <a:endParaRPr lang="zh-CN" altLang="en-US" sz="2400" dirty="0" smtClean="0">
              <a:latin typeface="Alibaba PuHuiTi B" pitchFamily="18" charset="-122"/>
              <a:ea typeface="Alibaba PuHuiTi B" pitchFamily="18" charset="-122"/>
              <a:cs typeface="Alibaba PuHuiTi B" pitchFamily="18"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en-US" altLang="zh-CN"/>
              <a:t>1.1 Spark Shuffle</a:t>
            </a:r>
            <a:endParaRPr lang="en-US" altLang="zh-CN"/>
          </a:p>
        </p:txBody>
      </p:sp>
      <p:sp>
        <p:nvSpPr>
          <p:cNvPr id="3" name="文本占位符 2"/>
          <p:cNvSpPr>
            <a:spLocks noGrp="1"/>
          </p:cNvSpPr>
          <p:nvPr>
            <p:ph type="body" sz="quarter" idx="11"/>
          </p:nvPr>
        </p:nvSpPr>
        <p:spPr/>
        <p:txBody>
          <a:bodyPr/>
          <a:p>
            <a:r>
              <a:rPr lang="en-US" altLang="zh-CN"/>
              <a:t>Map </a:t>
            </a:r>
            <a:r>
              <a:rPr lang="zh-CN" altLang="en-US"/>
              <a:t>和</a:t>
            </a:r>
            <a:r>
              <a:rPr lang="en-US" altLang="zh-CN"/>
              <a:t> Reduce</a:t>
            </a:r>
            <a:endParaRPr lang="en-US" altLang="zh-CN"/>
          </a:p>
          <a:p>
            <a:endParaRPr lang="en-US" altLang="zh-CN"/>
          </a:p>
          <a:p>
            <a:r>
              <a:rPr lang="zh-CN" altLang="en-US"/>
              <a:t>在</a:t>
            </a:r>
            <a:r>
              <a:rPr lang="en-US" altLang="zh-CN"/>
              <a:t>Shuffle</a:t>
            </a:r>
            <a:r>
              <a:rPr lang="zh-CN" altLang="en-US"/>
              <a:t>过程中</a:t>
            </a:r>
            <a:r>
              <a:rPr lang="en-US" altLang="zh-CN"/>
              <a:t>. </a:t>
            </a:r>
            <a:r>
              <a:rPr lang="zh-CN" altLang="en-US"/>
              <a:t>提供数据的称之为</a:t>
            </a:r>
            <a:r>
              <a:rPr lang="en-US" altLang="zh-CN"/>
              <a:t>Map</a:t>
            </a:r>
            <a:r>
              <a:rPr lang="zh-CN" altLang="en-US"/>
              <a:t>端</a:t>
            </a:r>
            <a:r>
              <a:rPr lang="en-US" altLang="zh-CN"/>
              <a:t>(Shuffle Write)  </a:t>
            </a:r>
            <a:r>
              <a:rPr lang="zh-CN" altLang="en-US"/>
              <a:t>接收数据的</a:t>
            </a:r>
            <a:r>
              <a:rPr lang="en-US" altLang="zh-CN"/>
              <a:t> </a:t>
            </a:r>
            <a:r>
              <a:rPr lang="zh-CN" altLang="en-US"/>
              <a:t>称之为</a:t>
            </a:r>
            <a:r>
              <a:rPr lang="en-US" altLang="zh-CN"/>
              <a:t> Reduce</a:t>
            </a:r>
            <a:r>
              <a:rPr lang="zh-CN" altLang="en-US"/>
              <a:t>端</a:t>
            </a:r>
            <a:r>
              <a:rPr lang="en-US" altLang="zh-CN"/>
              <a:t>(Shuffle Read)</a:t>
            </a:r>
            <a:endParaRPr lang="en-US" altLang="zh-CN"/>
          </a:p>
          <a:p>
            <a:endParaRPr lang="en-US" altLang="zh-CN"/>
          </a:p>
          <a:p>
            <a:r>
              <a:rPr lang="zh-CN" altLang="en-US"/>
              <a:t>在</a:t>
            </a:r>
            <a:r>
              <a:rPr lang="en-US" altLang="zh-CN"/>
              <a:t>Spark</a:t>
            </a:r>
            <a:r>
              <a:rPr lang="zh-CN" altLang="en-US"/>
              <a:t>的两个阶段中</a:t>
            </a:r>
            <a:r>
              <a:rPr lang="en-US" altLang="zh-CN"/>
              <a:t>, </a:t>
            </a:r>
            <a:r>
              <a:rPr lang="zh-CN" altLang="en-US"/>
              <a:t>总是前一个阶段产生</a:t>
            </a:r>
            <a:r>
              <a:rPr lang="en-US" altLang="zh-CN"/>
              <a:t> </a:t>
            </a:r>
            <a:r>
              <a:rPr lang="zh-CN" altLang="en-US"/>
              <a:t>一批</a:t>
            </a:r>
            <a:r>
              <a:rPr lang="en-US" altLang="zh-CN"/>
              <a:t>Map</a:t>
            </a:r>
            <a:r>
              <a:rPr lang="zh-CN" altLang="en-US"/>
              <a:t>提供数据</a:t>
            </a:r>
            <a:r>
              <a:rPr lang="en-US" altLang="zh-CN"/>
              <a:t>, </a:t>
            </a:r>
            <a:r>
              <a:rPr lang="zh-CN" altLang="en-US"/>
              <a:t>下一阶段产生一批</a:t>
            </a:r>
            <a:r>
              <a:rPr lang="en-US" altLang="zh-CN"/>
              <a:t>Reduce</a:t>
            </a:r>
            <a:r>
              <a:rPr lang="zh-CN" altLang="en-US"/>
              <a:t>接收数据</a:t>
            </a:r>
            <a:endParaRPr lang="zh-CN" altLang="en-US"/>
          </a:p>
          <a:p>
            <a:endParaRPr lang="zh-CN" altLang="en-US"/>
          </a:p>
          <a:p>
            <a:endParaRPr lang="zh-CN" altLang="en-US"/>
          </a:p>
        </p:txBody>
      </p:sp>
      <p:pic>
        <p:nvPicPr>
          <p:cNvPr id="219" name="图片 1"/>
          <p:cNvPicPr>
            <a:picLocks noChangeAspect="1"/>
          </p:cNvPicPr>
          <p:nvPr/>
        </p:nvPicPr>
        <p:blipFill>
          <a:blip r:embed="rId1"/>
          <a:stretch>
            <a:fillRect/>
          </a:stretch>
        </p:blipFill>
        <p:spPr>
          <a:xfrm>
            <a:off x="3460750" y="3719513"/>
            <a:ext cx="5270500" cy="26663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en-US" altLang="zh-CN"/>
              <a:t>1.2 HashShuffleManager</a:t>
            </a:r>
            <a:endParaRPr lang="en-US" altLang="zh-CN"/>
          </a:p>
        </p:txBody>
      </p:sp>
      <p:sp>
        <p:nvSpPr>
          <p:cNvPr id="3" name="文本占位符 2"/>
          <p:cNvSpPr>
            <a:spLocks noGrp="1"/>
          </p:cNvSpPr>
          <p:nvPr>
            <p:ph type="body" sz="quarter" idx="11"/>
          </p:nvPr>
        </p:nvSpPr>
        <p:spPr/>
        <p:txBody>
          <a:bodyPr/>
          <a:p>
            <a:r>
              <a:rPr lang="en-US" altLang="zh-CN"/>
              <a:t>Spark </a:t>
            </a:r>
            <a:r>
              <a:rPr lang="zh-CN" altLang="en-US"/>
              <a:t>提供</a:t>
            </a:r>
            <a:r>
              <a:rPr lang="en-US" altLang="zh-CN"/>
              <a:t>2</a:t>
            </a:r>
            <a:r>
              <a:rPr lang="zh-CN" altLang="en-US"/>
              <a:t>种</a:t>
            </a:r>
            <a:r>
              <a:rPr lang="en-US" altLang="zh-CN"/>
              <a:t>Shuffle</a:t>
            </a:r>
            <a:r>
              <a:rPr lang="zh-CN" altLang="en-US"/>
              <a:t>管理器</a:t>
            </a:r>
            <a:r>
              <a:rPr lang="en-US" altLang="zh-CN"/>
              <a:t>:</a:t>
            </a:r>
            <a:endParaRPr lang="en-US" altLang="zh-CN"/>
          </a:p>
          <a:p>
            <a:pPr marL="285750" indent="-285750">
              <a:buFont typeface="Arial" panose="020B0604020202020204" pitchFamily="34" charset="0"/>
              <a:buChar char="•"/>
            </a:pPr>
            <a:r>
              <a:rPr lang="en-US" altLang="zh-CN"/>
              <a:t>HashShuffleManager</a:t>
            </a:r>
            <a:endParaRPr lang="en-US" altLang="zh-CN"/>
          </a:p>
          <a:p>
            <a:pPr marL="285750" indent="-285750">
              <a:buFont typeface="Arial" panose="020B0604020202020204" pitchFamily="34" charset="0"/>
              <a:buChar char="•"/>
            </a:pPr>
            <a:r>
              <a:rPr lang="en-US" altLang="zh-CN"/>
              <a:t>SortShuffleManager</a:t>
            </a:r>
            <a:endParaRPr lang="en-US" altLang="zh-CN"/>
          </a:p>
          <a:p>
            <a:pPr>
              <a:buFont typeface="Arial" panose="020B0604020202020204" pitchFamily="34" charset="0"/>
            </a:pPr>
            <a:endParaRPr lang="en-US" altLang="zh-CN"/>
          </a:p>
          <a:p>
            <a:pPr>
              <a:buFont typeface="Arial" panose="020B0604020202020204" pitchFamily="34" charset="0"/>
            </a:pPr>
            <a:endParaRPr lang="en-US" altLang="zh-CN"/>
          </a:p>
        </p:txBody>
      </p:sp>
      <p:pic>
        <p:nvPicPr>
          <p:cNvPr id="219" name="图片 1"/>
          <p:cNvPicPr>
            <a:picLocks noChangeAspect="1"/>
          </p:cNvPicPr>
          <p:nvPr>
            <p:custDataLst>
              <p:tags r:id="rId1"/>
            </p:custDataLst>
          </p:nvPr>
        </p:nvPicPr>
        <p:blipFill>
          <a:blip r:embed="rId2"/>
          <a:stretch>
            <a:fillRect/>
          </a:stretch>
        </p:blipFill>
        <p:spPr>
          <a:xfrm>
            <a:off x="3802380" y="2096135"/>
            <a:ext cx="6755765" cy="3417570"/>
          </a:xfrm>
          <a:prstGeom prst="rect">
            <a:avLst/>
          </a:prstGeom>
          <a:noFill/>
          <a:ln>
            <a:noFill/>
          </a:ln>
        </p:spPr>
      </p:pic>
      <p:sp>
        <p:nvSpPr>
          <p:cNvPr id="4" name="文本框 3"/>
          <p:cNvSpPr txBox="1"/>
          <p:nvPr/>
        </p:nvSpPr>
        <p:spPr>
          <a:xfrm>
            <a:off x="5530850" y="5749290"/>
            <a:ext cx="4956175" cy="337185"/>
          </a:xfrm>
          <a:prstGeom prst="rect">
            <a:avLst/>
          </a:prstGeom>
          <a:noFill/>
        </p:spPr>
        <p:txBody>
          <a:bodyPr>
            <a:spAutoFit/>
          </a:bodyPr>
          <a:p>
            <a:pPr fontAlgn="auto">
              <a:spcBef>
                <a:spcPts val="0"/>
              </a:spcBef>
              <a:spcAft>
                <a:spcPts val="0"/>
              </a:spcAft>
            </a:pPr>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未经优化的</a:t>
            </a:r>
            <a:r>
              <a:rPr lang="en-US" altLang="zh-CN"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HashShuffleManager</a:t>
            </a:r>
            <a:endParaRPr lang="en-US" altLang="zh-CN"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5" name="图片 4"/>
          <p:cNvPicPr>
            <a:picLocks noChangeAspect="1"/>
          </p:cNvPicPr>
          <p:nvPr/>
        </p:nvPicPr>
        <p:blipFill>
          <a:blip r:embed="rId3"/>
          <a:stretch>
            <a:fillRect/>
          </a:stretch>
        </p:blipFill>
        <p:spPr>
          <a:xfrm>
            <a:off x="8764270" y="5445125"/>
            <a:ext cx="2113280" cy="2444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en-US" altLang="zh-CN"/>
              <a:t>1.2 HashShuffleManager</a:t>
            </a:r>
            <a:endParaRPr lang="en-US" altLang="zh-CN"/>
          </a:p>
        </p:txBody>
      </p:sp>
      <p:sp>
        <p:nvSpPr>
          <p:cNvPr id="3" name="文本占位符 2"/>
          <p:cNvSpPr>
            <a:spLocks noGrp="1"/>
          </p:cNvSpPr>
          <p:nvPr>
            <p:ph type="body" sz="quarter" idx="11"/>
          </p:nvPr>
        </p:nvSpPr>
        <p:spPr>
          <a:xfrm>
            <a:off x="2186305" y="5393690"/>
            <a:ext cx="4202430" cy="1118870"/>
          </a:xfrm>
        </p:spPr>
        <p:txBody>
          <a:bodyPr/>
          <a:p>
            <a:r>
              <a:rPr lang="zh-CN" altLang="en-US"/>
              <a:t>优化后</a:t>
            </a:r>
            <a:r>
              <a:rPr lang="en-US" altLang="zh-CN"/>
              <a:t>HashShuffleManager</a:t>
            </a:r>
            <a:endParaRPr lang="en-US" altLang="zh-CN"/>
          </a:p>
        </p:txBody>
      </p:sp>
      <p:pic>
        <p:nvPicPr>
          <p:cNvPr id="220" name="图片 2"/>
          <p:cNvPicPr>
            <a:picLocks noChangeAspect="1"/>
          </p:cNvPicPr>
          <p:nvPr/>
        </p:nvPicPr>
        <p:blipFill>
          <a:blip r:embed="rId1"/>
          <a:stretch>
            <a:fillRect/>
          </a:stretch>
        </p:blipFill>
        <p:spPr>
          <a:xfrm>
            <a:off x="961390" y="1577975"/>
            <a:ext cx="7185660" cy="3589655"/>
          </a:xfrm>
          <a:prstGeom prst="rect">
            <a:avLst/>
          </a:prstGeom>
          <a:noFill/>
          <a:ln>
            <a:noFill/>
          </a:ln>
        </p:spPr>
      </p:pic>
      <p:sp>
        <p:nvSpPr>
          <p:cNvPr id="100" name="文本框 99"/>
          <p:cNvSpPr txBox="1"/>
          <p:nvPr/>
        </p:nvSpPr>
        <p:spPr>
          <a:xfrm>
            <a:off x="5615305" y="5394007"/>
            <a:ext cx="5080000" cy="737235"/>
          </a:xfrm>
          <a:prstGeom prst="rect">
            <a:avLst/>
          </a:prstGeom>
          <a:noFill/>
          <a:ln w="9525">
            <a:noFill/>
          </a:ln>
        </p:spPr>
        <p:txBody>
          <a:bodyPr>
            <a:spAutoFit/>
          </a:bodyPr>
          <a:p>
            <a:pPr indent="0"/>
            <a:r>
              <a:rPr lang="zh-CN" sz="1400" b="0">
                <a:latin typeface="阿里巴巴普惠体" panose="00020600040101010101" pitchFamily="18" charset="-122"/>
                <a:ea typeface="阿里巴巴普惠体" panose="00020600040101010101" pitchFamily="18" charset="-122"/>
                <a:cs typeface="阿里巴巴普惠体" panose="00020600040101010101" pitchFamily="18" charset="-122"/>
              </a:rPr>
              <a:t>基本和未优化的一致,不同点在于</a:t>
            </a:r>
            <a:r>
              <a:rPr lang="en-US" sz="1400" b="0">
                <a:latin typeface="阿里巴巴普惠体" panose="00020600040101010101" pitchFamily="18" charset="-122"/>
                <a:ea typeface="阿里巴巴普惠体" panose="00020600040101010101" pitchFamily="18" charset="-122"/>
                <a:cs typeface="阿里巴巴普惠体" panose="00020600040101010101" pitchFamily="18" charset="-122"/>
              </a:rPr>
              <a:t>1. </a:t>
            </a:r>
            <a:r>
              <a:rPr lang="zh-CN" sz="1400" b="0">
                <a:latin typeface="阿里巴巴普惠体" panose="00020600040101010101" pitchFamily="18" charset="-122"/>
                <a:ea typeface="阿里巴巴普惠体" panose="00020600040101010101" pitchFamily="18" charset="-122"/>
                <a:cs typeface="阿里巴巴普惠体" panose="00020600040101010101" pitchFamily="18" charset="-122"/>
              </a:rPr>
              <a:t>在一个Executor内, 不同Task是共享Buffer缓冲区</a:t>
            </a:r>
            <a:r>
              <a:rPr lang="en-US" sz="1400" b="0">
                <a:latin typeface="阿里巴巴普惠体" panose="00020600040101010101" pitchFamily="18" charset="-122"/>
                <a:ea typeface="阿里巴巴普惠体" panose="00020600040101010101" pitchFamily="18" charset="-122"/>
                <a:cs typeface="阿里巴巴普惠体" panose="00020600040101010101" pitchFamily="18" charset="-122"/>
              </a:rPr>
              <a:t>2. </a:t>
            </a:r>
            <a:r>
              <a:rPr lang="zh-CN" sz="1400" b="0">
                <a:latin typeface="阿里巴巴普惠体" panose="00020600040101010101" pitchFamily="18" charset="-122"/>
                <a:ea typeface="阿里巴巴普惠体" panose="00020600040101010101" pitchFamily="18" charset="-122"/>
                <a:cs typeface="阿里巴巴普惠体" panose="00020600040101010101" pitchFamily="18" charset="-122"/>
              </a:rPr>
              <a:t>这样减少了缓冲区乃至写入磁盘文件的数量, 提高性能</a:t>
            </a:r>
            <a:endParaRPr lang="zh-CN" altLang="en-US" sz="14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4" name="图片 3"/>
          <p:cNvPicPr>
            <a:picLocks noChangeAspect="1"/>
          </p:cNvPicPr>
          <p:nvPr/>
        </p:nvPicPr>
        <p:blipFill>
          <a:blip r:embed="rId2"/>
          <a:stretch>
            <a:fillRect/>
          </a:stretch>
        </p:blipFill>
        <p:spPr>
          <a:xfrm>
            <a:off x="6170930" y="5050790"/>
            <a:ext cx="4524375" cy="190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en-US" altLang="zh-CN"/>
              <a:t>1.3 SortShuffleManager</a:t>
            </a:r>
            <a:endParaRPr lang="en-US" altLang="zh-CN"/>
          </a:p>
        </p:txBody>
      </p:sp>
      <p:sp>
        <p:nvSpPr>
          <p:cNvPr id="3" name="文本占位符 2"/>
          <p:cNvSpPr>
            <a:spLocks noGrp="1"/>
          </p:cNvSpPr>
          <p:nvPr>
            <p:ph type="body" sz="quarter" idx="11"/>
          </p:nvPr>
        </p:nvSpPr>
        <p:spPr/>
        <p:txBody>
          <a:bodyPr/>
          <a:p>
            <a:r>
              <a:rPr lang="zh-CN" altLang="en-US"/>
              <a:t>SortShuffleManager的运行机制主要分成两种，一种是普通运行机制，另一种是bypass运行机制。</a:t>
            </a:r>
            <a:endParaRPr lang="zh-CN" altLang="en-US"/>
          </a:p>
        </p:txBody>
      </p:sp>
      <p:pic>
        <p:nvPicPr>
          <p:cNvPr id="221" name="图片 3"/>
          <p:cNvPicPr>
            <a:picLocks noChangeAspect="1"/>
          </p:cNvPicPr>
          <p:nvPr/>
        </p:nvPicPr>
        <p:blipFill>
          <a:blip r:embed="rId1"/>
          <a:stretch>
            <a:fillRect/>
          </a:stretch>
        </p:blipFill>
        <p:spPr>
          <a:xfrm>
            <a:off x="1148715" y="2422525"/>
            <a:ext cx="5852795" cy="4077970"/>
          </a:xfrm>
          <a:prstGeom prst="rect">
            <a:avLst/>
          </a:prstGeom>
          <a:noFill/>
          <a:ln>
            <a:noFill/>
          </a:ln>
        </p:spPr>
      </p:pic>
      <p:sp>
        <p:nvSpPr>
          <p:cNvPr id="4" name="文本框 3"/>
          <p:cNvSpPr txBox="1"/>
          <p:nvPr/>
        </p:nvSpPr>
        <p:spPr>
          <a:xfrm>
            <a:off x="2411095" y="6500495"/>
            <a:ext cx="2823845" cy="306705"/>
          </a:xfrm>
          <a:prstGeom prst="rect">
            <a:avLst/>
          </a:prstGeom>
          <a:noFill/>
        </p:spPr>
        <p:txBody>
          <a:bodyPr wrap="square">
            <a:spAutoFit/>
          </a:bodyPr>
          <a:p>
            <a:pPr fontAlgn="auto">
              <a:spcBef>
                <a:spcPts val="0"/>
              </a:spcBef>
              <a:spcAft>
                <a:spcPts val="0"/>
              </a:spcAft>
            </a:pPr>
            <a:r>
              <a:rPr lang="zh-CN" altLang="en-US"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普通机制的</a:t>
            </a:r>
            <a:r>
              <a:rPr lang="en-US" altLang="zh-CN"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SortShuffleManager</a:t>
            </a:r>
            <a:endParaRPr lang="en-US" altLang="zh-CN" sz="14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5" name="图片 4"/>
          <p:cNvPicPr>
            <a:picLocks noChangeAspect="1"/>
          </p:cNvPicPr>
          <p:nvPr/>
        </p:nvPicPr>
        <p:blipFill>
          <a:blip r:embed="rId2"/>
          <a:stretch>
            <a:fillRect/>
          </a:stretch>
        </p:blipFill>
        <p:spPr>
          <a:xfrm>
            <a:off x="5951220" y="6370320"/>
            <a:ext cx="2486025" cy="209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2" name="图片 4"/>
          <p:cNvPicPr>
            <a:picLocks noChangeAspect="1"/>
          </p:cNvPicPr>
          <p:nvPr/>
        </p:nvPicPr>
        <p:blipFill>
          <a:blip r:embed="rId1"/>
          <a:stretch>
            <a:fillRect/>
          </a:stretch>
        </p:blipFill>
        <p:spPr>
          <a:xfrm>
            <a:off x="4389120" y="1787525"/>
            <a:ext cx="6584950" cy="4236085"/>
          </a:xfrm>
          <a:prstGeom prst="rect">
            <a:avLst/>
          </a:prstGeom>
          <a:noFill/>
          <a:ln>
            <a:noFill/>
          </a:ln>
        </p:spPr>
      </p:pic>
      <p:sp>
        <p:nvSpPr>
          <p:cNvPr id="4" name="文本框 3"/>
          <p:cNvSpPr txBox="1"/>
          <p:nvPr/>
        </p:nvSpPr>
        <p:spPr>
          <a:xfrm>
            <a:off x="6239510" y="6202045"/>
            <a:ext cx="3997960" cy="337185"/>
          </a:xfrm>
          <a:prstGeom prst="rect">
            <a:avLst/>
          </a:prstGeom>
          <a:noFill/>
        </p:spPr>
        <p:txBody>
          <a:bodyPr wrap="square">
            <a:spAutoFit/>
          </a:bodyPr>
          <a:p>
            <a:pPr fontAlgn="auto">
              <a:spcBef>
                <a:spcPts val="0"/>
              </a:spcBef>
              <a:spcAft>
                <a:spcPts val="0"/>
              </a:spcAft>
            </a:pPr>
            <a:r>
              <a:rPr lang="en-US" altLang="zh-CN"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ByPass</a:t>
            </a:r>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机制的</a:t>
            </a:r>
            <a:r>
              <a:rPr lang="en-US" altLang="zh-CN"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SortShuffleManager</a:t>
            </a:r>
            <a:endParaRPr lang="en-US" altLang="zh-CN"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6" name="图片 5"/>
          <p:cNvPicPr>
            <a:picLocks noChangeAspect="1"/>
          </p:cNvPicPr>
          <p:nvPr/>
        </p:nvPicPr>
        <p:blipFill>
          <a:blip r:embed="rId2"/>
          <a:stretch>
            <a:fillRect/>
          </a:stretch>
        </p:blipFill>
        <p:spPr>
          <a:xfrm>
            <a:off x="7953375" y="5932805"/>
            <a:ext cx="2962275" cy="180975"/>
          </a:xfrm>
          <a:prstGeom prst="rect">
            <a:avLst/>
          </a:prstGeom>
        </p:spPr>
      </p:pic>
      <p:pic>
        <p:nvPicPr>
          <p:cNvPr id="7" name="图片 6"/>
          <p:cNvPicPr>
            <a:picLocks noChangeAspect="1"/>
          </p:cNvPicPr>
          <p:nvPr/>
        </p:nvPicPr>
        <p:blipFill>
          <a:blip r:embed="rId3"/>
          <a:stretch>
            <a:fillRect/>
          </a:stretch>
        </p:blipFill>
        <p:spPr>
          <a:xfrm>
            <a:off x="1812290" y="1530350"/>
            <a:ext cx="781050" cy="4583430"/>
          </a:xfrm>
          <a:prstGeom prst="rect">
            <a:avLst/>
          </a:prstGeom>
        </p:spPr>
      </p:pic>
      <p:sp>
        <p:nvSpPr>
          <p:cNvPr id="10" name="文本占位符 9"/>
          <p:cNvSpPr>
            <a:spLocks noGrp="1"/>
          </p:cNvSpPr>
          <p:nvPr>
            <p:ph type="body" sz="quarter" idx="10"/>
          </p:nvPr>
        </p:nvSpPr>
        <p:spPr/>
        <p:txBody>
          <a:bodyPr/>
          <a:p>
            <a:r>
              <a:rPr lang="en-US" altLang="zh-CN"/>
              <a:t>1.3 SortShuffleManager</a:t>
            </a:r>
            <a:endParaRPr lang="en-US" altLang="zh-CN"/>
          </a:p>
        </p:txBody>
      </p:sp>
      <p:sp>
        <p:nvSpPr>
          <p:cNvPr id="100" name="文本框 99"/>
          <p:cNvSpPr txBox="1"/>
          <p:nvPr/>
        </p:nvSpPr>
        <p:spPr>
          <a:xfrm>
            <a:off x="300355" y="1909445"/>
            <a:ext cx="4089400" cy="4107815"/>
          </a:xfrm>
          <a:prstGeom prst="rect">
            <a:avLst/>
          </a:prstGeom>
          <a:noFill/>
          <a:ln w="9525">
            <a:noFill/>
          </a:ln>
        </p:spPr>
        <p:txBody>
          <a:bodyPr wrap="square">
            <a:spAutoFit/>
          </a:bodyPr>
          <a:p>
            <a:pPr indent="0"/>
            <a:r>
              <a:rPr lang="zh-CN" sz="2000" b="0">
                <a:ea typeface="微软雅黑 Light" panose="020B0502040204020203" pitchFamily="34" charset="-122"/>
              </a:rPr>
              <a:t>bypass运行机制的触发条件如下：</a:t>
            </a:r>
            <a:endParaRPr lang="zh-CN" sz="2000" b="1">
              <a:highlight>
                <a:srgbClr val="FFFF00"/>
              </a:highlight>
              <a:ea typeface="微软雅黑 Light" panose="020B0502040204020203" pitchFamily="34" charset="-122"/>
            </a:endParaRPr>
          </a:p>
          <a:p>
            <a:pPr indent="0"/>
            <a:r>
              <a:rPr lang="zh-CN" sz="2000" b="1">
                <a:ea typeface="微软雅黑 Light" panose="020B0502040204020203" pitchFamily="34" charset="-122"/>
                <a:cs typeface="Times New Roman" panose="02020603050405020304" charset="0"/>
              </a:rPr>
              <a:t>1)shuffle map task数量小于spark.shuffle.sort.bypassMergeThreshold=200参数的值。</a:t>
            </a:r>
            <a:endParaRPr lang="zh-CN" sz="1050" b="1">
              <a:ea typeface="微软雅黑 Light" panose="020B0502040204020203" pitchFamily="34" charset="-122"/>
              <a:cs typeface="Times New Roman" panose="02020603050405020304" charset="0"/>
            </a:endParaRPr>
          </a:p>
          <a:p>
            <a:pPr indent="0"/>
            <a:r>
              <a:rPr lang="zh-CN" sz="2000" b="1">
                <a:ea typeface="微软雅黑 Light" panose="020B0502040204020203" pitchFamily="34" charset="-122"/>
                <a:cs typeface="Times New Roman" panose="02020603050405020304" charset="0"/>
              </a:rPr>
              <a:t>2)不是聚合类的shuffle算子(比如reduceByKey)。</a:t>
            </a:r>
            <a:endParaRPr lang="zh-CN" sz="2000" b="1">
              <a:ea typeface="微软雅黑 Light" panose="020B0502040204020203" pitchFamily="34" charset="-122"/>
            </a:endParaRPr>
          </a:p>
          <a:p>
            <a:pPr indent="0"/>
            <a:endParaRPr lang="zh-CN" sz="1050" b="1">
              <a:ea typeface="微软雅黑 Light" panose="020B0502040204020203" pitchFamily="34" charset="-122"/>
            </a:endParaRPr>
          </a:p>
          <a:p>
            <a:pPr indent="0"/>
            <a:r>
              <a:rPr lang="zh-CN" sz="1050" b="1">
                <a:ea typeface="微软雅黑 Light" panose="020B0502040204020203" pitchFamily="34" charset="-122"/>
              </a:rPr>
              <a:t>同普通机制基本类同</a:t>
            </a:r>
            <a:r>
              <a:rPr lang="zh-CN" sz="1050" b="1">
                <a:ea typeface="微软雅黑 Light" panose="020B0502040204020203" pitchFamily="34" charset="-122"/>
                <a:cs typeface="Times New Roman" panose="02020603050405020304" charset="0"/>
              </a:rPr>
              <a:t>, 区别在于, 写入磁盘临时文件的时候不会在内存中进行排序</a:t>
            </a:r>
            <a:r>
              <a:rPr lang="zh-CN" sz="1050" b="1">
                <a:ea typeface="微软雅黑 Light" panose="020B0502040204020203" pitchFamily="34" charset="-122"/>
              </a:rPr>
              <a:t>而是直接写</a:t>
            </a:r>
            <a:r>
              <a:rPr lang="zh-CN" sz="1050" b="1">
                <a:ea typeface="微软雅黑 Light" panose="020B0502040204020203" pitchFamily="34" charset="-122"/>
                <a:cs typeface="Times New Roman" panose="02020603050405020304" charset="0"/>
              </a:rPr>
              <a:t>, 最终合并为一个task一个最终文件</a:t>
            </a:r>
            <a:r>
              <a:rPr lang="zh-CN" sz="1050" b="1">
                <a:ea typeface="微软雅黑 Light" panose="020B0502040204020203" pitchFamily="34" charset="-122"/>
              </a:rPr>
              <a:t>所以和普通模式</a:t>
            </a:r>
            <a:r>
              <a:rPr lang="zh-CN" sz="1050" b="1">
                <a:ea typeface="微软雅黑 Light" panose="020B0502040204020203" pitchFamily="34" charset="-122"/>
                <a:cs typeface="Times New Roman" panose="02020603050405020304" charset="0"/>
              </a:rPr>
              <a:t>IDE区别在于:</a:t>
            </a:r>
            <a:r>
              <a:rPr lang="zh-CN" sz="1050" b="1">
                <a:ea typeface="微软雅黑 Light" panose="020B0502040204020203" pitchFamily="34" charset="-122"/>
              </a:rPr>
              <a:t>第一，磁盘写机制不同</a:t>
            </a:r>
            <a:r>
              <a:rPr lang="en-US" sz="1050" b="1">
                <a:latin typeface="微软雅黑 Light" panose="020B0502040204020203" pitchFamily="34" charset="-122"/>
                <a:cs typeface="Times New Roman" panose="02020603050405020304" charset="0"/>
              </a:rPr>
              <a:t>;</a:t>
            </a:r>
            <a:r>
              <a:rPr lang="zh-CN" sz="1050" b="1">
                <a:ea typeface="微软雅黑 Light" panose="020B0502040204020203" pitchFamily="34" charset="-122"/>
              </a:rPr>
              <a:t>第二，不会进行排序。也就是说，启用该机制的最大好处在于，</a:t>
            </a:r>
            <a:r>
              <a:rPr lang="zh-CN" sz="1050" b="1">
                <a:ea typeface="微软雅黑 Light" panose="020B0502040204020203" pitchFamily="34" charset="-122"/>
                <a:cs typeface="Times New Roman" panose="02020603050405020304" charset="0"/>
              </a:rPr>
              <a:t>shuffle write过程中，不需要进行数据的排序操作，也就节省掉了这部分的性能开销</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en-US"/>
              <a:t>SortShuffle</a:t>
            </a:r>
            <a:r>
              <a:rPr lang="zh-CN" altLang="en-US"/>
              <a:t>对比</a:t>
            </a:r>
            <a:r>
              <a:rPr lang="en-US" altLang="zh-CN"/>
              <a:t>HashShuffle</a:t>
            </a:r>
            <a:r>
              <a:rPr lang="zh-CN" altLang="en-US"/>
              <a:t>可以减少很多的磁盘文件</a:t>
            </a:r>
            <a:r>
              <a:rPr lang="en-US" altLang="zh-CN"/>
              <a:t>,</a:t>
            </a:r>
            <a:r>
              <a:rPr lang="zh-CN" altLang="en-US"/>
              <a:t>以节省网络</a:t>
            </a:r>
            <a:r>
              <a:rPr lang="en-US" altLang="zh-CN"/>
              <a:t>IO</a:t>
            </a:r>
            <a:r>
              <a:rPr lang="zh-CN" altLang="en-US"/>
              <a:t>的开销</a:t>
            </a:r>
            <a:endParaRPr lang="zh-CN" altLang="en-US"/>
          </a:p>
          <a:p>
            <a:r>
              <a:rPr lang="en-US" altLang="zh-CN"/>
              <a:t>SortShuffle</a:t>
            </a:r>
            <a:r>
              <a:rPr lang="zh-CN" altLang="en-US"/>
              <a:t>主要是对磁盘文件进行合并来进行文件数量的减少</a:t>
            </a:r>
            <a:r>
              <a:rPr lang="en-US" altLang="zh-CN"/>
              <a:t>, </a:t>
            </a:r>
            <a:r>
              <a:rPr lang="zh-CN" altLang="en-US"/>
              <a:t>同时两类</a:t>
            </a:r>
            <a:r>
              <a:rPr lang="en-US" altLang="zh-CN"/>
              <a:t>Shuffle</a:t>
            </a:r>
            <a:r>
              <a:rPr lang="zh-CN" altLang="en-US"/>
              <a:t>都需要经过内存缓冲区溢写磁盘的场景</a:t>
            </a:r>
            <a:r>
              <a:rPr lang="en-US" altLang="zh-CN"/>
              <a:t>. </a:t>
            </a:r>
            <a:r>
              <a:rPr lang="zh-CN" altLang="en-US"/>
              <a:t>所以可以得知</a:t>
            </a:r>
            <a:r>
              <a:rPr lang="en-US" altLang="zh-CN"/>
              <a:t>, </a:t>
            </a:r>
            <a:r>
              <a:rPr lang="zh-CN" altLang="en-US"/>
              <a:t>尽管</a:t>
            </a:r>
            <a:r>
              <a:rPr lang="en-US" altLang="zh-CN"/>
              <a:t>Spark</a:t>
            </a:r>
            <a:r>
              <a:rPr lang="zh-CN" altLang="en-US"/>
              <a:t>是内存迭代计算框架</a:t>
            </a:r>
            <a:r>
              <a:rPr lang="en-US" altLang="zh-CN"/>
              <a:t>, </a:t>
            </a:r>
            <a:r>
              <a:rPr lang="zh-CN" altLang="en-US"/>
              <a:t>但是内存迭代主要在窄依赖中</a:t>
            </a:r>
            <a:r>
              <a:rPr lang="en-US" altLang="zh-CN"/>
              <a:t>. </a:t>
            </a:r>
            <a:r>
              <a:rPr lang="zh-CN" altLang="en-US"/>
              <a:t>在宽依赖</a:t>
            </a:r>
            <a:r>
              <a:rPr lang="en-US" altLang="zh-CN"/>
              <a:t>(Shuffle)</a:t>
            </a:r>
            <a:r>
              <a:rPr lang="zh-CN" altLang="en-US"/>
              <a:t>中磁盘交互还是一个无可避免的情况</a:t>
            </a:r>
            <a:r>
              <a:rPr lang="en-US" altLang="zh-CN"/>
              <a:t>. </a:t>
            </a:r>
            <a:r>
              <a:rPr lang="zh-CN" altLang="en-US"/>
              <a:t>所以</a:t>
            </a:r>
            <a:r>
              <a:rPr lang="en-US" altLang="zh-CN"/>
              <a:t>, </a:t>
            </a:r>
            <a:r>
              <a:rPr lang="zh-CN" altLang="en-US"/>
              <a:t>我们要尽量减少</a:t>
            </a:r>
            <a:r>
              <a:rPr lang="en-US" altLang="zh-CN"/>
              <a:t>Shuffle</a:t>
            </a:r>
            <a:r>
              <a:rPr lang="zh-CN" altLang="en-US"/>
              <a:t>的出现</a:t>
            </a:r>
            <a:r>
              <a:rPr lang="en-US" altLang="zh-CN"/>
              <a:t>, </a:t>
            </a:r>
            <a:r>
              <a:rPr lang="zh-CN" altLang="en-US"/>
              <a:t>不要进行无意义的</a:t>
            </a:r>
            <a:r>
              <a:rPr lang="en-US" altLang="zh-CN"/>
              <a:t>Shuffle</a:t>
            </a:r>
            <a:r>
              <a:rPr lang="zh-CN" altLang="en-US"/>
              <a:t>计算</a:t>
            </a:r>
            <a:r>
              <a:rPr lang="en-US" altLang="zh-CN"/>
              <a:t>.</a:t>
            </a:r>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5096462" y="2768759"/>
            <a:ext cx="6725920" cy="548322"/>
          </a:xfrm>
          <a:prstGeom prst="rect">
            <a:avLst/>
          </a:prstGeom>
        </p:spPr>
        <p:txBody>
          <a:bodyPr anchor="t">
            <a:normAutofit fontScale="90000"/>
          </a:bodyPr>
          <a:lstStyle>
            <a:lvl1pPr algn="l" defTabSz="914400" rtl="0" eaLnBrk="1" latinLnBrk="0" hangingPunct="1">
              <a:lnSpc>
                <a:spcPct val="90000"/>
              </a:lnSpc>
              <a:spcBef>
                <a:spcPct val="0"/>
              </a:spcBef>
              <a:buNone/>
              <a:defRPr sz="3600" b="0" i="0" kern="1200">
                <a:solidFill>
                  <a:schemeClr val="tx1">
                    <a:lumMod val="85000"/>
                    <a:lumOff val="15000"/>
                  </a:schemeClr>
                </a:solidFill>
                <a:latin typeface="Sitka Heading" charset="0"/>
                <a:ea typeface="Sitka Heading" charset="0"/>
                <a:cs typeface="Sitka Heading" charset="0"/>
              </a:defRPr>
            </a:lvl1pPr>
          </a:lstStyle>
          <a:p>
            <a:pPr algn="l">
              <a:buClrTx/>
              <a:buSzTx/>
              <a:buFontTx/>
            </a:pPr>
            <a:r>
              <a:rPr lang="en-US" dirty="0" smtClean="0">
                <a:latin typeface="Alibaba PuHuiTi B" pitchFamily="18" charset="-122"/>
                <a:ea typeface="Alibaba PuHuiTi B" pitchFamily="18" charset="-122"/>
                <a:cs typeface="Alibaba PuHuiTi B" pitchFamily="18" charset="-122"/>
              </a:rPr>
              <a:t>Spark 3.0 </a:t>
            </a:r>
            <a:r>
              <a:rPr lang="zh-CN" altLang="en-US" dirty="0" smtClean="0">
                <a:latin typeface="Alibaba PuHuiTi B" pitchFamily="18" charset="-122"/>
                <a:ea typeface="Alibaba PuHuiTi B" pitchFamily="18" charset="-122"/>
                <a:cs typeface="Alibaba PuHuiTi B" pitchFamily="18" charset="-122"/>
              </a:rPr>
              <a:t>新特性</a:t>
            </a:r>
            <a:endParaRPr lang="zh-CN" altLang="en-US" dirty="0" smtClean="0">
              <a:latin typeface="Alibaba PuHuiTi B" pitchFamily="18" charset="-122"/>
              <a:ea typeface="Alibaba PuHuiTi B" pitchFamily="18" charset="-122"/>
              <a:cs typeface="Alibaba PuHuiTi B" pitchFamily="18" charset="-122"/>
            </a:endParaRPr>
          </a:p>
        </p:txBody>
      </p:sp>
      <p:sp>
        <p:nvSpPr>
          <p:cNvPr id="5" name="文本占位符 4"/>
          <p:cNvSpPr>
            <a:spLocks noGrp="1"/>
          </p:cNvSpPr>
          <p:nvPr/>
        </p:nvSpPr>
        <p:spPr>
          <a:xfrm>
            <a:off x="3881755" y="2468880"/>
            <a:ext cx="1127125" cy="1148080"/>
          </a:xfrm>
          <a:prstGeom prst="rect">
            <a:avLst/>
          </a:prstGeom>
        </p:spPr>
        <p:txBody>
          <a:bodyPr anchor="ctr"/>
          <a:lstStyle>
            <a:lvl1pPr marL="228600" indent="-228600" algn="ctr" defTabSz="914400" rtl="0" eaLnBrk="1" latinLnBrk="0" hangingPunct="1">
              <a:lnSpc>
                <a:spcPct val="90000"/>
              </a:lnSpc>
              <a:spcBef>
                <a:spcPts val="1000"/>
              </a:spcBef>
              <a:buFont typeface="Arial" panose="020B0604020202020204" pitchFamily="34" charset="0"/>
              <a:buNone/>
              <a:defRPr sz="4000" b="1" i="0" kern="1200">
                <a:solidFill>
                  <a:srgbClr val="FFFFFF"/>
                </a:solidFill>
                <a:latin typeface="Sitka Heading" charset="0"/>
                <a:ea typeface="Sitka Heading" charset="0"/>
                <a:cs typeface="Sitka Heading" charset="0"/>
              </a:defRPr>
            </a:lvl1pPr>
            <a:lvl2pPr marL="6858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smtClean="0">
                <a:latin typeface="Alibaba PuHuiTi B" pitchFamily="18" charset="-122"/>
                <a:ea typeface="Alibaba PuHuiTi B" pitchFamily="18" charset="-122"/>
                <a:cs typeface="Alibaba PuHuiTi B" pitchFamily="18" charset="-122"/>
              </a:rPr>
              <a:t>第二章</a:t>
            </a:r>
            <a:endParaRPr lang="zh-CN" altLang="en-US" sz="2400" dirty="0" smtClean="0">
              <a:latin typeface="Alibaba PuHuiTi B" pitchFamily="18" charset="-122"/>
              <a:ea typeface="Alibaba PuHuiTi B" pitchFamily="18" charset="-122"/>
              <a:cs typeface="Alibaba PuHuiTi B" pitchFamily="18"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en-US" altLang="zh-CN"/>
              <a:t>2.1 3.0</a:t>
            </a:r>
            <a:r>
              <a:t>新特性概览</a:t>
            </a:r>
          </a:p>
        </p:txBody>
      </p:sp>
      <p:pic>
        <p:nvPicPr>
          <p:cNvPr id="100" name="图片 99"/>
          <p:cNvPicPr/>
          <p:nvPr/>
        </p:nvPicPr>
        <p:blipFill>
          <a:blip r:embed="rId1"/>
          <a:stretch>
            <a:fillRect/>
          </a:stretch>
        </p:blipFill>
        <p:spPr>
          <a:xfrm>
            <a:off x="6341745" y="1818005"/>
            <a:ext cx="4590415" cy="3896360"/>
          </a:xfrm>
          <a:prstGeom prst="rect">
            <a:avLst/>
          </a:prstGeom>
          <a:noFill/>
          <a:ln w="9525">
            <a:noFill/>
          </a:ln>
        </p:spPr>
      </p:pic>
      <p:pic>
        <p:nvPicPr>
          <p:cNvPr id="4" name="图片 3"/>
          <p:cNvPicPr>
            <a:picLocks noChangeAspect="1"/>
          </p:cNvPicPr>
          <p:nvPr/>
        </p:nvPicPr>
        <p:blipFill>
          <a:blip r:embed="rId2"/>
          <a:stretch>
            <a:fillRect/>
          </a:stretch>
        </p:blipFill>
        <p:spPr>
          <a:xfrm>
            <a:off x="638175" y="1926590"/>
            <a:ext cx="5650865" cy="2472055"/>
          </a:xfrm>
          <a:prstGeom prst="rect">
            <a:avLst/>
          </a:prstGeom>
        </p:spPr>
      </p:pic>
      <p:sp>
        <p:nvSpPr>
          <p:cNvPr id="5" name="文本框 4"/>
          <p:cNvSpPr txBox="1"/>
          <p:nvPr/>
        </p:nvSpPr>
        <p:spPr>
          <a:xfrm>
            <a:off x="7716520" y="5890260"/>
            <a:ext cx="2784475" cy="337185"/>
          </a:xfrm>
          <a:prstGeom prst="rect">
            <a:avLst/>
          </a:prstGeom>
          <a:noFill/>
        </p:spPr>
        <p:txBody>
          <a:bodyPr wrap="square">
            <a:spAutoFit/>
          </a:bodyPr>
          <a:p>
            <a:pPr fontAlgn="auto">
              <a:spcBef>
                <a:spcPts val="0"/>
              </a:spcBef>
              <a:spcAft>
                <a:spcPts val="0"/>
              </a:spcAft>
            </a:pPr>
            <a:r>
              <a:rPr lang="en-US" altLang="zh-CN"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3.0</a:t>
            </a:r>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新特性更新的模块占比</a:t>
            </a:r>
            <a:endPar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sz="quarter" idx="11"/>
          </p:nvPr>
        </p:nvSpPr>
        <p:spPr/>
        <p:txBody>
          <a:bodyPr/>
          <a:p>
            <a:r>
              <a:rPr lang="zh-CN" altLang="en-US"/>
              <a:t>对比</a:t>
            </a:r>
            <a:r>
              <a:rPr lang="en-US" altLang="zh-CN"/>
              <a:t>2.4</a:t>
            </a:r>
            <a:r>
              <a:rPr lang="zh-CN" altLang="en-US"/>
              <a:t>版本</a:t>
            </a:r>
            <a:r>
              <a:rPr lang="en-US" altLang="zh-CN"/>
              <a:t>, 3.0</a:t>
            </a:r>
            <a:r>
              <a:rPr lang="zh-CN" altLang="en-US"/>
              <a:t>在</a:t>
            </a:r>
            <a:r>
              <a:rPr lang="en-US" altLang="zh-CN"/>
              <a:t>TPC-DS</a:t>
            </a:r>
            <a:r>
              <a:rPr lang="zh-CN" altLang="en-US"/>
              <a:t>基准测试中</a:t>
            </a:r>
            <a:endParaRPr lang="zh-CN" altLang="en-US"/>
          </a:p>
          <a:p>
            <a:r>
              <a:rPr lang="zh-CN" altLang="en-US"/>
              <a:t>性能超过</a:t>
            </a:r>
            <a:r>
              <a:rPr lang="en-US" altLang="zh-CN"/>
              <a:t>2.4</a:t>
            </a:r>
            <a:r>
              <a:rPr lang="zh-CN" altLang="en-US"/>
              <a:t>版本</a:t>
            </a:r>
            <a:r>
              <a:rPr lang="en-US" altLang="zh-CN"/>
              <a:t>, </a:t>
            </a:r>
            <a:r>
              <a:rPr lang="zh-CN" altLang="en-US"/>
              <a:t>达到了</a:t>
            </a:r>
            <a:r>
              <a:rPr lang="en-US" altLang="zh-CN"/>
              <a:t>2</a:t>
            </a:r>
            <a:r>
              <a:rPr lang="zh-CN" altLang="en-US"/>
              <a:t>倍的提升</a:t>
            </a:r>
            <a:endParaRPr lang="zh-CN" altLang="en-US"/>
          </a:p>
          <a:p>
            <a:endParaRPr lang="zh-CN" altLang="en-US"/>
          </a:p>
          <a:p>
            <a:endParaRPr lang="zh-CN" altLang="en-US"/>
          </a:p>
        </p:txBody>
      </p:sp>
      <p:sp>
        <p:nvSpPr>
          <p:cNvPr id="6" name="文本占位符 1"/>
          <p:cNvSpPr>
            <a:spLocks noGrp="1"/>
          </p:cNvSpPr>
          <p:nvPr/>
        </p:nvSpPr>
        <p:spPr>
          <a:xfrm>
            <a:off x="710880" y="940081"/>
            <a:ext cx="10698800"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en-US" altLang="zh-CN"/>
              <a:t>2.1 3.0</a:t>
            </a:r>
            <a:r>
              <a:t>新特性概览</a:t>
            </a:r>
          </a:p>
        </p:txBody>
      </p:sp>
      <p:pic>
        <p:nvPicPr>
          <p:cNvPr id="101" name="图片 100"/>
          <p:cNvPicPr/>
          <p:nvPr/>
        </p:nvPicPr>
        <p:blipFill>
          <a:blip r:embed="rId1"/>
          <a:stretch>
            <a:fillRect/>
          </a:stretch>
        </p:blipFill>
        <p:spPr>
          <a:xfrm>
            <a:off x="1140143" y="3105468"/>
            <a:ext cx="9458325" cy="2581275"/>
          </a:xfrm>
          <a:prstGeom prst="rect">
            <a:avLst/>
          </a:prstGeom>
          <a:noFill/>
          <a:ln w="9525">
            <a:noFill/>
          </a:ln>
        </p:spPr>
      </p:pic>
      <p:sp>
        <p:nvSpPr>
          <p:cNvPr id="7" name="文本框 6"/>
          <p:cNvSpPr txBox="1"/>
          <p:nvPr/>
        </p:nvSpPr>
        <p:spPr>
          <a:xfrm>
            <a:off x="4604385" y="5687060"/>
            <a:ext cx="4853940" cy="337185"/>
          </a:xfrm>
          <a:prstGeom prst="rect">
            <a:avLst/>
          </a:prstGeom>
          <a:noFill/>
        </p:spPr>
        <p:txBody>
          <a:bodyPr>
            <a:spAutoFit/>
          </a:bodyPr>
          <a:p>
            <a:pPr fontAlgn="auto">
              <a:spcBef>
                <a:spcPts val="0"/>
              </a:spcBef>
              <a:spcAft>
                <a:spcPts val="0"/>
              </a:spcAft>
            </a:pPr>
            <a:r>
              <a:rPr lang="en-US" altLang="zh-CN"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30TB</a:t>
            </a:r>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基准数据量计算测试</a:t>
            </a:r>
            <a:endPar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sz="quarter" idx="11"/>
          </p:nvPr>
        </p:nvSpPr>
        <p:spPr/>
        <p:txBody>
          <a:bodyPr/>
          <a:p>
            <a:r>
              <a:rPr lang="zh-CN" altLang="en-US"/>
              <a:t>由于缺乏或者不准确的数据统计信息</a:t>
            </a:r>
            <a:r>
              <a:rPr lang="en-US" altLang="zh-CN"/>
              <a:t>(</a:t>
            </a:r>
            <a:r>
              <a:rPr lang="zh-CN" altLang="en-US"/>
              <a:t>元数据</a:t>
            </a:r>
            <a:r>
              <a:rPr lang="en-US" altLang="zh-CN"/>
              <a:t>)</a:t>
            </a:r>
            <a:r>
              <a:rPr lang="zh-CN" altLang="en-US"/>
              <a:t>和对成本的错误估算</a:t>
            </a:r>
            <a:r>
              <a:rPr lang="en-US" altLang="zh-CN"/>
              <a:t>(</a:t>
            </a:r>
            <a:r>
              <a:rPr lang="zh-CN" altLang="en-US"/>
              <a:t>执行计划调度</a:t>
            </a:r>
            <a:r>
              <a:rPr lang="en-US" altLang="zh-CN"/>
              <a:t>)</a:t>
            </a:r>
            <a:r>
              <a:rPr lang="zh-CN" altLang="en-US"/>
              <a:t>导致生成的初始执行计划不理想</a:t>
            </a:r>
            <a:endParaRPr lang="zh-CN" altLang="en-US"/>
          </a:p>
          <a:p>
            <a:r>
              <a:rPr lang="zh-CN" altLang="en-US"/>
              <a:t>在</a:t>
            </a:r>
            <a:r>
              <a:rPr lang="en-US" altLang="zh-CN"/>
              <a:t>Spark3.x</a:t>
            </a:r>
            <a:r>
              <a:rPr lang="zh-CN" altLang="en-US"/>
              <a:t>版本提供Adaptive Query Execution自适应查询技术</a:t>
            </a:r>
            <a:endParaRPr lang="zh-CN" altLang="en-US"/>
          </a:p>
          <a:p>
            <a:r>
              <a:rPr lang="zh-CN" altLang="en-US"/>
              <a:t>通过在</a:t>
            </a:r>
            <a:r>
              <a:rPr lang="en-US" altLang="zh-CN"/>
              <a:t>”</a:t>
            </a:r>
            <a:r>
              <a:rPr lang="zh-CN" altLang="en-US"/>
              <a:t>运行时</a:t>
            </a:r>
            <a:r>
              <a:rPr lang="en-US" altLang="zh-CN"/>
              <a:t>”</a:t>
            </a:r>
            <a:r>
              <a:rPr lang="zh-CN" altLang="en-US"/>
              <a:t>对查询执行计划进行优化</a:t>
            </a:r>
            <a:r>
              <a:rPr lang="en-US" altLang="zh-CN"/>
              <a:t>,  </a:t>
            </a:r>
            <a:r>
              <a:rPr lang="zh-CN" altLang="en-US"/>
              <a:t>允许</a:t>
            </a:r>
            <a:r>
              <a:rPr lang="en-US" altLang="zh-CN"/>
              <a:t>Planner</a:t>
            </a:r>
            <a:r>
              <a:rPr lang="zh-CN" altLang="en-US"/>
              <a:t>在运行时执行可选计划</a:t>
            </a:r>
            <a:r>
              <a:rPr lang="en-US" altLang="zh-CN"/>
              <a:t>,</a:t>
            </a:r>
            <a:r>
              <a:rPr lang="zh-CN" altLang="en-US"/>
              <a:t>这些可选计划将会基于运行时数据统计进行动态优化</a:t>
            </a:r>
            <a:r>
              <a:rPr lang="en-US" altLang="zh-CN"/>
              <a:t>, </a:t>
            </a:r>
            <a:r>
              <a:rPr lang="zh-CN" altLang="en-US"/>
              <a:t>从而提高性能</a:t>
            </a:r>
            <a:r>
              <a:rPr lang="en-US" altLang="zh-CN"/>
              <a:t>.</a:t>
            </a:r>
            <a:endParaRPr lang="en-US" altLang="zh-CN"/>
          </a:p>
          <a:p>
            <a:r>
              <a:rPr lang="en-US" altLang="zh-CN"/>
              <a:t>Adaptive Query Execution AQE</a:t>
            </a:r>
            <a:r>
              <a:rPr lang="zh-CN" altLang="en-US"/>
              <a:t>主要提供了三个自适应优化</a:t>
            </a:r>
            <a:r>
              <a:rPr lang="en-US" altLang="zh-CN"/>
              <a:t>:</a:t>
            </a:r>
            <a:endParaRPr lang="en-US" altLang="zh-CN"/>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动态合并</a:t>
            </a:r>
            <a:r>
              <a:rPr lang="en-US" altLang="zh-CN"/>
              <a:t> Shuffle Partitions</a:t>
            </a:r>
            <a:endParaRPr lang="en-US" altLang="zh-CN"/>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zh-CN" altLang="en-US"/>
              <a:t>动态调整</a:t>
            </a:r>
            <a:r>
              <a:rPr lang="en-US" altLang="zh-CN"/>
              <a:t>Join</a:t>
            </a:r>
            <a:r>
              <a:rPr lang="zh-CN" altLang="en-US"/>
              <a:t>策略</a:t>
            </a: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动态优化倾斜</a:t>
            </a:r>
            <a:r>
              <a:rPr lang="en-US" altLang="zh-CN"/>
              <a:t>Join(Skew Joins)</a:t>
            </a:r>
            <a:endParaRPr lang="en-US" altLang="zh-CN"/>
          </a:p>
        </p:txBody>
      </p:sp>
      <p:sp>
        <p:nvSpPr>
          <p:cNvPr id="6" name="文本占位符 1"/>
          <p:cNvSpPr>
            <a:spLocks noGrp="1"/>
          </p:cNvSpPr>
          <p:nvPr/>
        </p:nvSpPr>
        <p:spPr>
          <a:xfrm>
            <a:off x="710880" y="940081"/>
            <a:ext cx="10698800"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en-US" altLang="zh-CN"/>
              <a:t>2.2 </a:t>
            </a:r>
            <a:r>
              <a:t>Adaptive Query Execution</a:t>
            </a:r>
            <a:r>
              <a:rPr lang="en-US" altLang="zh-CN"/>
              <a:t> </a:t>
            </a:r>
            <a:r>
              <a:t>自适应查询</a:t>
            </a:r>
            <a:r>
              <a:rPr lang="en-US" altLang="zh-CN"/>
              <a:t>(SparkSQL)</a:t>
            </a:r>
            <a:endParaRPr lang="en-US" altLang="zh-CN"/>
          </a:p>
        </p:txBody>
      </p:sp>
      <p:pic>
        <p:nvPicPr>
          <p:cNvPr id="2" name="图片 1"/>
          <p:cNvPicPr>
            <a:picLocks noChangeAspect="1"/>
          </p:cNvPicPr>
          <p:nvPr/>
        </p:nvPicPr>
        <p:blipFill>
          <a:blip r:embed="rId1"/>
          <a:srcRect t="74533"/>
          <a:stretch>
            <a:fillRect/>
          </a:stretch>
        </p:blipFill>
        <p:spPr>
          <a:xfrm>
            <a:off x="5632450" y="4641215"/>
            <a:ext cx="4970145" cy="433070"/>
          </a:xfrm>
          <a:prstGeom prst="rect">
            <a:avLst/>
          </a:prstGeom>
          <a:ln w="12700" cmpd="sng">
            <a:solidFill>
              <a:schemeClr val="accent1">
                <a:shade val="50000"/>
              </a:schemeClr>
            </a:solidFill>
            <a:prstDash val="solid"/>
          </a:ln>
        </p:spPr>
      </p:pic>
      <p:sp>
        <p:nvSpPr>
          <p:cNvPr id="4" name="文本框 3"/>
          <p:cNvSpPr txBox="1"/>
          <p:nvPr/>
        </p:nvSpPr>
        <p:spPr>
          <a:xfrm>
            <a:off x="5558790" y="4175760"/>
            <a:ext cx="3066415" cy="337185"/>
          </a:xfrm>
          <a:prstGeom prst="rect">
            <a:avLst/>
          </a:prstGeom>
          <a:noFill/>
        </p:spPr>
        <p:txBody>
          <a:bodyPr>
            <a:spAutoFit/>
          </a:bodyPr>
          <a:p>
            <a:pPr fontAlgn="auto">
              <a:spcBef>
                <a:spcPts val="0"/>
              </a:spcBef>
              <a:spcAft>
                <a:spcPts val="0"/>
              </a:spcAft>
            </a:pPr>
            <a:r>
              <a:rPr lang="zh-CN" altLang="en-US" sz="1600" b="1" dirty="0">
                <a:solidFill>
                  <a:srgbClr val="FF0000"/>
                </a:solidFill>
                <a:latin typeface="阿里巴巴普惠体" panose="00020600040101010101" pitchFamily="18" charset="-122"/>
                <a:ea typeface="阿里巴巴普惠体" panose="00020600040101010101" pitchFamily="18" charset="-122"/>
              </a:rPr>
              <a:t>开启</a:t>
            </a:r>
            <a:r>
              <a:rPr lang="en-US" altLang="zh-CN" sz="1600" b="1" dirty="0">
                <a:solidFill>
                  <a:srgbClr val="FF0000"/>
                </a:solidFill>
                <a:latin typeface="阿里巴巴普惠体" panose="00020600040101010101" pitchFamily="18" charset="-122"/>
                <a:ea typeface="阿里巴巴普惠体" panose="00020600040101010101" pitchFamily="18" charset="-122"/>
              </a:rPr>
              <a:t>AQE</a:t>
            </a:r>
            <a:r>
              <a:rPr lang="zh-CN" altLang="en-US" sz="1600" b="1" dirty="0">
                <a:solidFill>
                  <a:srgbClr val="FF0000"/>
                </a:solidFill>
                <a:latin typeface="阿里巴巴普惠体" panose="00020600040101010101" pitchFamily="18" charset="-122"/>
                <a:ea typeface="阿里巴巴普惠体" panose="00020600040101010101" pitchFamily="18" charset="-122"/>
              </a:rPr>
              <a:t>方式</a:t>
            </a:r>
            <a:endParaRPr lang="zh-CN" altLang="en-US" sz="1600" b="1" dirty="0">
              <a:solidFill>
                <a:srgbClr val="FF0000"/>
              </a:solidFill>
              <a:latin typeface="阿里巴巴普惠体" panose="00020600040101010101" pitchFamily="18" charset="-122"/>
              <a:ea typeface="阿里巴巴普惠体" panose="00020600040101010101" pitchFamily="18"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sz="quarter" idx="11"/>
          </p:nvPr>
        </p:nvSpPr>
        <p:spPr/>
        <p:txBody>
          <a:bodyPr/>
          <a:p>
            <a:pPr marL="285750" indent="-285750">
              <a:buFont typeface="Arial" panose="020B0604020202020204" pitchFamily="34" charset="0"/>
              <a:buChar char="•"/>
            </a:pPr>
            <a:r>
              <a:rPr lang="zh-CN" altLang="en-US"/>
              <a:t>动态合并</a:t>
            </a:r>
            <a:r>
              <a:rPr lang="en-US" altLang="zh-CN"/>
              <a:t> </a:t>
            </a:r>
            <a:r>
              <a:t>Dynamically coalescing shuffle partitions</a:t>
            </a:r>
          </a:p>
          <a:p>
            <a:pPr>
              <a:buFont typeface="Arial" panose="020B0604020202020204" pitchFamily="34" charset="0"/>
            </a:pPr>
            <a:r>
              <a:rPr lang="zh-CN" altLang="en-US"/>
              <a:t>可以动态调整shuffle分区的数量。用户可以在开始时设置相对较多的shuffle分区数，AQE会在运行时将相邻的小分区合并为较大的分区。</a:t>
            </a:r>
            <a:endParaRPr lang="zh-CN" altLang="en-US"/>
          </a:p>
          <a:p>
            <a:pPr>
              <a:buFont typeface="Arial" panose="020B0604020202020204" pitchFamily="34" charset="0"/>
            </a:pPr>
            <a:endParaRPr lang="zh-CN" altLang="en-US"/>
          </a:p>
          <a:p>
            <a:pPr>
              <a:buFont typeface="Arial" panose="020B0604020202020204" pitchFamily="34" charset="0"/>
            </a:pPr>
            <a:endParaRPr lang="zh-CN" altLang="en-US"/>
          </a:p>
        </p:txBody>
      </p:sp>
      <p:sp>
        <p:nvSpPr>
          <p:cNvPr id="6" name="文本占位符 1"/>
          <p:cNvSpPr>
            <a:spLocks noGrp="1"/>
          </p:cNvSpPr>
          <p:nvPr/>
        </p:nvSpPr>
        <p:spPr>
          <a:xfrm>
            <a:off x="710880" y="940081"/>
            <a:ext cx="10698800"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en-US" altLang="zh-CN"/>
              <a:t>2.2 </a:t>
            </a:r>
            <a:r>
              <a:t>Adaptive Query Execution</a:t>
            </a:r>
            <a:r>
              <a:rPr lang="en-US" altLang="zh-CN"/>
              <a:t> </a:t>
            </a:r>
            <a:r>
              <a:t>自适应查询</a:t>
            </a:r>
            <a:r>
              <a:rPr lang="en-US" altLang="zh-CN"/>
              <a:t>(SparkSQL)</a:t>
            </a:r>
            <a:endParaRPr lang="en-US" altLang="zh-CN"/>
          </a:p>
        </p:txBody>
      </p:sp>
      <p:pic>
        <p:nvPicPr>
          <p:cNvPr id="2" name="图片 1"/>
          <p:cNvPicPr>
            <a:picLocks noChangeAspect="1"/>
          </p:cNvPicPr>
          <p:nvPr/>
        </p:nvPicPr>
        <p:blipFill>
          <a:blip r:embed="rId1"/>
          <a:stretch>
            <a:fillRect/>
          </a:stretch>
        </p:blipFill>
        <p:spPr>
          <a:xfrm>
            <a:off x="1827530" y="2981325"/>
            <a:ext cx="2948305" cy="3536315"/>
          </a:xfrm>
          <a:prstGeom prst="rect">
            <a:avLst/>
          </a:prstGeom>
        </p:spPr>
      </p:pic>
      <p:pic>
        <p:nvPicPr>
          <p:cNvPr id="4" name="图片 3"/>
          <p:cNvPicPr>
            <a:picLocks noChangeAspect="1"/>
          </p:cNvPicPr>
          <p:nvPr/>
        </p:nvPicPr>
        <p:blipFill>
          <a:blip r:embed="rId2"/>
          <a:stretch>
            <a:fillRect/>
          </a:stretch>
        </p:blipFill>
        <p:spPr>
          <a:xfrm>
            <a:off x="7308850" y="2990850"/>
            <a:ext cx="2464435" cy="3517265"/>
          </a:xfrm>
          <a:prstGeom prst="rect">
            <a:avLst/>
          </a:prstGeom>
        </p:spPr>
      </p:pic>
      <p:sp>
        <p:nvSpPr>
          <p:cNvPr id="5" name="文本框 4"/>
          <p:cNvSpPr txBox="1"/>
          <p:nvPr/>
        </p:nvSpPr>
        <p:spPr>
          <a:xfrm>
            <a:off x="8010525" y="6447790"/>
            <a:ext cx="2099310" cy="337185"/>
          </a:xfrm>
          <a:prstGeom prst="rect">
            <a:avLst/>
          </a:prstGeom>
          <a:noFill/>
        </p:spPr>
        <p:txBody>
          <a:bodyPr>
            <a:spAutoFit/>
          </a:bodyPr>
          <a:p>
            <a:pPr fontAlgn="auto">
              <a:spcBef>
                <a:spcPts val="0"/>
              </a:spcBef>
              <a:spcAft>
                <a:spcPts val="0"/>
              </a:spcAft>
            </a:pPr>
            <a:r>
              <a:rPr lang="en-US" altLang="zh-CN" sz="1600" b="1" dirty="0">
                <a:solidFill>
                  <a:schemeClr val="tx1">
                    <a:lumMod val="65000"/>
                    <a:lumOff val="35000"/>
                  </a:schemeClr>
                </a:solidFill>
                <a:latin typeface="阿里巴巴普惠体" panose="00020600040101010101" pitchFamily="18" charset="-122"/>
                <a:ea typeface="阿里巴巴普惠体" panose="00020600040101010101" pitchFamily="18" charset="-122"/>
              </a:rPr>
              <a:t>AQE ON</a:t>
            </a:r>
            <a:endParaRPr lang="en-US" altLang="zh-CN" sz="1600" b="1" dirty="0">
              <a:solidFill>
                <a:schemeClr val="tx1">
                  <a:lumMod val="65000"/>
                  <a:lumOff val="35000"/>
                </a:schemeClr>
              </a:solidFill>
              <a:latin typeface="阿里巴巴普惠体" panose="00020600040101010101" pitchFamily="18" charset="-122"/>
              <a:ea typeface="阿里巴巴普惠体" panose="00020600040101010101" pitchFamily="18" charset="-122"/>
            </a:endParaRPr>
          </a:p>
        </p:txBody>
      </p:sp>
      <p:sp>
        <p:nvSpPr>
          <p:cNvPr id="7" name="文本框 6"/>
          <p:cNvSpPr txBox="1"/>
          <p:nvPr/>
        </p:nvSpPr>
        <p:spPr>
          <a:xfrm>
            <a:off x="2744470" y="6447790"/>
            <a:ext cx="2099310" cy="337185"/>
          </a:xfrm>
          <a:prstGeom prst="rect">
            <a:avLst/>
          </a:prstGeom>
          <a:noFill/>
        </p:spPr>
        <p:txBody>
          <a:bodyPr>
            <a:spAutoFit/>
          </a:bodyPr>
          <a:p>
            <a:pPr fontAlgn="auto">
              <a:spcBef>
                <a:spcPts val="0"/>
              </a:spcBef>
              <a:spcAft>
                <a:spcPts val="0"/>
              </a:spcAft>
            </a:pPr>
            <a:r>
              <a:rPr lang="en-US" altLang="zh-CN" sz="1600" b="1" dirty="0">
                <a:solidFill>
                  <a:schemeClr val="tx1">
                    <a:lumMod val="65000"/>
                    <a:lumOff val="35000"/>
                  </a:schemeClr>
                </a:solidFill>
                <a:latin typeface="阿里巴巴普惠体" panose="00020600040101010101" pitchFamily="18" charset="-122"/>
                <a:ea typeface="阿里巴巴普惠体" panose="00020600040101010101" pitchFamily="18" charset="-122"/>
              </a:rPr>
              <a:t>AQE OFF</a:t>
            </a:r>
            <a:endParaRPr lang="en-US" altLang="zh-CN" sz="1600" b="1" dirty="0">
              <a:solidFill>
                <a:schemeClr val="tx1">
                  <a:lumMod val="65000"/>
                  <a:lumOff val="35000"/>
                </a:schemeClr>
              </a:solidFill>
              <a:latin typeface="阿里巴巴普惠体" panose="00020600040101010101" pitchFamily="18" charset="-122"/>
              <a:ea typeface="阿里巴巴普惠体" panose="00020600040101010101" pitchFamily="18"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sz="quarter" idx="11"/>
          </p:nvPr>
        </p:nvSpPr>
        <p:spPr/>
        <p:txBody>
          <a:bodyPr/>
          <a:p>
            <a:pPr marL="285750" indent="-285750">
              <a:buFont typeface="Arial" panose="020B0604020202020204" pitchFamily="34" charset="0"/>
              <a:buChar char="•"/>
            </a:pPr>
            <a:r>
              <a:rPr lang="zh-CN" altLang="en-US">
                <a:sym typeface="+mn-ea"/>
              </a:rPr>
              <a:t>动态调整</a:t>
            </a:r>
            <a:r>
              <a:rPr lang="en-US" altLang="zh-CN">
                <a:sym typeface="+mn-ea"/>
              </a:rPr>
              <a:t>Join</a:t>
            </a:r>
            <a:r>
              <a:rPr lang="zh-CN" altLang="en-US">
                <a:sym typeface="+mn-ea"/>
              </a:rPr>
              <a:t>策略</a:t>
            </a:r>
            <a:r>
              <a:rPr lang="en-US" altLang="zh-CN">
                <a:sym typeface="+mn-ea"/>
              </a:rPr>
              <a:t> Dynamically switching join strategies</a:t>
            </a:r>
            <a:endParaRPr lang="en-US" altLang="zh-CN">
              <a:sym typeface="+mn-ea"/>
            </a:endParaRPr>
          </a:p>
          <a:p>
            <a:pPr>
              <a:buFont typeface="Arial" panose="020B0604020202020204" pitchFamily="34" charset="0"/>
            </a:pPr>
            <a:r>
              <a:rPr lang="zh-CN" altLang="en-US"/>
              <a:t>此优化可以在一定程度上避免由于缺少统计信息或着错误估计大小（当然也可能两种情况同时存在），而导致执行计划性能不佳的情况。这种自适应优化可以在运行时sort merge join转换成broadcast hash join，从而进一步提升性能</a:t>
            </a:r>
            <a:endParaRPr lang="zh-CN" altLang="en-US"/>
          </a:p>
          <a:p>
            <a:pPr>
              <a:buFont typeface="Arial" panose="020B0604020202020204" pitchFamily="34" charset="0"/>
            </a:pPr>
            <a:endParaRPr lang="zh-CN" altLang="en-US"/>
          </a:p>
        </p:txBody>
      </p:sp>
      <p:sp>
        <p:nvSpPr>
          <p:cNvPr id="6" name="文本占位符 1"/>
          <p:cNvSpPr>
            <a:spLocks noGrp="1"/>
          </p:cNvSpPr>
          <p:nvPr/>
        </p:nvSpPr>
        <p:spPr>
          <a:xfrm>
            <a:off x="710880" y="940081"/>
            <a:ext cx="10698800"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en-US" altLang="zh-CN"/>
              <a:t>2.2 </a:t>
            </a:r>
            <a:r>
              <a:t>Adaptive Query Execution</a:t>
            </a:r>
            <a:r>
              <a:rPr lang="en-US" altLang="zh-CN"/>
              <a:t> </a:t>
            </a:r>
            <a:r>
              <a:t>自适应查询</a:t>
            </a:r>
            <a:r>
              <a:rPr lang="en-US" altLang="zh-CN"/>
              <a:t>(SparkSQL)</a:t>
            </a:r>
            <a:endParaRPr lang="en-US" altLang="zh-CN"/>
          </a:p>
        </p:txBody>
      </p:sp>
      <p:pic>
        <p:nvPicPr>
          <p:cNvPr id="8" name="图片 7" descr="1_hHDoKD4eHPM7XJbbNDvz4g"/>
          <p:cNvPicPr>
            <a:picLocks noChangeAspect="1"/>
          </p:cNvPicPr>
          <p:nvPr/>
        </p:nvPicPr>
        <p:blipFill>
          <a:blip r:embed="rId1"/>
          <a:stretch>
            <a:fillRect/>
          </a:stretch>
        </p:blipFill>
        <p:spPr>
          <a:xfrm>
            <a:off x="1866265" y="2915920"/>
            <a:ext cx="8460105" cy="36296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sz="quarter" idx="11"/>
          </p:nvPr>
        </p:nvSpPr>
        <p:spPr/>
        <p:txBody>
          <a:bodyPr/>
          <a:p>
            <a:pPr marL="285750" indent="-285750">
              <a:buFont typeface="Arial" panose="020B0604020202020204" pitchFamily="34" charset="0"/>
              <a:buChar char="•"/>
            </a:pPr>
            <a:r>
              <a:rPr lang="zh-CN" altLang="en-US">
                <a:sym typeface="+mn-ea"/>
              </a:rPr>
              <a:t>动态优化倾斜</a:t>
            </a:r>
            <a:r>
              <a:rPr lang="en-US" altLang="zh-CN">
                <a:sym typeface="+mn-ea"/>
              </a:rPr>
              <a:t>Join</a:t>
            </a:r>
            <a:endParaRPr lang="en-US" altLang="zh-CN">
              <a:sym typeface="+mn-ea"/>
            </a:endParaRPr>
          </a:p>
          <a:p>
            <a:pPr>
              <a:buFont typeface="Arial" panose="020B0604020202020204" pitchFamily="34" charset="0"/>
            </a:pPr>
            <a:r>
              <a:rPr lang="zh-CN" altLang="en-US"/>
              <a:t>skew joins可能导致负载的极端不平衡，并严重降低性能。在AQE从shuffle文件统计信息中检测到任何倾斜后，它可以将倾斜的分区分割成更小的分区，并将它们与另一侧的相应分区连接起来。这种优化可以并行化倾斜处理，获得更好的整体性能。</a:t>
            </a:r>
            <a:endParaRPr lang="zh-CN" altLang="en-US"/>
          </a:p>
        </p:txBody>
      </p:sp>
      <p:sp>
        <p:nvSpPr>
          <p:cNvPr id="6" name="文本占位符 1"/>
          <p:cNvSpPr>
            <a:spLocks noGrp="1"/>
          </p:cNvSpPr>
          <p:nvPr/>
        </p:nvSpPr>
        <p:spPr>
          <a:xfrm>
            <a:off x="710880" y="940081"/>
            <a:ext cx="10698800"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en-US" altLang="zh-CN"/>
              <a:t>2.2 </a:t>
            </a:r>
            <a:r>
              <a:t>Adaptive Query Execution</a:t>
            </a:r>
            <a:r>
              <a:rPr lang="en-US" altLang="zh-CN"/>
              <a:t> </a:t>
            </a:r>
            <a:r>
              <a:t>自适应查询</a:t>
            </a:r>
            <a:r>
              <a:rPr lang="en-US" altLang="zh-CN"/>
              <a:t>(SparkSQL)</a:t>
            </a:r>
            <a:endParaRPr lang="en-US" altLang="zh-CN"/>
          </a:p>
        </p:txBody>
      </p:sp>
      <p:pic>
        <p:nvPicPr>
          <p:cNvPr id="2" name="图片 1"/>
          <p:cNvPicPr>
            <a:picLocks noChangeAspect="1"/>
          </p:cNvPicPr>
          <p:nvPr/>
        </p:nvPicPr>
        <p:blipFill>
          <a:blip r:embed="rId1"/>
          <a:stretch>
            <a:fillRect/>
          </a:stretch>
        </p:blipFill>
        <p:spPr>
          <a:xfrm>
            <a:off x="2489200" y="2877820"/>
            <a:ext cx="7213600" cy="2946400"/>
          </a:xfrm>
          <a:prstGeom prst="rect">
            <a:avLst/>
          </a:prstGeom>
        </p:spPr>
      </p:pic>
      <p:sp>
        <p:nvSpPr>
          <p:cNvPr id="4" name="文本框 3"/>
          <p:cNvSpPr txBox="1"/>
          <p:nvPr/>
        </p:nvSpPr>
        <p:spPr>
          <a:xfrm>
            <a:off x="1651000" y="5865495"/>
            <a:ext cx="8052435" cy="598805"/>
          </a:xfrm>
          <a:prstGeom prst="rect">
            <a:avLst/>
          </a:prstGeom>
          <a:noFill/>
        </p:spPr>
        <p:txBody>
          <a:bodyPr wrap="square">
            <a:spAutoFit/>
          </a:bodyPr>
          <a:p>
            <a:pPr fontAlgn="auto">
              <a:spcBef>
                <a:spcPts val="0"/>
              </a:spcBef>
              <a:spcAft>
                <a:spcPts val="0"/>
              </a:spcAft>
            </a:pPr>
            <a:r>
              <a:rPr lang="zh-CN" altLang="en-US" sz="11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触发条件</a:t>
            </a:r>
            <a:r>
              <a:rPr lang="en-US" altLang="zh-CN" sz="11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en-US" altLang="zh-CN" sz="11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fontAlgn="auto">
              <a:spcBef>
                <a:spcPts val="0"/>
              </a:spcBef>
              <a:spcAft>
                <a:spcPts val="0"/>
              </a:spcAft>
            </a:pPr>
            <a:r>
              <a:rPr lang="en-US" altLang="zh-CN" sz="11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1. </a:t>
            </a:r>
            <a:r>
              <a:rPr lang="zh-CN" altLang="en-US" sz="11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分区大小</a:t>
            </a:r>
            <a:r>
              <a:rPr lang="en-US" altLang="zh-CN" sz="11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&gt; spark.sql.adaptive.skewJoin.skewedPartitionFactor (default=10) * "median partition size(</a:t>
            </a:r>
            <a:r>
              <a:rPr lang="zh-CN" altLang="en-US" sz="11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中位数分区大小</a:t>
            </a:r>
            <a:r>
              <a:rPr lang="en-US" altLang="zh-CN" sz="11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en-US" altLang="zh-CN" sz="11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fontAlgn="auto">
              <a:spcBef>
                <a:spcPts val="0"/>
              </a:spcBef>
              <a:spcAft>
                <a:spcPts val="0"/>
              </a:spcAft>
            </a:pPr>
            <a:r>
              <a:rPr lang="en-US" altLang="zh-CN" sz="11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 </a:t>
            </a:r>
            <a:r>
              <a:rPr lang="zh-CN" altLang="en-US" sz="11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分区大小</a:t>
            </a:r>
            <a:r>
              <a:rPr lang="en-US" altLang="zh-CN" sz="11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&gt; spark.sql.adaptive.skewJoin.skewedPartitionThresholdInBytes (default = 256MB)</a:t>
            </a:r>
            <a:endParaRPr lang="en-US" altLang="zh-CN" sz="11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sz="quarter" idx="11"/>
          </p:nvPr>
        </p:nvSpPr>
        <p:spPr/>
        <p:txBody>
          <a:bodyPr/>
          <a:p>
            <a:r>
              <a:rPr lang="zh-CN" altLang="en-US"/>
              <a:t>AQE 总结:</a:t>
            </a:r>
            <a:endParaRPr lang="zh-CN" altLang="en-US"/>
          </a:p>
          <a:p>
            <a:r>
              <a:rPr lang="zh-CN" altLang="en-US"/>
              <a:t>1. AQE的开启通过: spark.sql.adaptive.enabled 设置为true开启</a:t>
            </a:r>
            <a:endParaRPr lang="zh-CN" altLang="en-US"/>
          </a:p>
          <a:p>
            <a:r>
              <a:rPr lang="zh-CN" altLang="en-US"/>
              <a:t>2. AQE是自动化优化机制, 无需我们设置复杂的参数调整, 开启AQE符合条件即可自动化应用AQE优化</a:t>
            </a:r>
            <a:endParaRPr lang="zh-CN" altLang="en-US"/>
          </a:p>
          <a:p>
            <a:r>
              <a:rPr lang="en-US" altLang="zh-CN"/>
              <a:t>3. AQE</a:t>
            </a:r>
            <a:r>
              <a:rPr lang="zh-CN" altLang="en-US"/>
              <a:t>带来了极大的</a:t>
            </a:r>
            <a:r>
              <a:rPr lang="en-US" altLang="zh-CN"/>
              <a:t>SparkSQL</a:t>
            </a:r>
            <a:r>
              <a:rPr lang="zh-CN" altLang="en-US"/>
              <a:t>性能提升</a:t>
            </a:r>
            <a:endParaRPr lang="zh-CN" altLang="en-US"/>
          </a:p>
        </p:txBody>
      </p:sp>
      <p:pic>
        <p:nvPicPr>
          <p:cNvPr id="105" name="图片 104"/>
          <p:cNvPicPr/>
          <p:nvPr/>
        </p:nvPicPr>
        <p:blipFill>
          <a:blip r:embed="rId1"/>
          <a:stretch>
            <a:fillRect/>
          </a:stretch>
        </p:blipFill>
        <p:spPr>
          <a:xfrm>
            <a:off x="4596765" y="3022600"/>
            <a:ext cx="5745480" cy="3509645"/>
          </a:xfrm>
          <a:prstGeom prst="rect">
            <a:avLst/>
          </a:prstGeom>
          <a:noFill/>
          <a:ln w="9525">
            <a:noFill/>
          </a:ln>
        </p:spPr>
      </p:pic>
      <p:sp>
        <p:nvSpPr>
          <p:cNvPr id="5" name="文本占位符 1"/>
          <p:cNvSpPr>
            <a:spLocks noGrp="1"/>
          </p:cNvSpPr>
          <p:nvPr/>
        </p:nvSpPr>
        <p:spPr>
          <a:xfrm>
            <a:off x="710880" y="940081"/>
            <a:ext cx="10698800"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en-US" altLang="zh-CN"/>
              <a:t>2.2 </a:t>
            </a:r>
            <a:r>
              <a:t>Adaptive Query Execution</a:t>
            </a:r>
            <a:r>
              <a:rPr lang="en-US" altLang="zh-CN"/>
              <a:t> </a:t>
            </a:r>
            <a:r>
              <a:t>自适应查询</a:t>
            </a:r>
            <a:r>
              <a:rPr lang="en-US" altLang="zh-CN"/>
              <a:t>(SparkSQL)</a:t>
            </a:r>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sz="quarter" idx="11"/>
          </p:nvPr>
        </p:nvSpPr>
        <p:spPr/>
        <p:txBody>
          <a:bodyPr/>
          <a:p>
            <a:r>
              <a:rPr lang="zh-CN" altLang="en-US"/>
              <a:t>当优化器在编译时无法识别可跳过的分区时，可以使用"动态分区裁剪"，即基于运行时推断的信息来进一步进行分区裁剪。这在星型模型中很常见，星型模型是由一个或多个并且引用了任意数量的维度表的事实表组成。在这种连接操作中，我们可以通过识别维度表过滤之后的分区来裁剪从事实表中读取的分区。在一个TPC-DS基准测试中，102个查询中有60个查询获得2到18倍的速度提升。</a:t>
            </a:r>
            <a:endParaRPr lang="zh-CN" altLang="en-US"/>
          </a:p>
        </p:txBody>
      </p:sp>
      <p:sp>
        <p:nvSpPr>
          <p:cNvPr id="5" name="文本占位符 1"/>
          <p:cNvSpPr>
            <a:spLocks noGrp="1"/>
          </p:cNvSpPr>
          <p:nvPr/>
        </p:nvSpPr>
        <p:spPr>
          <a:xfrm>
            <a:off x="710880" y="940081"/>
            <a:ext cx="10698800"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en-US" altLang="zh-CN"/>
              <a:t>2.3 </a:t>
            </a:r>
            <a:r>
              <a:t>Dynamic Partition Pruning</a:t>
            </a:r>
            <a:r>
              <a:rPr lang="en-US" altLang="zh-CN"/>
              <a:t> </a:t>
            </a:r>
            <a:r>
              <a:t>动态分区裁剪</a:t>
            </a:r>
            <a:r>
              <a:rPr lang="en-US" altLang="zh-CN"/>
              <a:t>(SparkSQL)</a:t>
            </a:r>
            <a:endParaRPr lang="en-US" altLang="zh-CN"/>
          </a:p>
        </p:txBody>
      </p:sp>
      <p:pic>
        <p:nvPicPr>
          <p:cNvPr id="2" name="图片 1"/>
          <p:cNvPicPr>
            <a:picLocks noChangeAspect="1"/>
          </p:cNvPicPr>
          <p:nvPr/>
        </p:nvPicPr>
        <p:blipFill>
          <a:blip r:embed="rId1"/>
          <a:srcRect b="543"/>
          <a:stretch>
            <a:fillRect/>
          </a:stretch>
        </p:blipFill>
        <p:spPr>
          <a:xfrm>
            <a:off x="5709285" y="2967990"/>
            <a:ext cx="6023610" cy="3369945"/>
          </a:xfrm>
          <a:prstGeom prst="rect">
            <a:avLst/>
          </a:prstGeom>
        </p:spPr>
      </p:pic>
      <p:pic>
        <p:nvPicPr>
          <p:cNvPr id="4" name="图片 3"/>
          <p:cNvPicPr>
            <a:picLocks noChangeAspect="1"/>
          </p:cNvPicPr>
          <p:nvPr/>
        </p:nvPicPr>
        <p:blipFill>
          <a:blip r:embed="rId2"/>
          <a:stretch>
            <a:fillRect/>
          </a:stretch>
        </p:blipFill>
        <p:spPr>
          <a:xfrm>
            <a:off x="776605" y="3296285"/>
            <a:ext cx="4441190" cy="273240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sz="quarter" idx="11"/>
          </p:nvPr>
        </p:nvSpPr>
        <p:spPr>
          <a:xfrm>
            <a:off x="710565" y="1656080"/>
            <a:ext cx="10699115" cy="902970"/>
          </a:xfrm>
        </p:spPr>
        <p:txBody>
          <a:bodyPr/>
          <a:p>
            <a:r>
              <a:rPr lang="zh-CN" altLang="en-US"/>
              <a:t>Python现在是Spark中使用较为广泛的编程语言，因此也是Spark 3.0的重点关注领域。Databricks有68％的notebook命令是用Python写的。PySpark在 Python Package Index上的月下载量超过 500 万。</a:t>
            </a:r>
            <a:endParaRPr lang="zh-CN" altLang="en-US"/>
          </a:p>
          <a:p>
            <a:endParaRPr lang="zh-CN" altLang="en-US"/>
          </a:p>
        </p:txBody>
      </p:sp>
      <p:sp>
        <p:nvSpPr>
          <p:cNvPr id="5" name="文本占位符 1"/>
          <p:cNvSpPr>
            <a:spLocks noGrp="1"/>
          </p:cNvSpPr>
          <p:nvPr/>
        </p:nvSpPr>
        <p:spPr>
          <a:xfrm>
            <a:off x="710880" y="940081"/>
            <a:ext cx="10698800"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en-US" altLang="zh-CN"/>
              <a:t>2.4 </a:t>
            </a:r>
            <a:r>
              <a:t>增强的</a:t>
            </a:r>
            <a:r>
              <a:rPr lang="en-US" altLang="zh-CN"/>
              <a:t>Python API: PySpark</a:t>
            </a:r>
            <a:r>
              <a:t>和</a:t>
            </a:r>
            <a:r>
              <a:rPr lang="en-US" altLang="zh-CN"/>
              <a:t>Koalas</a:t>
            </a:r>
            <a:endParaRPr lang="en-US" altLang="zh-CN"/>
          </a:p>
        </p:txBody>
      </p:sp>
      <p:pic>
        <p:nvPicPr>
          <p:cNvPr id="6" name="图片 5" descr="Python使用量InSpark"/>
          <p:cNvPicPr>
            <a:picLocks noChangeAspect="1"/>
          </p:cNvPicPr>
          <p:nvPr/>
        </p:nvPicPr>
        <p:blipFill>
          <a:blip r:embed="rId1"/>
          <a:stretch>
            <a:fillRect/>
          </a:stretch>
        </p:blipFill>
        <p:spPr>
          <a:xfrm>
            <a:off x="6919595" y="2661285"/>
            <a:ext cx="4531995" cy="3780790"/>
          </a:xfrm>
          <a:prstGeom prst="rect">
            <a:avLst/>
          </a:prstGeom>
        </p:spPr>
      </p:pic>
      <p:sp>
        <p:nvSpPr>
          <p:cNvPr id="10" name="文本占位符 2"/>
          <p:cNvSpPr>
            <a:spLocks noGrp="1"/>
          </p:cNvSpPr>
          <p:nvPr/>
        </p:nvSpPr>
        <p:spPr>
          <a:xfrm>
            <a:off x="710565" y="2713355"/>
            <a:ext cx="6054090" cy="382778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zh-CN" altLang="en-US" sz="1200"/>
              <a:t>很多Python开发人员在数据结构和数据分析方面使用pandas API，但仅限于</a:t>
            </a:r>
            <a:r>
              <a:rPr lang="zh-CN" altLang="en-US" sz="1200" b="1"/>
              <a:t>单节点</a:t>
            </a:r>
            <a:r>
              <a:rPr lang="zh-CN" altLang="en-US" sz="1200"/>
              <a:t>处理。Databricks会持续开发</a:t>
            </a:r>
            <a:r>
              <a:rPr lang="zh-CN" altLang="en-US" sz="1200" b="1"/>
              <a:t>Koalas——基于Apache Spark的pandas API实现</a:t>
            </a:r>
            <a:r>
              <a:rPr lang="zh-CN" altLang="en-US" sz="1200"/>
              <a:t>，让数据科学家能够在分布式环境中更高效地处理大数据。</a:t>
            </a:r>
            <a:endParaRPr lang="zh-CN" altLang="en-US" sz="1200"/>
          </a:p>
          <a:p>
            <a:endParaRPr lang="zh-CN" altLang="en-US" sz="1200"/>
          </a:p>
          <a:p>
            <a:r>
              <a:rPr lang="zh-CN" altLang="en-US" sz="1200"/>
              <a:t>经过一年多的开发，Koalas实现对pandas API将近80%的覆盖率。Koalas每月PyPI下载量已迅速增长到85万，并以每两周一次的发布节奏快速演进。虽然Koalas可能是从单节点pandas代码迁移的最简单方法，但很多人仍在使用PySpark API，也意味着PySpark API也越来越受欢迎。</a:t>
            </a:r>
            <a:endParaRPr lang="zh-CN" altLang="en-US" sz="1200"/>
          </a:p>
        </p:txBody>
      </p:sp>
      <p:pic>
        <p:nvPicPr>
          <p:cNvPr id="100" name="图片 99"/>
          <p:cNvPicPr/>
          <p:nvPr/>
        </p:nvPicPr>
        <p:blipFill>
          <a:blip r:embed="rId2"/>
          <a:stretch>
            <a:fillRect/>
          </a:stretch>
        </p:blipFill>
        <p:spPr>
          <a:xfrm>
            <a:off x="710565" y="5010785"/>
            <a:ext cx="6003925" cy="172148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en-US" altLang="zh-CN">
                <a:sym typeface="+mn-ea"/>
              </a:rPr>
              <a:t>2.5 Koalas</a:t>
            </a:r>
            <a:r>
              <a:rPr>
                <a:sym typeface="+mn-ea"/>
              </a:rPr>
              <a:t>入门演示</a:t>
            </a:r>
            <a:r>
              <a:rPr lang="en-US" altLang="zh-CN">
                <a:sym typeface="+mn-ea"/>
              </a:rPr>
              <a:t> - Koalas DataFrame</a:t>
            </a:r>
            <a:r>
              <a:rPr>
                <a:sym typeface="+mn-ea"/>
              </a:rPr>
              <a:t>构建</a:t>
            </a:r>
            <a:endParaRPr lang="en-US" altLang="zh-CN">
              <a:sym typeface="+mn-ea"/>
            </a:endParaRPr>
          </a:p>
        </p:txBody>
      </p:sp>
      <p:sp>
        <p:nvSpPr>
          <p:cNvPr id="3" name="文本占位符 2"/>
          <p:cNvSpPr>
            <a:spLocks noGrp="1"/>
          </p:cNvSpPr>
          <p:nvPr>
            <p:ph type="body" sz="quarter" idx="11"/>
          </p:nvPr>
        </p:nvSpPr>
        <p:spPr/>
        <p:txBody>
          <a:bodyPr/>
          <a:p>
            <a:r>
              <a:rPr lang="zh-CN" altLang="en-US" sz="900"/>
              <a:t>pip install koalas</a:t>
            </a:r>
            <a:r>
              <a:rPr lang="en-US" altLang="zh-CN" sz="900"/>
              <a:t> </a:t>
            </a:r>
            <a:r>
              <a:rPr lang="zh-CN" altLang="en-US" sz="900"/>
              <a:t>安装</a:t>
            </a:r>
            <a:r>
              <a:rPr lang="en-US" altLang="zh-CN" sz="900"/>
              <a:t>koalas</a:t>
            </a:r>
            <a:r>
              <a:rPr lang="zh-CN" altLang="en-US" sz="900"/>
              <a:t>类库</a:t>
            </a:r>
            <a:endParaRPr lang="zh-CN" altLang="en-US" sz="900"/>
          </a:p>
          <a:p>
            <a:endParaRPr lang="zh-CN" altLang="en-US" sz="900"/>
          </a:p>
          <a:p>
            <a:pPr marL="285750" indent="-285750">
              <a:buFont typeface="Arial" panose="020B0604020202020204" pitchFamily="34" charset="0"/>
              <a:buChar char="•"/>
            </a:pPr>
            <a:r>
              <a:rPr lang="zh-CN" altLang="en-US" sz="900"/>
              <a:t>构建</a:t>
            </a:r>
            <a:r>
              <a:rPr lang="en-US" altLang="zh-CN" sz="900"/>
              <a:t>Pandas</a:t>
            </a:r>
            <a:r>
              <a:rPr lang="zh-CN" altLang="en-US" sz="900"/>
              <a:t>的</a:t>
            </a:r>
            <a:r>
              <a:rPr lang="en-US" altLang="zh-CN" sz="900"/>
              <a:t>DatetimeIndex</a:t>
            </a:r>
            <a:endParaRPr lang="zh-CN" altLang="en-US" sz="900"/>
          </a:p>
          <a:p>
            <a:r>
              <a:rPr lang="zh-CN" altLang="en-US" sz="900"/>
              <a:t>dates = pd.date_range('20130101', periods=6)</a:t>
            </a:r>
            <a:endParaRPr lang="zh-CN" altLang="en-US" sz="900"/>
          </a:p>
          <a:p>
            <a:pPr marL="285750" indent="-285750">
              <a:buFont typeface="Arial" panose="020B0604020202020204" pitchFamily="34" charset="0"/>
              <a:buChar char="•"/>
            </a:pPr>
            <a:r>
              <a:rPr lang="zh-CN" altLang="en-US" sz="900"/>
              <a:t>构建</a:t>
            </a:r>
            <a:r>
              <a:rPr lang="en-US" altLang="zh-CN" sz="900"/>
              <a:t>Pandas</a:t>
            </a:r>
            <a:r>
              <a:rPr lang="zh-CN" altLang="en-US" sz="900"/>
              <a:t>的</a:t>
            </a:r>
            <a:r>
              <a:rPr lang="en-US" altLang="zh-CN" sz="900"/>
              <a:t>DataFrame</a:t>
            </a:r>
            <a:endParaRPr lang="en-US" altLang="zh-CN" sz="900"/>
          </a:p>
          <a:p>
            <a:r>
              <a:rPr lang="en-US" altLang="zh-CN" sz="900"/>
              <a:t>pdf = pd.DataFrame(np.random.randn(6, 4), index=dates, columns=list('ABCD'))</a:t>
            </a:r>
            <a:endParaRPr lang="en-US" altLang="zh-CN" sz="900"/>
          </a:p>
          <a:p>
            <a:pPr marL="285750" indent="-285750">
              <a:buFont typeface="Arial" panose="020B0604020202020204" pitchFamily="34" charset="0"/>
              <a:buChar char="•"/>
            </a:pPr>
            <a:r>
              <a:rPr lang="zh-CN" altLang="en-US" sz="900"/>
              <a:t>基于</a:t>
            </a:r>
            <a:r>
              <a:rPr lang="en-US" altLang="zh-CN" sz="900"/>
              <a:t>PDF</a:t>
            </a:r>
            <a:r>
              <a:rPr lang="zh-CN" altLang="en-US" sz="900"/>
              <a:t>构建</a:t>
            </a:r>
            <a:r>
              <a:rPr lang="en-US" altLang="zh-CN" sz="900"/>
              <a:t>Koalas DataFrame</a:t>
            </a:r>
            <a:endParaRPr lang="en-US" altLang="zh-CN" sz="900"/>
          </a:p>
          <a:p>
            <a:r>
              <a:rPr lang="en-US" altLang="zh-CN" sz="900"/>
              <a:t>kdf = ks.from_pandas(pdf);     type(kdf)</a:t>
            </a:r>
            <a:endParaRPr lang="en-US" altLang="zh-CN" sz="900"/>
          </a:p>
          <a:p>
            <a:r>
              <a:rPr lang="zh-CN" altLang="en-US" sz="900"/>
              <a:t>或者基于</a:t>
            </a:r>
            <a:r>
              <a:rPr lang="en-US" altLang="zh-CN" sz="900"/>
              <a:t>SparkSession</a:t>
            </a:r>
            <a:r>
              <a:rPr lang="zh-CN" altLang="en-US" sz="900"/>
              <a:t>构建</a:t>
            </a:r>
            <a:endParaRPr lang="zh-CN" altLang="en-US" sz="900"/>
          </a:p>
          <a:p>
            <a:r>
              <a:rPr lang="zh-CN" altLang="en-US" sz="900"/>
              <a:t>sdf = spark.createDataFrame(pdf)</a:t>
            </a:r>
            <a:r>
              <a:rPr lang="en-US" altLang="zh-CN" sz="900"/>
              <a:t>	# </a:t>
            </a:r>
            <a:r>
              <a:rPr lang="zh-CN" altLang="en-US" sz="900"/>
              <a:t>先转换</a:t>
            </a:r>
            <a:r>
              <a:rPr lang="en-US" altLang="zh-CN" sz="900"/>
              <a:t>PandasDataFrame</a:t>
            </a:r>
            <a:r>
              <a:rPr lang="zh-CN" altLang="en-US" sz="900"/>
              <a:t>成</a:t>
            </a:r>
            <a:r>
              <a:rPr lang="en-US" altLang="zh-CN" sz="900"/>
              <a:t>SparkDataFrame</a:t>
            </a:r>
            <a:endParaRPr lang="zh-CN" altLang="en-US" sz="900"/>
          </a:p>
          <a:p>
            <a:r>
              <a:rPr lang="zh-CN" altLang="en-US" sz="900"/>
              <a:t>kdf = sdf.to_koalas()</a:t>
            </a:r>
            <a:r>
              <a:rPr lang="en-US" altLang="zh-CN" sz="900"/>
              <a:t>	# </a:t>
            </a:r>
            <a:r>
              <a:rPr lang="zh-CN" altLang="en-US" sz="900"/>
              <a:t>转换</a:t>
            </a:r>
            <a:r>
              <a:rPr lang="en-US" altLang="zh-CN" sz="900"/>
              <a:t>SparkDataFrame</a:t>
            </a:r>
            <a:r>
              <a:rPr lang="zh-CN" altLang="en-US" sz="900"/>
              <a:t>到</a:t>
            </a:r>
            <a:r>
              <a:rPr lang="en-US" altLang="zh-CN" sz="900"/>
              <a:t>KoalasDataFrame</a:t>
            </a:r>
            <a:endParaRPr lang="en-US" altLang="zh-CN" sz="900"/>
          </a:p>
          <a:p>
            <a:endParaRPr lang="en-US" altLang="zh-CN" sz="900"/>
          </a:p>
          <a:p>
            <a:r>
              <a:rPr lang="en-US" altLang="zh-CN" sz="900"/>
              <a:t>---------------</a:t>
            </a:r>
            <a:endParaRPr lang="en-US" altLang="zh-CN" sz="900"/>
          </a:p>
          <a:p>
            <a:r>
              <a:rPr lang="zh-CN" altLang="en-US" sz="900"/>
              <a:t>或者直接创建</a:t>
            </a:r>
            <a:r>
              <a:rPr lang="en-US" altLang="zh-CN" sz="900"/>
              <a:t>kdf</a:t>
            </a:r>
            <a:r>
              <a:rPr lang="zh-CN" altLang="en-US" sz="900"/>
              <a:t>也可以</a:t>
            </a:r>
            <a:endParaRPr lang="zh-CN" altLang="en-US" sz="900"/>
          </a:p>
          <a:p>
            <a:r>
              <a:rPr lang="zh-CN" altLang="en-US" sz="900"/>
              <a:t>kdf = ks.DataFrame({'A': ['foo', 'bar', 'foo', 'bar',</a:t>
            </a:r>
            <a:endParaRPr lang="zh-CN" altLang="en-US" sz="900"/>
          </a:p>
          <a:p>
            <a:r>
              <a:rPr lang="zh-CN" altLang="en-US" sz="900"/>
              <a:t>                          'foo', 'bar', 'foo', 'foo'],</a:t>
            </a:r>
            <a:endParaRPr lang="zh-CN" altLang="en-US" sz="900"/>
          </a:p>
          <a:p>
            <a:r>
              <a:rPr lang="zh-CN" altLang="en-US" sz="900"/>
              <a:t>                    'B': ['one', 'one', 'two', 'three',</a:t>
            </a:r>
            <a:endParaRPr lang="zh-CN" altLang="en-US" sz="900"/>
          </a:p>
          <a:p>
            <a:r>
              <a:rPr lang="zh-CN" altLang="en-US" sz="900"/>
              <a:t>                          'two', 'two', 'one', 'three'],</a:t>
            </a:r>
            <a:endParaRPr lang="zh-CN" altLang="en-US" sz="900"/>
          </a:p>
          <a:p>
            <a:r>
              <a:rPr lang="zh-CN" altLang="en-US" sz="900"/>
              <a:t>                    'C': np.random.randn(8),</a:t>
            </a:r>
            <a:endParaRPr lang="zh-CN" altLang="en-US" sz="900"/>
          </a:p>
          <a:p>
            <a:r>
              <a:rPr lang="zh-CN" altLang="en-US" sz="900"/>
              <a:t>                    'D': np.random.randn(8)})</a:t>
            </a:r>
            <a:endParaRPr lang="zh-CN" altLang="en-US" sz="900"/>
          </a:p>
        </p:txBody>
      </p:sp>
      <p:pic>
        <p:nvPicPr>
          <p:cNvPr id="4" name="图片 3"/>
          <p:cNvPicPr>
            <a:picLocks noChangeAspect="1"/>
          </p:cNvPicPr>
          <p:nvPr/>
        </p:nvPicPr>
        <p:blipFill>
          <a:blip r:embed="rId1"/>
          <a:stretch>
            <a:fillRect/>
          </a:stretch>
        </p:blipFill>
        <p:spPr>
          <a:xfrm>
            <a:off x="6530340" y="1802130"/>
            <a:ext cx="4140835" cy="10274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en-US" altLang="zh-CN">
                <a:sym typeface="+mn-ea"/>
              </a:rPr>
              <a:t>2.5 Koalas</a:t>
            </a:r>
            <a:r>
              <a:rPr>
                <a:sym typeface="+mn-ea"/>
              </a:rPr>
              <a:t>入门演示</a:t>
            </a:r>
            <a:r>
              <a:rPr lang="en-US" altLang="zh-CN">
                <a:sym typeface="+mn-ea"/>
              </a:rPr>
              <a:t> - Koalas DataFrame </a:t>
            </a:r>
            <a:r>
              <a:rPr>
                <a:sym typeface="+mn-ea"/>
              </a:rPr>
              <a:t>查看数据</a:t>
            </a:r>
            <a:endParaRPr lang="en-US" altLang="zh-CN">
              <a:sym typeface="+mn-ea"/>
            </a:endParaRPr>
          </a:p>
        </p:txBody>
      </p:sp>
      <p:pic>
        <p:nvPicPr>
          <p:cNvPr id="4" name="图片 3"/>
          <p:cNvPicPr>
            <a:picLocks noChangeAspect="1"/>
          </p:cNvPicPr>
          <p:nvPr/>
        </p:nvPicPr>
        <p:blipFill>
          <a:blip r:embed="rId1"/>
          <a:stretch>
            <a:fillRect/>
          </a:stretch>
        </p:blipFill>
        <p:spPr>
          <a:xfrm>
            <a:off x="710565" y="1656080"/>
            <a:ext cx="1892300" cy="1308100"/>
          </a:xfrm>
          <a:prstGeom prst="rect">
            <a:avLst/>
          </a:prstGeom>
        </p:spPr>
      </p:pic>
      <p:pic>
        <p:nvPicPr>
          <p:cNvPr id="5" name="图片 4"/>
          <p:cNvPicPr>
            <a:picLocks noChangeAspect="1"/>
          </p:cNvPicPr>
          <p:nvPr/>
        </p:nvPicPr>
        <p:blipFill>
          <a:blip r:embed="rId2"/>
          <a:stretch>
            <a:fillRect/>
          </a:stretch>
        </p:blipFill>
        <p:spPr>
          <a:xfrm>
            <a:off x="710565" y="3087370"/>
            <a:ext cx="2857500" cy="1625600"/>
          </a:xfrm>
          <a:prstGeom prst="rect">
            <a:avLst/>
          </a:prstGeom>
        </p:spPr>
      </p:pic>
      <p:pic>
        <p:nvPicPr>
          <p:cNvPr id="6" name="图片 5"/>
          <p:cNvPicPr>
            <a:picLocks noChangeAspect="1"/>
          </p:cNvPicPr>
          <p:nvPr/>
        </p:nvPicPr>
        <p:blipFill>
          <a:blip r:embed="rId3"/>
          <a:stretch>
            <a:fillRect/>
          </a:stretch>
        </p:blipFill>
        <p:spPr>
          <a:xfrm>
            <a:off x="4052570" y="1656080"/>
            <a:ext cx="2482850" cy="3194050"/>
          </a:xfrm>
          <a:prstGeom prst="rect">
            <a:avLst/>
          </a:prstGeom>
        </p:spPr>
      </p:pic>
      <p:pic>
        <p:nvPicPr>
          <p:cNvPr id="7" name="图片 6"/>
          <p:cNvPicPr>
            <a:picLocks noChangeAspect="1"/>
          </p:cNvPicPr>
          <p:nvPr/>
        </p:nvPicPr>
        <p:blipFill>
          <a:blip r:embed="rId4"/>
          <a:stretch>
            <a:fillRect/>
          </a:stretch>
        </p:blipFill>
        <p:spPr>
          <a:xfrm>
            <a:off x="7148830" y="1656080"/>
            <a:ext cx="1701800" cy="31686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en-US" altLang="zh-CN">
                <a:sym typeface="+mn-ea"/>
              </a:rPr>
              <a:t>2.5 Koalas</a:t>
            </a:r>
            <a:r>
              <a:rPr>
                <a:sym typeface="+mn-ea"/>
              </a:rPr>
              <a:t>入门演示</a:t>
            </a:r>
            <a:r>
              <a:rPr lang="en-US" altLang="zh-CN">
                <a:sym typeface="+mn-ea"/>
              </a:rPr>
              <a:t> - Koalas DataFrame </a:t>
            </a:r>
            <a:r>
              <a:rPr>
                <a:sym typeface="+mn-ea"/>
              </a:rPr>
              <a:t>缺失值处理</a:t>
            </a:r>
            <a:endParaRPr>
              <a:sym typeface="+mn-ea"/>
            </a:endParaRPr>
          </a:p>
        </p:txBody>
      </p:sp>
      <p:pic>
        <p:nvPicPr>
          <p:cNvPr id="3" name="图片 2"/>
          <p:cNvPicPr>
            <a:picLocks noChangeAspect="1"/>
          </p:cNvPicPr>
          <p:nvPr/>
        </p:nvPicPr>
        <p:blipFill>
          <a:blip r:embed="rId1"/>
          <a:stretch>
            <a:fillRect/>
          </a:stretch>
        </p:blipFill>
        <p:spPr>
          <a:xfrm>
            <a:off x="758190" y="1550670"/>
            <a:ext cx="5222240" cy="494157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en-US" altLang="zh-CN">
                <a:sym typeface="+mn-ea"/>
              </a:rPr>
              <a:t>2.5 Koalas</a:t>
            </a:r>
            <a:r>
              <a:rPr>
                <a:sym typeface="+mn-ea"/>
              </a:rPr>
              <a:t>入门演示</a:t>
            </a:r>
            <a:r>
              <a:rPr lang="en-US" altLang="zh-CN">
                <a:sym typeface="+mn-ea"/>
              </a:rPr>
              <a:t> - Koalas DataFrame </a:t>
            </a:r>
            <a:r>
              <a:rPr>
                <a:sym typeface="+mn-ea"/>
              </a:rPr>
              <a:t>分组计算</a:t>
            </a:r>
            <a:endParaRPr>
              <a:sym typeface="+mn-ea"/>
            </a:endParaRPr>
          </a:p>
        </p:txBody>
      </p:sp>
      <p:sp>
        <p:nvSpPr>
          <p:cNvPr id="4" name="文本框 3"/>
          <p:cNvSpPr txBox="1"/>
          <p:nvPr/>
        </p:nvSpPr>
        <p:spPr>
          <a:xfrm>
            <a:off x="792480" y="1520190"/>
            <a:ext cx="3885565" cy="1383665"/>
          </a:xfrm>
          <a:prstGeom prst="rect">
            <a:avLst/>
          </a:prstGeom>
          <a:noFill/>
        </p:spPr>
        <p:txBody>
          <a:bodyPr wrap="square" anchor="t">
            <a:spAutoFit/>
          </a:bodyPr>
          <a:p>
            <a:pPr fontAlgn="auto">
              <a:spcBef>
                <a:spcPts val="0"/>
              </a:spcBef>
              <a:spcAft>
                <a:spcPts val="0"/>
              </a:spcAft>
            </a:pPr>
            <a:r>
              <a:rPr lang="zh-CN" altLang="en-US" sz="1400" dirty="0">
                <a:solidFill>
                  <a:schemeClr val="tx1">
                    <a:lumMod val="65000"/>
                    <a:lumOff val="35000"/>
                  </a:schemeClr>
                </a:solidFill>
                <a:latin typeface="+mn-lt"/>
                <a:ea typeface="+mn-ea"/>
              </a:rPr>
              <a:t>kdf</a:t>
            </a:r>
            <a:r>
              <a:rPr lang="en-US" altLang="zh-CN" sz="1400" dirty="0">
                <a:solidFill>
                  <a:schemeClr val="tx1">
                    <a:lumMod val="65000"/>
                    <a:lumOff val="35000"/>
                  </a:schemeClr>
                </a:solidFill>
                <a:latin typeface="+mn-lt"/>
                <a:ea typeface="+mn-ea"/>
              </a:rPr>
              <a:t>3</a:t>
            </a:r>
            <a:r>
              <a:rPr lang="zh-CN" altLang="en-US" sz="1400" dirty="0">
                <a:solidFill>
                  <a:schemeClr val="tx1">
                    <a:lumMod val="65000"/>
                    <a:lumOff val="35000"/>
                  </a:schemeClr>
                </a:solidFill>
                <a:latin typeface="+mn-lt"/>
                <a:ea typeface="+mn-ea"/>
              </a:rPr>
              <a:t> = ks.DataFrame({'A': ['foo', 'bar', 'foo', 'bar',</a:t>
            </a:r>
            <a:endParaRPr lang="zh-CN" altLang="en-US" sz="1400" dirty="0">
              <a:solidFill>
                <a:schemeClr val="tx1">
                  <a:lumMod val="65000"/>
                  <a:lumOff val="35000"/>
                </a:schemeClr>
              </a:solidFill>
              <a:latin typeface="+mn-lt"/>
              <a:ea typeface="+mn-ea"/>
            </a:endParaRPr>
          </a:p>
          <a:p>
            <a:pPr fontAlgn="auto">
              <a:spcBef>
                <a:spcPts val="0"/>
              </a:spcBef>
              <a:spcAft>
                <a:spcPts val="0"/>
              </a:spcAft>
            </a:pPr>
            <a:r>
              <a:rPr lang="zh-CN" altLang="en-US" sz="1400" dirty="0">
                <a:solidFill>
                  <a:schemeClr val="tx1">
                    <a:lumMod val="65000"/>
                    <a:lumOff val="35000"/>
                  </a:schemeClr>
                </a:solidFill>
                <a:latin typeface="+mn-lt"/>
                <a:ea typeface="+mn-ea"/>
              </a:rPr>
              <a:t>                          'foo', 'bar', 'foo', 'foo'],</a:t>
            </a:r>
            <a:endParaRPr lang="zh-CN" altLang="en-US" sz="1400" dirty="0">
              <a:solidFill>
                <a:schemeClr val="tx1">
                  <a:lumMod val="65000"/>
                  <a:lumOff val="35000"/>
                </a:schemeClr>
              </a:solidFill>
              <a:latin typeface="+mn-lt"/>
              <a:ea typeface="+mn-ea"/>
            </a:endParaRPr>
          </a:p>
          <a:p>
            <a:pPr fontAlgn="auto">
              <a:spcBef>
                <a:spcPts val="0"/>
              </a:spcBef>
              <a:spcAft>
                <a:spcPts val="0"/>
              </a:spcAft>
            </a:pPr>
            <a:r>
              <a:rPr lang="zh-CN" altLang="en-US" sz="1400" dirty="0">
                <a:solidFill>
                  <a:schemeClr val="tx1">
                    <a:lumMod val="65000"/>
                    <a:lumOff val="35000"/>
                  </a:schemeClr>
                </a:solidFill>
                <a:latin typeface="+mn-lt"/>
                <a:ea typeface="+mn-ea"/>
              </a:rPr>
              <a:t>                    'B': ['one', 'one', 'two', 'three',</a:t>
            </a:r>
            <a:endParaRPr lang="zh-CN" altLang="en-US" sz="1400" dirty="0">
              <a:solidFill>
                <a:schemeClr val="tx1">
                  <a:lumMod val="65000"/>
                  <a:lumOff val="35000"/>
                </a:schemeClr>
              </a:solidFill>
              <a:latin typeface="+mn-lt"/>
              <a:ea typeface="+mn-ea"/>
            </a:endParaRPr>
          </a:p>
          <a:p>
            <a:pPr fontAlgn="auto">
              <a:spcBef>
                <a:spcPts val="0"/>
              </a:spcBef>
              <a:spcAft>
                <a:spcPts val="0"/>
              </a:spcAft>
            </a:pPr>
            <a:r>
              <a:rPr lang="zh-CN" altLang="en-US" sz="1400" dirty="0">
                <a:solidFill>
                  <a:schemeClr val="tx1">
                    <a:lumMod val="65000"/>
                    <a:lumOff val="35000"/>
                  </a:schemeClr>
                </a:solidFill>
                <a:latin typeface="+mn-lt"/>
                <a:ea typeface="+mn-ea"/>
              </a:rPr>
              <a:t>                          'two', 'two', 'one', 'three'],</a:t>
            </a:r>
            <a:endParaRPr lang="zh-CN" altLang="en-US" sz="1400" dirty="0">
              <a:solidFill>
                <a:schemeClr val="tx1">
                  <a:lumMod val="65000"/>
                  <a:lumOff val="35000"/>
                </a:schemeClr>
              </a:solidFill>
              <a:latin typeface="+mn-lt"/>
              <a:ea typeface="+mn-ea"/>
            </a:endParaRPr>
          </a:p>
          <a:p>
            <a:pPr fontAlgn="auto">
              <a:spcBef>
                <a:spcPts val="0"/>
              </a:spcBef>
              <a:spcAft>
                <a:spcPts val="0"/>
              </a:spcAft>
            </a:pPr>
            <a:r>
              <a:rPr lang="zh-CN" altLang="en-US" sz="1400" dirty="0">
                <a:solidFill>
                  <a:schemeClr val="tx1">
                    <a:lumMod val="65000"/>
                    <a:lumOff val="35000"/>
                  </a:schemeClr>
                </a:solidFill>
                <a:latin typeface="+mn-lt"/>
                <a:ea typeface="+mn-ea"/>
              </a:rPr>
              <a:t>                    'C': np.random.randn(8),</a:t>
            </a:r>
            <a:endParaRPr lang="zh-CN" altLang="en-US" sz="1400" dirty="0">
              <a:solidFill>
                <a:schemeClr val="tx1">
                  <a:lumMod val="65000"/>
                  <a:lumOff val="35000"/>
                </a:schemeClr>
              </a:solidFill>
              <a:latin typeface="+mn-lt"/>
              <a:ea typeface="+mn-ea"/>
            </a:endParaRPr>
          </a:p>
          <a:p>
            <a:pPr fontAlgn="auto">
              <a:spcBef>
                <a:spcPts val="0"/>
              </a:spcBef>
              <a:spcAft>
                <a:spcPts val="0"/>
              </a:spcAft>
            </a:pPr>
            <a:r>
              <a:rPr lang="zh-CN" altLang="en-US" sz="1400" dirty="0">
                <a:solidFill>
                  <a:schemeClr val="tx1">
                    <a:lumMod val="65000"/>
                    <a:lumOff val="35000"/>
                  </a:schemeClr>
                </a:solidFill>
                <a:latin typeface="+mn-lt"/>
                <a:ea typeface="+mn-ea"/>
              </a:rPr>
              <a:t>                    'D': np.random.randn(8)})</a:t>
            </a:r>
            <a:endParaRPr lang="zh-CN" altLang="en-US" sz="1400" dirty="0">
              <a:solidFill>
                <a:schemeClr val="tx1">
                  <a:lumMod val="65000"/>
                  <a:lumOff val="35000"/>
                </a:schemeClr>
              </a:solidFill>
              <a:latin typeface="+mn-lt"/>
              <a:ea typeface="+mn-ea"/>
            </a:endParaRPr>
          </a:p>
        </p:txBody>
      </p:sp>
      <p:pic>
        <p:nvPicPr>
          <p:cNvPr id="5" name="图片 4"/>
          <p:cNvPicPr>
            <a:picLocks noChangeAspect="1"/>
          </p:cNvPicPr>
          <p:nvPr/>
        </p:nvPicPr>
        <p:blipFill>
          <a:blip r:embed="rId1"/>
          <a:stretch>
            <a:fillRect/>
          </a:stretch>
        </p:blipFill>
        <p:spPr>
          <a:xfrm>
            <a:off x="912495" y="3108325"/>
            <a:ext cx="2501900" cy="1781810"/>
          </a:xfrm>
          <a:prstGeom prst="rect">
            <a:avLst/>
          </a:prstGeom>
        </p:spPr>
      </p:pic>
      <p:pic>
        <p:nvPicPr>
          <p:cNvPr id="6" name="图片 5"/>
          <p:cNvPicPr>
            <a:picLocks noChangeAspect="1"/>
          </p:cNvPicPr>
          <p:nvPr/>
        </p:nvPicPr>
        <p:blipFill>
          <a:blip r:embed="rId2"/>
          <a:stretch>
            <a:fillRect/>
          </a:stretch>
        </p:blipFill>
        <p:spPr>
          <a:xfrm>
            <a:off x="5434330" y="3108325"/>
            <a:ext cx="2228850" cy="241998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en-US" altLang="zh-CN">
                <a:sym typeface="+mn-ea"/>
              </a:rPr>
              <a:t>2.5 Koalas</a:t>
            </a:r>
            <a:r>
              <a:rPr>
                <a:sym typeface="+mn-ea"/>
              </a:rPr>
              <a:t>入门演示</a:t>
            </a:r>
            <a:r>
              <a:rPr lang="en-US" altLang="zh-CN">
                <a:sym typeface="+mn-ea"/>
              </a:rPr>
              <a:t> - Koalas DataFrame </a:t>
            </a:r>
            <a:r>
              <a:rPr>
                <a:sym typeface="+mn-ea"/>
              </a:rPr>
              <a:t>数据导入导出</a:t>
            </a:r>
            <a:endParaRPr>
              <a:sym typeface="+mn-ea"/>
            </a:endParaRPr>
          </a:p>
        </p:txBody>
      </p:sp>
      <p:pic>
        <p:nvPicPr>
          <p:cNvPr id="3" name="图片 2"/>
          <p:cNvPicPr>
            <a:picLocks noChangeAspect="1"/>
          </p:cNvPicPr>
          <p:nvPr/>
        </p:nvPicPr>
        <p:blipFill>
          <a:blip r:embed="rId1"/>
          <a:stretch>
            <a:fillRect/>
          </a:stretch>
        </p:blipFill>
        <p:spPr>
          <a:xfrm>
            <a:off x="710565" y="1457325"/>
            <a:ext cx="3740150" cy="2882900"/>
          </a:xfrm>
          <a:prstGeom prst="rect">
            <a:avLst/>
          </a:prstGeom>
        </p:spPr>
      </p:pic>
      <p:pic>
        <p:nvPicPr>
          <p:cNvPr id="7" name="图片 6"/>
          <p:cNvPicPr>
            <a:picLocks noChangeAspect="1"/>
          </p:cNvPicPr>
          <p:nvPr/>
        </p:nvPicPr>
        <p:blipFill>
          <a:blip r:embed="rId2"/>
          <a:stretch>
            <a:fillRect/>
          </a:stretch>
        </p:blipFill>
        <p:spPr>
          <a:xfrm>
            <a:off x="5362575" y="1457325"/>
            <a:ext cx="4857750" cy="3035300"/>
          </a:xfrm>
          <a:prstGeom prst="rect">
            <a:avLst/>
          </a:prstGeom>
        </p:spPr>
      </p:pic>
      <p:pic>
        <p:nvPicPr>
          <p:cNvPr id="8" name="图片 7"/>
          <p:cNvPicPr>
            <a:picLocks noChangeAspect="1"/>
          </p:cNvPicPr>
          <p:nvPr/>
        </p:nvPicPr>
        <p:blipFill>
          <a:blip r:embed="rId3"/>
          <a:stretch>
            <a:fillRect/>
          </a:stretch>
        </p:blipFill>
        <p:spPr>
          <a:xfrm>
            <a:off x="5454650" y="3562350"/>
            <a:ext cx="4845050" cy="29781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sym typeface="+mn-ea"/>
              </a:rPr>
              <a:t>AQE的开启通过: spark.sql.adaptive.enabled 设置为true开启</a:t>
            </a:r>
            <a:r>
              <a:rPr lang="en-US" altLang="zh-CN">
                <a:sym typeface="+mn-ea"/>
              </a:rPr>
              <a:t>,</a:t>
            </a:r>
            <a:r>
              <a:rPr lang="zh-CN" altLang="en-US">
                <a:sym typeface="+mn-ea"/>
              </a:rPr>
              <a:t>触发后极大提升</a:t>
            </a:r>
            <a:r>
              <a:rPr lang="en-US" altLang="zh-CN">
                <a:sym typeface="+mn-ea"/>
              </a:rPr>
              <a:t>SparkSQL</a:t>
            </a:r>
            <a:r>
              <a:rPr lang="zh-CN" altLang="en-US">
                <a:sym typeface="+mn-ea"/>
              </a:rPr>
              <a:t>计算性能</a:t>
            </a:r>
            <a:endParaRPr lang="zh-CN" altLang="en-US">
              <a:sym typeface="+mn-ea"/>
            </a:endParaRPr>
          </a:p>
          <a:p>
            <a:r>
              <a:rPr lang="zh-CN" altLang="en-US">
                <a:sym typeface="+mn-ea"/>
              </a:rPr>
              <a:t>动态分区裁剪可以让我们更好的优化运行时分区内数据的量级</a:t>
            </a:r>
            <a:r>
              <a:rPr lang="en-US" altLang="zh-CN">
                <a:sym typeface="+mn-ea"/>
              </a:rPr>
              <a:t>. </a:t>
            </a:r>
            <a:r>
              <a:rPr lang="zh-CN" altLang="en-US">
                <a:sym typeface="+mn-ea"/>
              </a:rPr>
              <a:t>通过动态的谓词下推来获取传统静态谓词下推无法获得的更高过滤属性</a:t>
            </a:r>
            <a:r>
              <a:rPr lang="en-US" altLang="zh-CN">
                <a:sym typeface="+mn-ea"/>
              </a:rPr>
              <a:t>, </a:t>
            </a:r>
            <a:r>
              <a:rPr lang="zh-CN" altLang="en-US">
                <a:sym typeface="+mn-ea"/>
              </a:rPr>
              <a:t>减少操作的分区数据量以提高性能</a:t>
            </a:r>
            <a:r>
              <a:rPr lang="en-US" altLang="zh-CN">
                <a:sym typeface="+mn-ea"/>
              </a:rPr>
              <a:t>.</a:t>
            </a:r>
            <a:endParaRPr lang="en-US" altLang="zh-CN">
              <a:sym typeface="+mn-ea"/>
            </a:endParaRPr>
          </a:p>
          <a:p>
            <a:r>
              <a:rPr lang="zh-CN" altLang="en-US">
                <a:sym typeface="+mn-ea"/>
              </a:rPr>
              <a:t>新版</a:t>
            </a:r>
            <a:r>
              <a:rPr lang="en-US" altLang="zh-CN">
                <a:sym typeface="+mn-ea"/>
              </a:rPr>
              <a:t>Koalas</a:t>
            </a:r>
            <a:r>
              <a:rPr lang="zh-CN" altLang="en-US">
                <a:sym typeface="+mn-ea"/>
              </a:rPr>
              <a:t>类库可以让我们写</a:t>
            </a:r>
            <a:r>
              <a:rPr lang="en-US" altLang="zh-CN">
                <a:sym typeface="+mn-ea"/>
              </a:rPr>
              <a:t>Pandas API(Koalas</a:t>
            </a:r>
            <a:r>
              <a:rPr lang="zh-CN" altLang="en-US">
                <a:sym typeface="+mn-ea"/>
              </a:rPr>
              <a:t>提供</a:t>
            </a:r>
            <a:r>
              <a:rPr lang="en-US" altLang="zh-CN">
                <a:sym typeface="+mn-ea"/>
              </a:rPr>
              <a:t>)</a:t>
            </a:r>
            <a:r>
              <a:rPr lang="zh-CN" altLang="en-US">
                <a:sym typeface="+mn-ea"/>
              </a:rPr>
              <a:t>然后将它们运行在分布式的</a:t>
            </a:r>
            <a:r>
              <a:rPr lang="en-US" altLang="zh-CN">
                <a:sym typeface="+mn-ea"/>
              </a:rPr>
              <a:t>Spark</a:t>
            </a:r>
            <a:r>
              <a:rPr lang="zh-CN" altLang="en-US">
                <a:sym typeface="+mn-ea"/>
              </a:rPr>
              <a:t>环境上</a:t>
            </a:r>
            <a:r>
              <a:rPr lang="en-US" altLang="zh-CN">
                <a:sym typeface="+mn-ea"/>
              </a:rPr>
              <a:t>, Pandas</a:t>
            </a:r>
            <a:r>
              <a:rPr lang="zh-CN" altLang="en-US">
                <a:sym typeface="+mn-ea"/>
              </a:rPr>
              <a:t>开发者也能快速上手</a:t>
            </a:r>
            <a:r>
              <a:rPr lang="en-US" altLang="zh-CN">
                <a:sym typeface="+mn-ea"/>
              </a:rPr>
              <a:t>Spark</a:t>
            </a:r>
            <a:endParaRPr lang="en-US" altLang="zh-CN">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nvSpPr>
        <p:spPr>
          <a:xfrm>
            <a:off x="5096462" y="2768759"/>
            <a:ext cx="6725920" cy="548322"/>
          </a:xfrm>
          <a:prstGeom prst="rect">
            <a:avLst/>
          </a:prstGeom>
        </p:spPr>
        <p:txBody>
          <a:bodyPr anchor="t">
            <a:normAutofit fontScale="90000"/>
          </a:bodyPr>
          <a:lstStyle>
            <a:lvl1pPr algn="l" defTabSz="914400" rtl="0" eaLnBrk="1" latinLnBrk="0" hangingPunct="1">
              <a:lnSpc>
                <a:spcPct val="90000"/>
              </a:lnSpc>
              <a:spcBef>
                <a:spcPct val="0"/>
              </a:spcBef>
              <a:buNone/>
              <a:defRPr sz="3600" b="0" i="0" kern="1200">
                <a:solidFill>
                  <a:schemeClr val="tx1">
                    <a:lumMod val="85000"/>
                    <a:lumOff val="15000"/>
                  </a:schemeClr>
                </a:solidFill>
                <a:latin typeface="Sitka Heading" charset="0"/>
                <a:ea typeface="Sitka Heading" charset="0"/>
                <a:cs typeface="Sitka Heading" charset="0"/>
              </a:defRPr>
            </a:lvl1pPr>
          </a:lstStyle>
          <a:p>
            <a:pPr algn="l">
              <a:buClrTx/>
              <a:buSzTx/>
              <a:buFontTx/>
            </a:pPr>
            <a:r>
              <a:rPr lang="zh-CN" dirty="0" smtClean="0">
                <a:latin typeface="Alibaba PuHuiTi B" pitchFamily="18" charset="-122"/>
                <a:ea typeface="Alibaba PuHuiTi B" pitchFamily="18" charset="-122"/>
                <a:cs typeface="Alibaba PuHuiTi B" pitchFamily="18" charset="-122"/>
              </a:rPr>
              <a:t>概念回顾总结</a:t>
            </a:r>
            <a:endParaRPr lang="zh-CN" dirty="0" smtClean="0">
              <a:latin typeface="Alibaba PuHuiTi B" pitchFamily="18" charset="-122"/>
              <a:ea typeface="Alibaba PuHuiTi B" pitchFamily="18" charset="-122"/>
              <a:cs typeface="Alibaba PuHuiTi B" pitchFamily="18" charset="-122"/>
            </a:endParaRPr>
          </a:p>
        </p:txBody>
      </p:sp>
      <p:sp>
        <p:nvSpPr>
          <p:cNvPr id="5" name="文本占位符 4"/>
          <p:cNvSpPr>
            <a:spLocks noGrp="1"/>
          </p:cNvSpPr>
          <p:nvPr/>
        </p:nvSpPr>
        <p:spPr>
          <a:xfrm>
            <a:off x="3881755" y="2468880"/>
            <a:ext cx="1127125" cy="1148080"/>
          </a:xfrm>
          <a:prstGeom prst="rect">
            <a:avLst/>
          </a:prstGeom>
        </p:spPr>
        <p:txBody>
          <a:bodyPr anchor="ctr"/>
          <a:lstStyle>
            <a:lvl1pPr marL="228600" indent="-228600" algn="ctr" defTabSz="914400" rtl="0" eaLnBrk="1" latinLnBrk="0" hangingPunct="1">
              <a:lnSpc>
                <a:spcPct val="90000"/>
              </a:lnSpc>
              <a:spcBef>
                <a:spcPts val="1000"/>
              </a:spcBef>
              <a:buFont typeface="Arial" panose="020B0604020202020204" pitchFamily="34" charset="0"/>
              <a:buNone/>
              <a:defRPr sz="4000" b="1" i="0" kern="1200">
                <a:solidFill>
                  <a:srgbClr val="FFFFFF"/>
                </a:solidFill>
                <a:latin typeface="Sitka Heading" charset="0"/>
                <a:ea typeface="Sitka Heading" charset="0"/>
                <a:cs typeface="Sitka Heading" charset="0"/>
              </a:defRPr>
            </a:lvl1pPr>
            <a:lvl2pPr marL="6858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smtClean="0">
                <a:latin typeface="Alibaba PuHuiTi B" pitchFamily="18" charset="-122"/>
                <a:ea typeface="Alibaba PuHuiTi B" pitchFamily="18" charset="-122"/>
                <a:cs typeface="Alibaba PuHuiTi B" pitchFamily="18" charset="-122"/>
              </a:rPr>
              <a:t>第三章</a:t>
            </a:r>
            <a:endParaRPr lang="zh-CN" altLang="en-US" sz="2400" dirty="0" smtClean="0">
              <a:latin typeface="Alibaba PuHuiTi B" pitchFamily="18" charset="-122"/>
              <a:ea typeface="Alibaba PuHuiTi B" pitchFamily="18" charset="-122"/>
              <a:cs typeface="Alibaba PuHuiTi B" pitchFamily="18"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en-US" altLang="zh-CN"/>
              <a:t>3 </a:t>
            </a:r>
            <a:r>
              <a:t>课程</a:t>
            </a:r>
            <a:r>
              <a:rPr lang="zh-CN" altLang="en-US"/>
              <a:t>概念大总结</a:t>
            </a:r>
            <a:endParaRPr lang="zh-CN" altLang="en-US"/>
          </a:p>
        </p:txBody>
      </p:sp>
      <p:pic>
        <p:nvPicPr>
          <p:cNvPr id="4" name="图片 3" descr="Spark核心概念"/>
          <p:cNvPicPr>
            <a:picLocks noChangeAspect="1"/>
          </p:cNvPicPr>
          <p:nvPr/>
        </p:nvPicPr>
        <p:blipFill>
          <a:blip r:embed="rId1"/>
          <a:stretch>
            <a:fillRect/>
          </a:stretch>
        </p:blipFill>
        <p:spPr>
          <a:xfrm>
            <a:off x="2661920" y="1009650"/>
            <a:ext cx="1823720" cy="5671820"/>
          </a:xfrm>
          <a:prstGeom prst="rect">
            <a:avLst/>
          </a:prstGeom>
        </p:spPr>
      </p:pic>
    </p:spTree>
  </p:cSld>
  <p:clrMapOvr>
    <a:masterClrMapping/>
  </p:clrMapOvr>
</p:sld>
</file>

<file path=ppt/tags/tag1.xml><?xml version="1.0" encoding="utf-8"?>
<p:tagLst xmlns:p="http://schemas.openxmlformats.org/presentationml/2006/main">
  <p:tag name="KSO_WM_UNIT_PLACING_PICTURE_USER_VIEWPORT" val="{&quot;height&quot;:4199,&quot;width&quot;:8300}"/>
</p:tagLst>
</file>

<file path=ppt/theme/theme1.xml><?xml version="1.0" encoding="utf-8"?>
<a:theme xmlns:a="http://schemas.openxmlformats.org/drawingml/2006/main" name="19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4603</Words>
  <Application>WPS 演示</Application>
  <PresentationFormat>宽屏</PresentationFormat>
  <Paragraphs>188</Paragraphs>
  <Slides>27</Slides>
  <Notes>0</Notes>
  <HiddenSlides>0</HiddenSlides>
  <MMClips>0</MMClips>
  <ScaleCrop>false</ScaleCrop>
  <HeadingPairs>
    <vt:vector size="6" baseType="variant">
      <vt:variant>
        <vt:lpstr>已用的字体</vt:lpstr>
      </vt:variant>
      <vt:variant>
        <vt:i4>18</vt:i4>
      </vt:variant>
      <vt:variant>
        <vt:lpstr>主题</vt:lpstr>
      </vt:variant>
      <vt:variant>
        <vt:i4>3</vt:i4>
      </vt:variant>
      <vt:variant>
        <vt:lpstr>幻灯片标题</vt:lpstr>
      </vt:variant>
      <vt:variant>
        <vt:i4>27</vt:i4>
      </vt:variant>
    </vt:vector>
  </HeadingPairs>
  <TitlesOfParts>
    <vt:vector size="48" baseType="lpstr">
      <vt:lpstr>Arial</vt:lpstr>
      <vt:lpstr>宋体</vt:lpstr>
      <vt:lpstr>Wingdings</vt:lpstr>
      <vt:lpstr>华文楷体</vt:lpstr>
      <vt:lpstr>阿里巴巴普惠体</vt:lpstr>
      <vt:lpstr>Calibri</vt:lpstr>
      <vt:lpstr>Segoe UI</vt:lpstr>
      <vt:lpstr>微软雅黑</vt:lpstr>
      <vt:lpstr>黑体</vt:lpstr>
      <vt:lpstr>Alibaba PuHuiTi R</vt:lpstr>
      <vt:lpstr>Alibaba PuHuiTi M</vt:lpstr>
      <vt:lpstr>Sitka Heading</vt:lpstr>
      <vt:lpstr>Segoe UI Light</vt:lpstr>
      <vt:lpstr>微软雅黑 Light</vt:lpstr>
      <vt:lpstr>Alibaba PuHuiTi B</vt:lpstr>
      <vt:lpstr>Times New Roman</vt:lpstr>
      <vt:lpstr>Arial Unicode MS</vt:lpstr>
      <vt:lpstr>等线</vt:lpstr>
      <vt:lpstr>19_正文设计方案</vt:lpstr>
      <vt:lpstr>封面2</vt:lpstr>
      <vt:lpstr>章节页版式（一级+二级标题）</vt:lpstr>
      <vt:lpstr>Spark新特性+核心回顾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曹宇[囧]</cp:lastModifiedBy>
  <cp:revision>170</cp:revision>
  <dcterms:created xsi:type="dcterms:W3CDTF">2021-11-11T06:32:00Z</dcterms:created>
  <dcterms:modified xsi:type="dcterms:W3CDTF">2021-11-22T13:34:48Z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5DAA3807968947108F0982E3C79ACC40</vt:lpwstr>
  </property>
  <property fmtid="{D5CDD505-2E9C-101B-9397-08002B2CF9AE}" pid="3" name="KSOProductBuildVer">
    <vt:lpwstr>2052-11.1.0.11045</vt:lpwstr>
  </property>
</Properties>
</file>