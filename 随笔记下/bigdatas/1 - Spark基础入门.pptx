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6" r:id="rId5"/>
    <p:sldMasterId id="2147483668" r:id="rId6"/>
    <p:sldMasterId id="2147483680" r:id="rId7"/>
    <p:sldMasterId id="2147483692" r:id="rId8"/>
    <p:sldMasterId id="2147483704" r:id="rId9"/>
    <p:sldMasterId id="2147483716" r:id="rId10"/>
    <p:sldMasterId id="2147483718" r:id="rId11"/>
    <p:sldMasterId id="2147483723" r:id="rId12"/>
    <p:sldMasterId id="2147483725" r:id="rId13"/>
    <p:sldMasterId id="2147483742" r:id="rId14"/>
    <p:sldMasterId id="2147483749" r:id="rId15"/>
    <p:sldMasterId id="2147483751" r:id="rId16"/>
    <p:sldMasterId id="2147483753" r:id="rId17"/>
    <p:sldMasterId id="2147483768" r:id="rId18"/>
    <p:sldMasterId id="2147483783" r:id="rId19"/>
    <p:sldMasterId id="2147483798" r:id="rId20"/>
    <p:sldMasterId id="2147483813" r:id="rId21"/>
    <p:sldMasterId id="2147483828" r:id="rId22"/>
    <p:sldMasterId id="2147483843" r:id="rId23"/>
    <p:sldMasterId id="2147483858" r:id="rId24"/>
    <p:sldMasterId id="2147483873" r:id="rId25"/>
    <p:sldMasterId id="2147483888" r:id="rId26"/>
    <p:sldMasterId id="2147483903" r:id="rId27"/>
    <p:sldMasterId id="2147483918" r:id="rId28"/>
    <p:sldMasterId id="2147483933" r:id="rId29"/>
    <p:sldMasterId id="2147483948" r:id="rId30"/>
    <p:sldMasterId id="2147483963" r:id="rId31"/>
    <p:sldMasterId id="2147483978" r:id="rId32"/>
    <p:sldMasterId id="2147483993" r:id="rId33"/>
    <p:sldMasterId id="2147484008" r:id="rId34"/>
    <p:sldMasterId id="2147484013" r:id="rId35"/>
    <p:sldMasterId id="2147484016" r:id="rId36"/>
  </p:sldMasterIdLst>
  <p:notesMasterIdLst>
    <p:notesMasterId r:id="rId44"/>
  </p:notesMasterIdLst>
  <p:handoutMasterIdLst>
    <p:handoutMasterId r:id="rId165"/>
  </p:handoutMasterIdLst>
  <p:sldIdLst>
    <p:sldId id="462" r:id="rId37"/>
    <p:sldId id="1950" r:id="rId38"/>
    <p:sldId id="2462" r:id="rId39"/>
    <p:sldId id="1951" r:id="rId40"/>
    <p:sldId id="464" r:id="rId41"/>
    <p:sldId id="1949" r:id="rId42"/>
    <p:sldId id="1651" r:id="rId43"/>
    <p:sldId id="1668" r:id="rId45"/>
    <p:sldId id="1672" r:id="rId46"/>
    <p:sldId id="1673" r:id="rId47"/>
    <p:sldId id="1674" r:id="rId48"/>
    <p:sldId id="1669" r:id="rId49"/>
    <p:sldId id="1670" r:id="rId50"/>
    <p:sldId id="1671" r:id="rId51"/>
    <p:sldId id="1675" r:id="rId52"/>
    <p:sldId id="1676" r:id="rId53"/>
    <p:sldId id="1677" r:id="rId54"/>
    <p:sldId id="1678" r:id="rId55"/>
    <p:sldId id="1679" r:id="rId56"/>
    <p:sldId id="1680" r:id="rId57"/>
    <p:sldId id="1681" r:id="rId58"/>
    <p:sldId id="1682" r:id="rId59"/>
    <p:sldId id="2045" r:id="rId60"/>
    <p:sldId id="2046" r:id="rId61"/>
    <p:sldId id="2047" r:id="rId62"/>
    <p:sldId id="2049" r:id="rId63"/>
    <p:sldId id="1877" r:id="rId64"/>
    <p:sldId id="2048" r:id="rId65"/>
    <p:sldId id="1652" r:id="rId66"/>
    <p:sldId id="1686" r:id="rId67"/>
    <p:sldId id="2587" r:id="rId68"/>
    <p:sldId id="1692" r:id="rId69"/>
    <p:sldId id="2050" r:id="rId70"/>
    <p:sldId id="1698" r:id="rId71"/>
    <p:sldId id="2051" r:id="rId72"/>
    <p:sldId id="2053" r:id="rId73"/>
    <p:sldId id="1700" r:id="rId74"/>
    <p:sldId id="2052" r:id="rId75"/>
    <p:sldId id="1878" r:id="rId76"/>
    <p:sldId id="1654" r:id="rId77"/>
    <p:sldId id="1725" r:id="rId78"/>
    <p:sldId id="1726" r:id="rId79"/>
    <p:sldId id="1733" r:id="rId80"/>
    <p:sldId id="1740" r:id="rId81"/>
    <p:sldId id="1731" r:id="rId82"/>
    <p:sldId id="2210" r:id="rId83"/>
    <p:sldId id="1741" r:id="rId84"/>
    <p:sldId id="2211" r:id="rId85"/>
    <p:sldId id="2212" r:id="rId86"/>
    <p:sldId id="1745" r:id="rId87"/>
    <p:sldId id="1732" r:id="rId88"/>
    <p:sldId id="1746" r:id="rId89"/>
    <p:sldId id="1747" r:id="rId90"/>
    <p:sldId id="1748" r:id="rId91"/>
    <p:sldId id="1749" r:id="rId92"/>
    <p:sldId id="2214" r:id="rId93"/>
    <p:sldId id="1750" r:id="rId94"/>
    <p:sldId id="1751" r:id="rId95"/>
    <p:sldId id="1752" r:id="rId96"/>
    <p:sldId id="1880" r:id="rId97"/>
    <p:sldId id="2330" r:id="rId98"/>
    <p:sldId id="1656" r:id="rId99"/>
    <p:sldId id="1753" r:id="rId100"/>
    <p:sldId id="1759" r:id="rId101"/>
    <p:sldId id="2331" r:id="rId102"/>
    <p:sldId id="1755" r:id="rId103"/>
    <p:sldId id="1760" r:id="rId104"/>
    <p:sldId id="1757" r:id="rId105"/>
    <p:sldId id="1758" r:id="rId106"/>
    <p:sldId id="1881" r:id="rId107"/>
    <p:sldId id="2081" r:id="rId108"/>
    <p:sldId id="2082" r:id="rId109"/>
    <p:sldId id="2083" r:id="rId110"/>
    <p:sldId id="2084" r:id="rId111"/>
    <p:sldId id="2085" r:id="rId112"/>
    <p:sldId id="2086" r:id="rId113"/>
    <p:sldId id="2087" r:id="rId114"/>
    <p:sldId id="2332" r:id="rId115"/>
    <p:sldId id="2333" r:id="rId116"/>
    <p:sldId id="2089" r:id="rId117"/>
    <p:sldId id="2092" r:id="rId118"/>
    <p:sldId id="2102" r:id="rId119"/>
    <p:sldId id="2103" r:id="rId120"/>
    <p:sldId id="2104" r:id="rId121"/>
    <p:sldId id="2105" r:id="rId122"/>
    <p:sldId id="2106" r:id="rId123"/>
    <p:sldId id="2107" r:id="rId124"/>
    <p:sldId id="1653" r:id="rId125"/>
    <p:sldId id="1701" r:id="rId126"/>
    <p:sldId id="2334" r:id="rId127"/>
    <p:sldId id="1708" r:id="rId128"/>
    <p:sldId id="2335" r:id="rId129"/>
    <p:sldId id="1703" r:id="rId130"/>
    <p:sldId id="1879" r:id="rId131"/>
    <p:sldId id="1657" r:id="rId132"/>
    <p:sldId id="1764" r:id="rId133"/>
    <p:sldId id="2337" r:id="rId134"/>
    <p:sldId id="2338" r:id="rId135"/>
    <p:sldId id="1886" r:id="rId136"/>
    <p:sldId id="2339" r:id="rId137"/>
    <p:sldId id="2340" r:id="rId138"/>
    <p:sldId id="1887" r:id="rId139"/>
    <p:sldId id="1888" r:id="rId140"/>
    <p:sldId id="1889" r:id="rId141"/>
    <p:sldId id="1777" r:id="rId142"/>
    <p:sldId id="1786" r:id="rId143"/>
    <p:sldId id="1778" r:id="rId144"/>
    <p:sldId id="1787" r:id="rId145"/>
    <p:sldId id="1779" r:id="rId146"/>
    <p:sldId id="1780" r:id="rId147"/>
    <p:sldId id="1788" r:id="rId148"/>
    <p:sldId id="1782" r:id="rId149"/>
    <p:sldId id="1791" r:id="rId150"/>
    <p:sldId id="1882" r:id="rId151"/>
    <p:sldId id="2176" r:id="rId152"/>
    <p:sldId id="2177" r:id="rId153"/>
    <p:sldId id="2178" r:id="rId154"/>
    <p:sldId id="2188" r:id="rId155"/>
    <p:sldId id="2189" r:id="rId156"/>
    <p:sldId id="2190" r:id="rId157"/>
    <p:sldId id="2191" r:id="rId158"/>
    <p:sldId id="2341" r:id="rId159"/>
    <p:sldId id="2342" r:id="rId160"/>
    <p:sldId id="2343" r:id="rId161"/>
    <p:sldId id="2195" r:id="rId162"/>
    <p:sldId id="574" r:id="rId163"/>
    <p:sldId id="264" r:id="rId1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目录" id="{A4D36DE4-A418-436B-A9CF-1A806536A192}">
          <p14:sldIdLst>
            <p14:sldId id="462"/>
            <p14:sldId id="2462"/>
            <p14:sldId id="1951"/>
            <p14:sldId id="464"/>
            <p14:sldId id="1949"/>
            <p14:sldId id="1950"/>
          </p14:sldIdLst>
        </p14:section>
        <p14:section name="第一章 Spark框架概述" id="{C9ADA4FA-B88F-41E6-9918-C97E4443853C}">
          <p14:sldIdLst>
            <p14:sldId id="1651"/>
            <p14:sldId id="1668"/>
            <p14:sldId id="1672"/>
            <p14:sldId id="1673"/>
            <p14:sldId id="1674"/>
            <p14:sldId id="1669"/>
            <p14:sldId id="1670"/>
            <p14:sldId id="1671"/>
            <p14:sldId id="1675"/>
            <p14:sldId id="1676"/>
            <p14:sldId id="1677"/>
            <p14:sldId id="1678"/>
            <p14:sldId id="1679"/>
            <p14:sldId id="1680"/>
            <p14:sldId id="1681"/>
            <p14:sldId id="1682"/>
            <p14:sldId id="2045"/>
            <p14:sldId id="2046"/>
            <p14:sldId id="2047"/>
            <p14:sldId id="2049"/>
            <p14:sldId id="1877"/>
            <p14:sldId id="2048"/>
          </p14:sldIdLst>
        </p14:section>
        <p14:section name="第二章 Spark环境搭建-Local" id="{E13387B2-0DCC-4518-8925-9A3FCD8D7B66}">
          <p14:sldIdLst>
            <p14:sldId id="1652"/>
            <p14:sldId id="1686"/>
            <p14:sldId id="2587"/>
            <p14:sldId id="1692"/>
            <p14:sldId id="2050"/>
            <p14:sldId id="1698"/>
            <p14:sldId id="2051"/>
            <p14:sldId id="2053"/>
            <p14:sldId id="1700"/>
            <p14:sldId id="2052"/>
            <p14:sldId id="1878"/>
          </p14:sldIdLst>
        </p14:section>
        <p14:section name="第三章 环境搭建-Standalone" id="{809E5AAC-2DC7-4C47-9A40-FC70E3D3FFA6}">
          <p14:sldIdLst>
            <p14:sldId id="1654"/>
            <p14:sldId id="1725"/>
            <p14:sldId id="1726"/>
            <p14:sldId id="1733"/>
            <p14:sldId id="1740"/>
            <p14:sldId id="1731"/>
            <p14:sldId id="2210"/>
            <p14:sldId id="1741"/>
            <p14:sldId id="2211"/>
            <p14:sldId id="2212"/>
            <p14:sldId id="1745"/>
            <p14:sldId id="1732"/>
            <p14:sldId id="1746"/>
            <p14:sldId id="1747"/>
            <p14:sldId id="1748"/>
            <p14:sldId id="1749"/>
            <p14:sldId id="2214"/>
            <p14:sldId id="1750"/>
            <p14:sldId id="1751"/>
            <p14:sldId id="1752"/>
            <p14:sldId id="1880"/>
            <p14:sldId id="2330"/>
          </p14:sldIdLst>
        </p14:section>
        <p14:section name="第四章 环境搭建-Standalone HA" id="{8FFE29F0-9DC7-44FE-B719-E6A7B03D4254}">
          <p14:sldIdLst>
            <p14:sldId id="1656"/>
            <p14:sldId id="1753"/>
            <p14:sldId id="1759"/>
            <p14:sldId id="2331"/>
            <p14:sldId id="1755"/>
            <p14:sldId id="1760"/>
            <p14:sldId id="1757"/>
            <p14:sldId id="1758"/>
            <p14:sldId id="1881"/>
          </p14:sldIdLst>
        </p14:section>
        <p14:section name="第五章 环境搭建-Spark On YARN" id="{b3a18062-01cb-46fb-8fbf-daae513325cb}">
          <p14:sldIdLst>
            <p14:sldId id="2081"/>
            <p14:sldId id="2082"/>
            <p14:sldId id="2083"/>
            <p14:sldId id="2084"/>
            <p14:sldId id="2085"/>
            <p14:sldId id="2086"/>
            <p14:sldId id="2087"/>
            <p14:sldId id="2332"/>
            <p14:sldId id="2333"/>
            <p14:sldId id="2089"/>
            <p14:sldId id="2092"/>
            <p14:sldId id="2102"/>
            <p14:sldId id="2103"/>
            <p14:sldId id="2104"/>
            <p14:sldId id="2105"/>
            <p14:sldId id="2106"/>
            <p14:sldId id="2107"/>
          </p14:sldIdLst>
        </p14:section>
        <p14:section name="第六章 PySpark安装" id="{9E18549E-62DF-4E1F-B7E7-6C484C77D7C0}">
          <p14:sldIdLst>
            <p14:sldId id="1653"/>
            <p14:sldId id="1701"/>
            <p14:sldId id="2334"/>
            <p14:sldId id="1708"/>
            <p14:sldId id="2335"/>
            <p14:sldId id="1703"/>
            <p14:sldId id="1879"/>
          </p14:sldIdLst>
        </p14:section>
        <p14:section name="第七章 本机开发环境搭建" id="{DF618986-BD55-41BC-8993-8D226A4DA58D}">
          <p14:sldIdLst>
            <p14:sldId id="1657"/>
            <p14:sldId id="1764"/>
            <p14:sldId id="2337"/>
            <p14:sldId id="2338"/>
            <p14:sldId id="1886"/>
            <p14:sldId id="2339"/>
            <p14:sldId id="2340"/>
            <p14:sldId id="1887"/>
            <p14:sldId id="1888"/>
            <p14:sldId id="1889"/>
            <p14:sldId id="1777"/>
            <p14:sldId id="1786"/>
            <p14:sldId id="1778"/>
            <p14:sldId id="1787"/>
            <p14:sldId id="1779"/>
            <p14:sldId id="1780"/>
            <p14:sldId id="1788"/>
            <p14:sldId id="1782"/>
            <p14:sldId id="1791"/>
            <p14:sldId id="1882"/>
          </p14:sldIdLst>
        </p14:section>
        <p14:section name="第八章 分布式代码执行分析&#13;" id="{cc36a325-367e-408d-97ef-ad8111c9386c}">
          <p14:sldIdLst>
            <p14:sldId id="2176"/>
            <p14:sldId id="2177"/>
            <p14:sldId id="2178"/>
            <p14:sldId id="2188"/>
            <p14:sldId id="2189"/>
            <p14:sldId id="2190"/>
            <p14:sldId id="2191"/>
            <p14:sldId id="2341"/>
            <p14:sldId id="2342"/>
            <p14:sldId id="2343"/>
            <p14:sldId id="2195"/>
          </p14:sldIdLst>
        </p14:section>
        <p14:section name="今日作业" id="{6B396C18-CD8C-4ACA-9955-216C790D381B}">
          <p14:sldIdLst>
            <p14:sldId id="574"/>
            <p14:sldId id="264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581F"/>
    <a:srgbClr val="557F39"/>
    <a:srgbClr val="579BD0"/>
    <a:srgbClr val="AD2B26"/>
    <a:srgbClr val="49504F"/>
    <a:srgbClr val="B70006"/>
    <a:srgbClr val="FFFFE4"/>
    <a:srgbClr val="91919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50" autoAdjust="0"/>
    <p:restoredTop sz="95306" autoAdjust="0"/>
  </p:normalViewPr>
  <p:slideViewPr>
    <p:cSldViewPr snapToGrid="0">
      <p:cViewPr varScale="1">
        <p:scale>
          <a:sx n="109" d="100"/>
          <a:sy n="109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62.xml"/><Relationship Id="rId98" Type="http://schemas.openxmlformats.org/officeDocument/2006/relationships/slide" Target="slides/slide61.xml"/><Relationship Id="rId97" Type="http://schemas.openxmlformats.org/officeDocument/2006/relationships/slide" Target="slides/slide60.xml"/><Relationship Id="rId96" Type="http://schemas.openxmlformats.org/officeDocument/2006/relationships/slide" Target="slides/slide59.xml"/><Relationship Id="rId95" Type="http://schemas.openxmlformats.org/officeDocument/2006/relationships/slide" Target="slides/slide58.xml"/><Relationship Id="rId94" Type="http://schemas.openxmlformats.org/officeDocument/2006/relationships/slide" Target="slides/slide57.xml"/><Relationship Id="rId93" Type="http://schemas.openxmlformats.org/officeDocument/2006/relationships/slide" Target="slides/slide56.xml"/><Relationship Id="rId92" Type="http://schemas.openxmlformats.org/officeDocument/2006/relationships/slide" Target="slides/slide55.xml"/><Relationship Id="rId91" Type="http://schemas.openxmlformats.org/officeDocument/2006/relationships/slide" Target="slides/slide54.xml"/><Relationship Id="rId90" Type="http://schemas.openxmlformats.org/officeDocument/2006/relationships/slide" Target="slides/slide53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2.xml"/><Relationship Id="rId88" Type="http://schemas.openxmlformats.org/officeDocument/2006/relationships/slide" Target="slides/slide51.xml"/><Relationship Id="rId87" Type="http://schemas.openxmlformats.org/officeDocument/2006/relationships/slide" Target="slides/slide50.xml"/><Relationship Id="rId86" Type="http://schemas.openxmlformats.org/officeDocument/2006/relationships/slide" Target="slides/slide49.xml"/><Relationship Id="rId85" Type="http://schemas.openxmlformats.org/officeDocument/2006/relationships/slide" Target="slides/slide48.xml"/><Relationship Id="rId84" Type="http://schemas.openxmlformats.org/officeDocument/2006/relationships/slide" Target="slides/slide47.xml"/><Relationship Id="rId83" Type="http://schemas.openxmlformats.org/officeDocument/2006/relationships/slide" Target="slides/slide46.xml"/><Relationship Id="rId82" Type="http://schemas.openxmlformats.org/officeDocument/2006/relationships/slide" Target="slides/slide45.xml"/><Relationship Id="rId81" Type="http://schemas.openxmlformats.org/officeDocument/2006/relationships/slide" Target="slides/slide44.xml"/><Relationship Id="rId80" Type="http://schemas.openxmlformats.org/officeDocument/2006/relationships/slide" Target="slides/slide43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2.xml"/><Relationship Id="rId78" Type="http://schemas.openxmlformats.org/officeDocument/2006/relationships/slide" Target="slides/slide41.xml"/><Relationship Id="rId77" Type="http://schemas.openxmlformats.org/officeDocument/2006/relationships/slide" Target="slides/slide40.xml"/><Relationship Id="rId76" Type="http://schemas.openxmlformats.org/officeDocument/2006/relationships/slide" Target="slides/slide39.xml"/><Relationship Id="rId75" Type="http://schemas.openxmlformats.org/officeDocument/2006/relationships/slide" Target="slides/slide38.xml"/><Relationship Id="rId74" Type="http://schemas.openxmlformats.org/officeDocument/2006/relationships/slide" Target="slides/slide37.xml"/><Relationship Id="rId73" Type="http://schemas.openxmlformats.org/officeDocument/2006/relationships/slide" Target="slides/slide36.xml"/><Relationship Id="rId72" Type="http://schemas.openxmlformats.org/officeDocument/2006/relationships/slide" Target="slides/slide35.xml"/><Relationship Id="rId71" Type="http://schemas.openxmlformats.org/officeDocument/2006/relationships/slide" Target="slides/slide34.xml"/><Relationship Id="rId70" Type="http://schemas.openxmlformats.org/officeDocument/2006/relationships/slide" Target="slides/slide33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2.xml"/><Relationship Id="rId68" Type="http://schemas.openxmlformats.org/officeDocument/2006/relationships/slide" Target="slides/slide31.xml"/><Relationship Id="rId67" Type="http://schemas.openxmlformats.org/officeDocument/2006/relationships/slide" Target="slides/slide30.xml"/><Relationship Id="rId66" Type="http://schemas.openxmlformats.org/officeDocument/2006/relationships/slide" Target="slides/slide29.xml"/><Relationship Id="rId65" Type="http://schemas.openxmlformats.org/officeDocument/2006/relationships/slide" Target="slides/slide28.xml"/><Relationship Id="rId64" Type="http://schemas.openxmlformats.org/officeDocument/2006/relationships/slide" Target="slides/slide27.xml"/><Relationship Id="rId63" Type="http://schemas.openxmlformats.org/officeDocument/2006/relationships/slide" Target="slides/slide26.xml"/><Relationship Id="rId62" Type="http://schemas.openxmlformats.org/officeDocument/2006/relationships/slide" Target="slides/slide25.xml"/><Relationship Id="rId61" Type="http://schemas.openxmlformats.org/officeDocument/2006/relationships/slide" Target="slides/slide24.xml"/><Relationship Id="rId60" Type="http://schemas.openxmlformats.org/officeDocument/2006/relationships/slide" Target="slides/slide2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2.xml"/><Relationship Id="rId58" Type="http://schemas.openxmlformats.org/officeDocument/2006/relationships/slide" Target="slides/slide21.xml"/><Relationship Id="rId57" Type="http://schemas.openxmlformats.org/officeDocument/2006/relationships/slide" Target="slides/slide20.xml"/><Relationship Id="rId56" Type="http://schemas.openxmlformats.org/officeDocument/2006/relationships/slide" Target="slides/slide19.xml"/><Relationship Id="rId55" Type="http://schemas.openxmlformats.org/officeDocument/2006/relationships/slide" Target="slides/slide18.xml"/><Relationship Id="rId54" Type="http://schemas.openxmlformats.org/officeDocument/2006/relationships/slide" Target="slides/slide17.xml"/><Relationship Id="rId53" Type="http://schemas.openxmlformats.org/officeDocument/2006/relationships/slide" Target="slides/slide16.xml"/><Relationship Id="rId52" Type="http://schemas.openxmlformats.org/officeDocument/2006/relationships/slide" Target="slides/slide15.xml"/><Relationship Id="rId51" Type="http://schemas.openxmlformats.org/officeDocument/2006/relationships/slide" Target="slides/slide14.xml"/><Relationship Id="rId50" Type="http://schemas.openxmlformats.org/officeDocument/2006/relationships/slide" Target="slides/slide1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2.xml"/><Relationship Id="rId48" Type="http://schemas.openxmlformats.org/officeDocument/2006/relationships/slide" Target="slides/slide11.xml"/><Relationship Id="rId47" Type="http://schemas.openxmlformats.org/officeDocument/2006/relationships/slide" Target="slides/slide10.xml"/><Relationship Id="rId46" Type="http://schemas.openxmlformats.org/officeDocument/2006/relationships/slide" Target="slides/slide9.xml"/><Relationship Id="rId45" Type="http://schemas.openxmlformats.org/officeDocument/2006/relationships/slide" Target="slides/slide8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7.xml"/><Relationship Id="rId42" Type="http://schemas.openxmlformats.org/officeDocument/2006/relationships/slide" Target="slides/slide6.xml"/><Relationship Id="rId41" Type="http://schemas.openxmlformats.org/officeDocument/2006/relationships/slide" Target="slides/slide5.xml"/><Relationship Id="rId40" Type="http://schemas.openxmlformats.org/officeDocument/2006/relationships/slide" Target="slides/slide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.xml"/><Relationship Id="rId38" Type="http://schemas.openxmlformats.org/officeDocument/2006/relationships/slide" Target="slides/slide2.xml"/><Relationship Id="rId37" Type="http://schemas.openxmlformats.org/officeDocument/2006/relationships/slide" Target="slides/slide1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9" Type="http://schemas.openxmlformats.org/officeDocument/2006/relationships/commentAuthors" Target="commentAuthors.xml"/><Relationship Id="rId168" Type="http://schemas.openxmlformats.org/officeDocument/2006/relationships/tableStyles" Target="tableStyles.xml"/><Relationship Id="rId167" Type="http://schemas.openxmlformats.org/officeDocument/2006/relationships/viewProps" Target="viewProps.xml"/><Relationship Id="rId166" Type="http://schemas.openxmlformats.org/officeDocument/2006/relationships/presProps" Target="presProps.xml"/><Relationship Id="rId165" Type="http://schemas.openxmlformats.org/officeDocument/2006/relationships/handoutMaster" Target="handoutMasters/handoutMaster1.xml"/><Relationship Id="rId164" Type="http://schemas.openxmlformats.org/officeDocument/2006/relationships/slide" Target="slides/slide127.xml"/><Relationship Id="rId163" Type="http://schemas.openxmlformats.org/officeDocument/2006/relationships/slide" Target="slides/slide126.xml"/><Relationship Id="rId162" Type="http://schemas.openxmlformats.org/officeDocument/2006/relationships/slide" Target="slides/slide125.xml"/><Relationship Id="rId161" Type="http://schemas.openxmlformats.org/officeDocument/2006/relationships/slide" Target="slides/slide124.xml"/><Relationship Id="rId160" Type="http://schemas.openxmlformats.org/officeDocument/2006/relationships/slide" Target="slides/slide123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122.xml"/><Relationship Id="rId158" Type="http://schemas.openxmlformats.org/officeDocument/2006/relationships/slide" Target="slides/slide121.xml"/><Relationship Id="rId157" Type="http://schemas.openxmlformats.org/officeDocument/2006/relationships/slide" Target="slides/slide120.xml"/><Relationship Id="rId156" Type="http://schemas.openxmlformats.org/officeDocument/2006/relationships/slide" Target="slides/slide119.xml"/><Relationship Id="rId155" Type="http://schemas.openxmlformats.org/officeDocument/2006/relationships/slide" Target="slides/slide118.xml"/><Relationship Id="rId154" Type="http://schemas.openxmlformats.org/officeDocument/2006/relationships/slide" Target="slides/slide117.xml"/><Relationship Id="rId153" Type="http://schemas.openxmlformats.org/officeDocument/2006/relationships/slide" Target="slides/slide116.xml"/><Relationship Id="rId152" Type="http://schemas.openxmlformats.org/officeDocument/2006/relationships/slide" Target="slides/slide115.xml"/><Relationship Id="rId151" Type="http://schemas.openxmlformats.org/officeDocument/2006/relationships/slide" Target="slides/slide114.xml"/><Relationship Id="rId150" Type="http://schemas.openxmlformats.org/officeDocument/2006/relationships/slide" Target="slides/slide113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112.xml"/><Relationship Id="rId148" Type="http://schemas.openxmlformats.org/officeDocument/2006/relationships/slide" Target="slides/slide111.xml"/><Relationship Id="rId147" Type="http://schemas.openxmlformats.org/officeDocument/2006/relationships/slide" Target="slides/slide110.xml"/><Relationship Id="rId146" Type="http://schemas.openxmlformats.org/officeDocument/2006/relationships/slide" Target="slides/slide109.xml"/><Relationship Id="rId145" Type="http://schemas.openxmlformats.org/officeDocument/2006/relationships/slide" Target="slides/slide108.xml"/><Relationship Id="rId144" Type="http://schemas.openxmlformats.org/officeDocument/2006/relationships/slide" Target="slides/slide107.xml"/><Relationship Id="rId143" Type="http://schemas.openxmlformats.org/officeDocument/2006/relationships/slide" Target="slides/slide106.xml"/><Relationship Id="rId142" Type="http://schemas.openxmlformats.org/officeDocument/2006/relationships/slide" Target="slides/slide105.xml"/><Relationship Id="rId141" Type="http://schemas.openxmlformats.org/officeDocument/2006/relationships/slide" Target="slides/slide104.xml"/><Relationship Id="rId140" Type="http://schemas.openxmlformats.org/officeDocument/2006/relationships/slide" Target="slides/slide103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102.xml"/><Relationship Id="rId138" Type="http://schemas.openxmlformats.org/officeDocument/2006/relationships/slide" Target="slides/slide101.xml"/><Relationship Id="rId137" Type="http://schemas.openxmlformats.org/officeDocument/2006/relationships/slide" Target="slides/slide100.xml"/><Relationship Id="rId136" Type="http://schemas.openxmlformats.org/officeDocument/2006/relationships/slide" Target="slides/slide99.xml"/><Relationship Id="rId135" Type="http://schemas.openxmlformats.org/officeDocument/2006/relationships/slide" Target="slides/slide98.xml"/><Relationship Id="rId134" Type="http://schemas.openxmlformats.org/officeDocument/2006/relationships/slide" Target="slides/slide97.xml"/><Relationship Id="rId133" Type="http://schemas.openxmlformats.org/officeDocument/2006/relationships/slide" Target="slides/slide96.xml"/><Relationship Id="rId132" Type="http://schemas.openxmlformats.org/officeDocument/2006/relationships/slide" Target="slides/slide95.xml"/><Relationship Id="rId131" Type="http://schemas.openxmlformats.org/officeDocument/2006/relationships/slide" Target="slides/slide94.xml"/><Relationship Id="rId130" Type="http://schemas.openxmlformats.org/officeDocument/2006/relationships/slide" Target="slides/slide93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92.xml"/><Relationship Id="rId128" Type="http://schemas.openxmlformats.org/officeDocument/2006/relationships/slide" Target="slides/slide91.xml"/><Relationship Id="rId127" Type="http://schemas.openxmlformats.org/officeDocument/2006/relationships/slide" Target="slides/slide90.xml"/><Relationship Id="rId126" Type="http://schemas.openxmlformats.org/officeDocument/2006/relationships/slide" Target="slides/slide89.xml"/><Relationship Id="rId125" Type="http://schemas.openxmlformats.org/officeDocument/2006/relationships/slide" Target="slides/slide88.xml"/><Relationship Id="rId124" Type="http://schemas.openxmlformats.org/officeDocument/2006/relationships/slide" Target="slides/slide87.xml"/><Relationship Id="rId123" Type="http://schemas.openxmlformats.org/officeDocument/2006/relationships/slide" Target="slides/slide86.xml"/><Relationship Id="rId122" Type="http://schemas.openxmlformats.org/officeDocument/2006/relationships/slide" Target="slides/slide85.xml"/><Relationship Id="rId121" Type="http://schemas.openxmlformats.org/officeDocument/2006/relationships/slide" Target="slides/slide84.xml"/><Relationship Id="rId120" Type="http://schemas.openxmlformats.org/officeDocument/2006/relationships/slide" Target="slides/slide83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82.xml"/><Relationship Id="rId118" Type="http://schemas.openxmlformats.org/officeDocument/2006/relationships/slide" Target="slides/slide81.xml"/><Relationship Id="rId117" Type="http://schemas.openxmlformats.org/officeDocument/2006/relationships/slide" Target="slides/slide80.xml"/><Relationship Id="rId116" Type="http://schemas.openxmlformats.org/officeDocument/2006/relationships/slide" Target="slides/slide79.xml"/><Relationship Id="rId115" Type="http://schemas.openxmlformats.org/officeDocument/2006/relationships/slide" Target="slides/slide78.xml"/><Relationship Id="rId114" Type="http://schemas.openxmlformats.org/officeDocument/2006/relationships/slide" Target="slides/slide77.xml"/><Relationship Id="rId113" Type="http://schemas.openxmlformats.org/officeDocument/2006/relationships/slide" Target="slides/slide76.xml"/><Relationship Id="rId112" Type="http://schemas.openxmlformats.org/officeDocument/2006/relationships/slide" Target="slides/slide75.xml"/><Relationship Id="rId111" Type="http://schemas.openxmlformats.org/officeDocument/2006/relationships/slide" Target="slides/slide74.xml"/><Relationship Id="rId110" Type="http://schemas.openxmlformats.org/officeDocument/2006/relationships/slide" Target="slides/slide73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72.xml"/><Relationship Id="rId108" Type="http://schemas.openxmlformats.org/officeDocument/2006/relationships/slide" Target="slides/slide71.xml"/><Relationship Id="rId107" Type="http://schemas.openxmlformats.org/officeDocument/2006/relationships/slide" Target="slides/slide70.xml"/><Relationship Id="rId106" Type="http://schemas.openxmlformats.org/officeDocument/2006/relationships/slide" Target="slides/slide69.xml"/><Relationship Id="rId105" Type="http://schemas.openxmlformats.org/officeDocument/2006/relationships/slide" Target="slides/slide68.xml"/><Relationship Id="rId104" Type="http://schemas.openxmlformats.org/officeDocument/2006/relationships/slide" Target="slides/slide67.xml"/><Relationship Id="rId103" Type="http://schemas.openxmlformats.org/officeDocument/2006/relationships/slide" Target="slides/slide66.xml"/><Relationship Id="rId102" Type="http://schemas.openxmlformats.org/officeDocument/2006/relationships/slide" Target="slides/slide65.xml"/><Relationship Id="rId101" Type="http://schemas.openxmlformats.org/officeDocument/2006/relationships/slide" Target="slides/slide64.xml"/><Relationship Id="rId100" Type="http://schemas.openxmlformats.org/officeDocument/2006/relationships/slide" Target="slides/slide63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sc.parallelize([1,2,3,4,5]).map(lambda x: x + 1).collect()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sc.parallelize([1,2,3,4,5]).map(lambda x: x + 1).collect()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3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kumimoji="0" lang="zh-TW" altLang="zh-CN" sz="4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F288E0-7875-42C4-84C8-98DBBD3BF4D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F288E0-7875-42C4-84C8-98DBBD3BF4D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案例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AD2B26"/>
                  </a:solidFill>
                  <a:effectLst/>
                  <a:uLnTx/>
                  <a:uFillTx/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练习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kumimoji="0" lang="zh-TW" altLang="zh-CN" sz="4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F288E0-7875-42C4-84C8-98DBBD3BF4D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4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8" Type="http://schemas.openxmlformats.org/officeDocument/2006/relationships/theme" Target="../theme/theme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8" Type="http://schemas.openxmlformats.org/officeDocument/2006/relationships/theme" Target="../theme/theme6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8" Type="http://schemas.openxmlformats.org/officeDocument/2006/relationships/theme" Target="../theme/theme7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8" Type="http://schemas.openxmlformats.org/officeDocument/2006/relationships/theme" Target="../theme/theme8.xml"/><Relationship Id="rId17" Type="http://schemas.openxmlformats.org/officeDocument/2006/relationships/tags" Target="../tags/tag310.xml"/><Relationship Id="rId16" Type="http://schemas.openxmlformats.org/officeDocument/2006/relationships/tags" Target="../tags/tag309.xml"/><Relationship Id="rId15" Type="http://schemas.openxmlformats.org/officeDocument/2006/relationships/tags" Target="../tags/tag308.xml"/><Relationship Id="rId14" Type="http://schemas.openxmlformats.org/officeDocument/2006/relationships/tags" Target="../tags/tag307.xml"/><Relationship Id="rId13" Type="http://schemas.openxmlformats.org/officeDocument/2006/relationships/tags" Target="../tags/tag306.xml"/><Relationship Id="rId12" Type="http://schemas.openxmlformats.org/officeDocument/2006/relationships/tags" Target="../tags/tag305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1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66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8" Type="http://schemas.openxmlformats.org/officeDocument/2006/relationships/theme" Target="../theme/theme12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7" Type="http://schemas.openxmlformats.org/officeDocument/2006/relationships/image" Target="../media/image5.png"/><Relationship Id="rId6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89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90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6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05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0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9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48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60.xml"/><Relationship Id="rId13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4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6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3.xml"/><Relationship Id="rId8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78.xml"/><Relationship Id="rId3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76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88.xml"/><Relationship Id="rId13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85.xml"/><Relationship Id="rId10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75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90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89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4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203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5.xml"/><Relationship Id="rId8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2.xml"/><Relationship Id="rId5" Type="http://schemas.openxmlformats.org/officeDocument/2006/relationships/slideLayout" Target="../slideLayouts/slideLayout221.xml"/><Relationship Id="rId4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30.xml"/><Relationship Id="rId13" Type="http://schemas.openxmlformats.org/officeDocument/2006/relationships/slideLayout" Target="../slideLayouts/slideLayout229.xml"/><Relationship Id="rId12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26.xml"/><Relationship Id="rId1" Type="http://schemas.openxmlformats.org/officeDocument/2006/relationships/slideLayout" Target="../slideLayouts/slideLayout21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2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0.xml"/><Relationship Id="rId1" Type="http://schemas.openxmlformats.org/officeDocument/2006/relationships/slideLayout" Target="../slideLayouts/slideLayout23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3.xml"/><Relationship Id="rId8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51.xml"/><Relationship Id="rId6" Type="http://schemas.openxmlformats.org/officeDocument/2006/relationships/slideLayout" Target="../slideLayouts/slideLayout250.xml"/><Relationship Id="rId5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47.xml"/><Relationship Id="rId2" Type="http://schemas.openxmlformats.org/officeDocument/2006/relationships/slideLayout" Target="../slideLayouts/slideLayout246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58.xml"/><Relationship Id="rId13" Type="http://schemas.openxmlformats.org/officeDocument/2006/relationships/slideLayout" Target="../slideLayouts/slideLayout257.xml"/><Relationship Id="rId12" Type="http://schemas.openxmlformats.org/officeDocument/2006/relationships/slideLayout" Target="../slideLayouts/slideLayout256.xml"/><Relationship Id="rId11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45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7.xml"/><Relationship Id="rId8" Type="http://schemas.openxmlformats.org/officeDocument/2006/relationships/slideLayout" Target="../slideLayouts/slideLayout266.xml"/><Relationship Id="rId7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60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72.xml"/><Relationship Id="rId13" Type="http://schemas.openxmlformats.org/officeDocument/2006/relationships/slideLayout" Target="../slideLayouts/slideLayout271.xml"/><Relationship Id="rId12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69.xml"/><Relationship Id="rId10" Type="http://schemas.openxmlformats.org/officeDocument/2006/relationships/slideLayout" Target="../slideLayouts/slideLayout268.xml"/><Relationship Id="rId1" Type="http://schemas.openxmlformats.org/officeDocument/2006/relationships/slideLayout" Target="../slideLayouts/slideLayout259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1.xml"/><Relationship Id="rId8" Type="http://schemas.openxmlformats.org/officeDocument/2006/relationships/slideLayout" Target="../slideLayouts/slideLayout280.xml"/><Relationship Id="rId7" Type="http://schemas.openxmlformats.org/officeDocument/2006/relationships/slideLayout" Target="../slideLayouts/slideLayout279.xml"/><Relationship Id="rId6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75.xml"/><Relationship Id="rId2" Type="http://schemas.openxmlformats.org/officeDocument/2006/relationships/slideLayout" Target="../slideLayouts/slideLayout274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286.xml"/><Relationship Id="rId13" Type="http://schemas.openxmlformats.org/officeDocument/2006/relationships/slideLayout" Target="../slideLayouts/slideLayout285.xml"/><Relationship Id="rId12" Type="http://schemas.openxmlformats.org/officeDocument/2006/relationships/slideLayout" Target="../slideLayouts/slideLayout284.xml"/><Relationship Id="rId11" Type="http://schemas.openxmlformats.org/officeDocument/2006/relationships/slideLayout" Target="../slideLayouts/slideLayout283.xml"/><Relationship Id="rId10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73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00.xml"/><Relationship Id="rId13" Type="http://schemas.openxmlformats.org/officeDocument/2006/relationships/slideLayout" Target="../slideLayouts/slideLayout299.xml"/><Relationship Id="rId12" Type="http://schemas.openxmlformats.org/officeDocument/2006/relationships/slideLayout" Target="../slideLayouts/slideLayout298.xml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9.xml"/><Relationship Id="rId8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06.xml"/><Relationship Id="rId5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303.xml"/><Relationship Id="rId2" Type="http://schemas.openxmlformats.org/officeDocument/2006/relationships/slideLayout" Target="../slideLayouts/slideLayout30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14.xml"/><Relationship Id="rId13" Type="http://schemas.openxmlformats.org/officeDocument/2006/relationships/slideLayout" Target="../slideLayouts/slideLayout313.xml"/><Relationship Id="rId12" Type="http://schemas.openxmlformats.org/officeDocument/2006/relationships/slideLayout" Target="../slideLayouts/slideLayout312.xml"/><Relationship Id="rId11" Type="http://schemas.openxmlformats.org/officeDocument/2006/relationships/slideLayout" Target="../slideLayouts/slideLayout311.xml"/><Relationship Id="rId10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30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3.xml"/><Relationship Id="rId8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8.xml"/><Relationship Id="rId3" Type="http://schemas.openxmlformats.org/officeDocument/2006/relationships/slideLayout" Target="../slideLayouts/slideLayout317.xml"/><Relationship Id="rId2" Type="http://schemas.openxmlformats.org/officeDocument/2006/relationships/slideLayout" Target="../slideLayouts/slideLayout316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28.xml"/><Relationship Id="rId13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24.xml"/><Relationship Id="rId1" Type="http://schemas.openxmlformats.org/officeDocument/2006/relationships/slideLayout" Target="../slideLayouts/slideLayout315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slideLayout" Target="../slideLayouts/slideLayout332.xml"/><Relationship Id="rId3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30.xml"/><Relationship Id="rId1" Type="http://schemas.openxmlformats.org/officeDocument/2006/relationships/slideLayout" Target="../slideLayouts/slideLayout329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theme" Target="../theme/theme34.xml"/><Relationship Id="rId2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33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3.xml"/><Relationship Id="rId8" Type="http://schemas.openxmlformats.org/officeDocument/2006/relationships/slideLayout" Target="../slideLayouts/slideLayout342.xml"/><Relationship Id="rId7" Type="http://schemas.openxmlformats.org/officeDocument/2006/relationships/slideLayout" Target="../slideLayouts/slideLayout341.xml"/><Relationship Id="rId6" Type="http://schemas.openxmlformats.org/officeDocument/2006/relationships/slideLayout" Target="../slideLayouts/slideLayout340.xml"/><Relationship Id="rId5" Type="http://schemas.openxmlformats.org/officeDocument/2006/relationships/slideLayout" Target="../slideLayouts/slideLayout339.xml"/><Relationship Id="rId4" Type="http://schemas.openxmlformats.org/officeDocument/2006/relationships/slideLayout" Target="../slideLayouts/slideLayout338.xml"/><Relationship Id="rId3" Type="http://schemas.openxmlformats.org/officeDocument/2006/relationships/slideLayout" Target="../slideLayouts/slideLayout337.xml"/><Relationship Id="rId2" Type="http://schemas.openxmlformats.org/officeDocument/2006/relationships/slideLayout" Target="../slideLayouts/slideLayout336.xml"/><Relationship Id="rId16" Type="http://schemas.openxmlformats.org/officeDocument/2006/relationships/theme" Target="../theme/theme35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48.xml"/><Relationship Id="rId13" Type="http://schemas.openxmlformats.org/officeDocument/2006/relationships/slideLayout" Target="../slideLayouts/slideLayout347.xml"/><Relationship Id="rId12" Type="http://schemas.openxmlformats.org/officeDocument/2006/relationships/slideLayout" Target="../slideLayouts/slideLayout346.xml"/><Relationship Id="rId11" Type="http://schemas.openxmlformats.org/officeDocument/2006/relationships/slideLayout" Target="../slideLayouts/slideLayout345.xml"/><Relationship Id="rId10" Type="http://schemas.openxmlformats.org/officeDocument/2006/relationships/slideLayout" Target="../slideLayouts/slideLayout344.xml"/><Relationship Id="rId1" Type="http://schemas.openxmlformats.org/officeDocument/2006/relationships/slideLayout" Target="../slideLayouts/slideLayout3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目录</a:t>
              </a:r>
              <a:endPara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96295" y="2260952"/>
            <a:ext cx="3119294" cy="1138203"/>
            <a:chOff x="2054055" y="1224381"/>
            <a:chExt cx="3119294" cy="1138203"/>
          </a:xfrm>
        </p:grpSpPr>
        <p:sp>
          <p:nvSpPr>
            <p:cNvPr id="20" name="文本框 19"/>
            <p:cNvSpPr txBox="1"/>
            <p:nvPr/>
          </p:nvSpPr>
          <p:spPr>
            <a:xfrm>
              <a:off x="2667399" y="1224381"/>
              <a:ext cx="2326640" cy="7372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课程</a:t>
              </a:r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结构</a:t>
              </a:r>
              <a:endPara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913995" y="1839364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517334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rPr>
              <a:t>学习目标</a:t>
            </a:r>
            <a:endParaRPr lang="zh-CN" altLang="en-US" sz="4200" b="1" i="0" dirty="0">
              <a:latin typeface="Sitka Heading" panose="02000505000000020004" charset="0"/>
              <a:ea typeface="Sitka Heading" panose="02000505000000020004" charset="0"/>
              <a:cs typeface="Sitka Heading" panose="020005050000000200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257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目录</a:t>
              </a:r>
              <a:endParaRPr lang="zh-CN" altLang="en-US" sz="4200" b="1" i="0" dirty="0"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tka Heading" panose="02000505000000020004" charset="0"/>
                  <a:ea typeface="Sitka Heading" panose="02000505000000020004" charset="0"/>
                  <a:cs typeface="Sitka Heading" panose="02000505000000020004" charset="0"/>
                </a:rPr>
                <a:t>目录</a:t>
              </a:r>
              <a:endParaRPr kumimoji="0" lang="zh-CN" altLang="en-US" sz="4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image" Target="../media/image6.png"/><Relationship Id="rId1" Type="http://schemas.openxmlformats.org/officeDocument/2006/relationships/tags" Target="../tags/tag3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tags" Target="../tags/tag3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21.png"/><Relationship Id="rId1" Type="http://schemas.openxmlformats.org/officeDocument/2006/relationships/tags" Target="../tags/tag3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7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35.wmf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7.xml"/><Relationship Id="rId4" Type="http://schemas.openxmlformats.org/officeDocument/2006/relationships/image" Target="../media/image37.png"/><Relationship Id="rId3" Type="http://schemas.openxmlformats.org/officeDocument/2006/relationships/tags" Target="../tags/tag315.xml"/><Relationship Id="rId2" Type="http://schemas.openxmlformats.org/officeDocument/2006/relationships/image" Target="../media/image36.png"/><Relationship Id="rId1" Type="http://schemas.openxmlformats.org/officeDocument/2006/relationships/tags" Target="../tags/tag3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4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55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9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hyperlink" Target="spark&#37096;&#32626;&#25991;&#26723;.doc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9.xml"/><Relationship Id="rId1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tags" Target="../tags/tag31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4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5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6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8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69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7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7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72.png"/></Relationships>
</file>

<file path=ppt/slides/_rels/slide10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8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82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83.jpe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.xml"/><Relationship Id="rId1" Type="http://schemas.openxmlformats.org/officeDocument/2006/relationships/image" Target="../media/image8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9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1.jpe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2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3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4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5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6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7.xml"/><Relationship Id="rId1" Type="http://schemas.openxmlformats.org/officeDocument/2006/relationships/image" Target="../media/image97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8120" y="2595880"/>
            <a:ext cx="11856085" cy="1329690"/>
          </a:xfrm>
        </p:spPr>
        <p:txBody>
          <a:bodyPr/>
          <a:lstStyle/>
          <a:p>
            <a:r>
              <a:rPr kumimoji="1"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4</a:t>
            </a:r>
            <a:r>
              <a:rPr kumimoji="1"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天快速入门</a:t>
            </a:r>
            <a:r>
              <a:rPr kumimoji="1"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PySpark</a:t>
            </a:r>
            <a:endParaRPr kumimoji="1"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7047230" y="3670300"/>
            <a:ext cx="3221355" cy="86931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Sitka Heading" panose="02000505000000020004" charset="0"/>
                <a:ea typeface="Sitka Heading" panose="02000505000000020004" charset="0"/>
                <a:cs typeface="Sitka Heading" panose="0200050500000002000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sz="4000" b="1" dirty="0">
                <a:solidFill>
                  <a:srgbClr val="FF0000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Py</a:t>
            </a:r>
            <a:r>
              <a:rPr kumimoji="1" 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thon On </a:t>
            </a:r>
            <a:r>
              <a:rPr kumimoji="1" lang="en-US" sz="4000" dirty="0">
                <a:solidFill>
                  <a:srgbClr val="FF0000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Spark</a:t>
            </a:r>
            <a:endParaRPr kumimoji="1" lang="en-US" altLang="zh-CN" sz="4000" dirty="0">
              <a:solidFill>
                <a:srgbClr val="FF0000"/>
              </a:solidFill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18468" y="976630"/>
            <a:ext cx="5973761" cy="4256405"/>
          </a:xfrm>
        </p:spPr>
        <p:txBody>
          <a:bodyPr/>
          <a:p>
            <a:r>
              <a:rPr lang="zh-CN"/>
              <a:t>一、</a:t>
            </a:r>
            <a:r>
              <a:rPr lang="en-US" altLang="zh-CN"/>
              <a:t>Spark</a:t>
            </a:r>
            <a:r>
              <a:rPr lang="zh-CN" altLang="en-US"/>
              <a:t>基础入门（环境搭建、入门概念）</a:t>
            </a:r>
            <a:endParaRPr lang="zh-CN" altLang="en-US"/>
          </a:p>
          <a:p>
            <a:r>
              <a:rPr lang="zh-CN" altLang="en-US"/>
              <a:t>二、</a:t>
            </a:r>
            <a:r>
              <a:rPr lang="en-US" altLang="zh-CN"/>
              <a:t>Spark</a:t>
            </a:r>
            <a:r>
              <a:rPr lang="zh-CN" altLang="en-US"/>
              <a:t>核心编程（</a:t>
            </a:r>
            <a:r>
              <a:rPr lang="zh-CN"/>
              <a:t>核心</a:t>
            </a:r>
            <a:r>
              <a:rPr lang="en-US" altLang="zh-CN"/>
              <a:t>RDD API</a:t>
            </a:r>
            <a:r>
              <a:rPr lang="zh-CN" altLang="en-US"/>
              <a:t>、核心原理）</a:t>
            </a:r>
            <a:endParaRPr lang="zh-CN" altLang="en-US"/>
          </a:p>
          <a:p>
            <a:r>
              <a:rPr lang="zh-CN" altLang="en-US"/>
              <a:t>三、</a:t>
            </a:r>
            <a:r>
              <a:rPr lang="en-US" altLang="zh-CN"/>
              <a:t>SparkSQL</a:t>
            </a:r>
            <a:r>
              <a:rPr lang="zh-CN" altLang="en-US"/>
              <a:t>（</a:t>
            </a:r>
            <a:r>
              <a:rPr lang="en-US" altLang="zh-CN"/>
              <a:t>DSL</a:t>
            </a:r>
            <a:r>
              <a:rPr lang="zh-CN" altLang="en-US"/>
              <a:t>、</a:t>
            </a:r>
            <a:r>
              <a:rPr lang="en-US" altLang="zh-CN"/>
              <a:t>SQL</a:t>
            </a:r>
            <a:r>
              <a:rPr lang="zh-CN" altLang="en-US"/>
              <a:t>、</a:t>
            </a:r>
            <a:r>
              <a:rPr lang="en-US" altLang="zh-CN"/>
              <a:t>Hive</a:t>
            </a:r>
            <a:r>
              <a:rPr lang="zh-CN" altLang="en-US"/>
              <a:t>集成）</a:t>
            </a:r>
            <a:endParaRPr lang="en-US" altLang="zh-CN"/>
          </a:p>
          <a:p>
            <a:r>
              <a:rPr lang="zh-CN" altLang="en-US"/>
              <a:t>四、综合案例</a:t>
            </a:r>
            <a:endParaRPr lang="zh-CN" altLang="en-US"/>
          </a:p>
          <a:p>
            <a:r>
              <a:rPr lang="zh-CN" altLang="en-US"/>
              <a:t>五、</a:t>
            </a:r>
            <a:r>
              <a:rPr lang="en-US" altLang="zh-CN"/>
              <a:t>Spark</a:t>
            </a:r>
            <a:r>
              <a:rPr lang="zh-CN" altLang="en-US"/>
              <a:t>核心原理（新特性、核心概念总结）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1006475"/>
            <a:ext cx="5973445" cy="2244725"/>
          </a:xfrm>
        </p:spPr>
        <p:txBody>
          <a:bodyPr/>
          <a:p>
            <a:pPr marL="0" indent="0">
              <a:buNone/>
            </a:pP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本次课程基于当下最新的</a:t>
            </a:r>
            <a:r>
              <a:rPr lang="en-US" altLang="zh-CN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Spark3.2.0(2021.10.13</a:t>
            </a: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发布</a:t>
            </a:r>
            <a:r>
              <a:rPr lang="en-US" altLang="zh-CN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)</a:t>
            </a: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版本进行讲解</a:t>
            </a:r>
            <a:endParaRPr lang="zh-CN" altLang="en-US" sz="1400"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</a:endParaRPr>
          </a:p>
          <a:p>
            <a:pPr marL="0" indent="0">
              <a:buNone/>
            </a:pP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重磅特性</a:t>
            </a:r>
            <a:r>
              <a:rPr lang="en-US" altLang="zh-CN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: PySpark</a:t>
            </a: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完善了对</a:t>
            </a:r>
            <a:r>
              <a:rPr lang="en-US" altLang="zh-CN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Pandas API</a:t>
            </a:r>
            <a:r>
              <a:rPr lang="zh-CN" altLang="en-US" sz="1400">
                <a:latin typeface="阿里巴巴普惠体 Medium" panose="00020600040101010101" charset="-122"/>
                <a:ea typeface="阿里巴巴普惠体 Medium" panose="00020600040101010101" charset="-122"/>
                <a:cs typeface="阿里巴巴普惠体 Medium" panose="00020600040101010101" charset="-122"/>
              </a:rPr>
              <a:t>的支持</a:t>
            </a:r>
            <a:endParaRPr lang="zh-CN" altLang="en-US" sz="1400">
              <a:latin typeface="阿里巴巴普惠体 Medium" panose="00020600040101010101" charset="-122"/>
              <a:ea typeface="阿里巴巴普惠体 Medium" panose="00020600040101010101" charset="-122"/>
              <a:cs typeface="阿里巴巴普惠体 Medium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85080" y="2680335"/>
            <a:ext cx="5716905" cy="3428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30675" y="2680335"/>
            <a:ext cx="838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阿里巴巴普惠体 Medium" panose="00020600040101010101" charset="-122"/>
                <a:ea typeface="阿里巴巴普惠体 Medium" panose="00020600040101010101" charset="-122"/>
              </a:rPr>
              <a:t>重磅升级</a:t>
            </a:r>
            <a:endParaRPr lang="zh-CN" altLang="en-US">
              <a:solidFill>
                <a:schemeClr val="bg1"/>
              </a:solidFill>
              <a:latin typeface="阿里巴巴普惠体 Medium" panose="00020600040101010101" charset="-122"/>
              <a:ea typeface="阿里巴巴普惠体 Medium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" y="2595880"/>
            <a:ext cx="11856085" cy="1329690"/>
          </a:xfrm>
        </p:spPr>
        <p:txBody>
          <a:bodyPr/>
          <a:lstStyle/>
          <a:p>
            <a:r>
              <a:rPr kumimoji="1" lang="en-US" alt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Spark</a:t>
            </a:r>
            <a:r>
              <a:rPr kumimoji="1"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基础入门</a:t>
            </a:r>
            <a:endParaRPr kumimoji="1"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31398" y="1096645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第一部分：</a:t>
            </a:r>
            <a:r>
              <a:rPr lang="en-US" altLang="zh-CN" dirty="0"/>
              <a:t>Spark</a:t>
            </a:r>
            <a:r>
              <a:rPr lang="zh-CN" altLang="en-US" dirty="0"/>
              <a:t>基础入门</a:t>
            </a:r>
            <a:r>
              <a:rPr lang="en-US" altLang="zh-CN" dirty="0"/>
              <a:t> </a:t>
            </a:r>
            <a:r>
              <a:rPr lang="zh-CN" altLang="en-US" dirty="0"/>
              <a:t>学习目标：</a:t>
            </a:r>
            <a:endParaRPr lang="zh-CN" altLang="en-US" dirty="0"/>
          </a:p>
          <a:p>
            <a:r>
              <a:rPr lang="zh-CN" altLang="en-US" dirty="0"/>
              <a:t>【</a:t>
            </a:r>
            <a:r>
              <a:rPr lang="zh-CN" altLang="en-US" dirty="0">
                <a:sym typeface="+mn-ea"/>
              </a:rPr>
              <a:t>了解</a:t>
            </a:r>
            <a:r>
              <a:rPr lang="zh-CN" altLang="en-US" dirty="0"/>
              <a:t>】</a:t>
            </a:r>
            <a:r>
              <a:rPr lang="en-US" altLang="zh-CN" dirty="0"/>
              <a:t>Spark</a:t>
            </a:r>
            <a:r>
              <a:rPr lang="zh-CN" altLang="en-US" dirty="0"/>
              <a:t>诞生背景</a:t>
            </a:r>
            <a:endParaRPr lang="zh-CN" altLang="en-US" dirty="0"/>
          </a:p>
          <a:p>
            <a:r>
              <a:rPr lang="zh-CN" altLang="en-US" dirty="0"/>
              <a:t>【</a:t>
            </a:r>
            <a:r>
              <a:rPr lang="zh-CN" altLang="en-US" dirty="0">
                <a:sym typeface="+mn-ea"/>
              </a:rPr>
              <a:t>了解】</a:t>
            </a:r>
            <a:r>
              <a:rPr lang="en-US" altLang="zh-CN" dirty="0"/>
              <a:t>Spark</a:t>
            </a:r>
            <a:r>
              <a:rPr lang="zh-CN" altLang="en-US" dirty="0"/>
              <a:t>的应用场景</a:t>
            </a:r>
            <a:endParaRPr lang="zh-CN" altLang="en-US" dirty="0"/>
          </a:p>
          <a:p>
            <a:r>
              <a:rPr lang="zh-CN" altLang="en-US" dirty="0"/>
              <a:t>【</a:t>
            </a:r>
            <a:r>
              <a:rPr lang="zh-CN" altLang="en-US" dirty="0">
                <a:sym typeface="+mn-ea"/>
              </a:rPr>
              <a:t>掌握】</a:t>
            </a:r>
            <a:r>
              <a:rPr lang="en-US" altLang="zh-CN" dirty="0"/>
              <a:t>Spark</a:t>
            </a:r>
            <a:r>
              <a:rPr lang="zh-CN" altLang="en-US" dirty="0"/>
              <a:t>环境的搭建</a:t>
            </a:r>
            <a:endParaRPr lang="zh-CN" altLang="en-US" dirty="0"/>
          </a:p>
          <a:p>
            <a:r>
              <a:rPr lang="zh-CN" altLang="en-US" dirty="0"/>
              <a:t>【</a:t>
            </a:r>
            <a:r>
              <a:rPr lang="zh-CN" altLang="en-US" dirty="0">
                <a:sym typeface="+mn-ea"/>
              </a:rPr>
              <a:t>掌握】</a:t>
            </a:r>
            <a:r>
              <a:rPr lang="en-US" altLang="zh-CN" dirty="0"/>
              <a:t>Spark</a:t>
            </a:r>
            <a:r>
              <a:rPr lang="zh-CN" altLang="en-US" dirty="0"/>
              <a:t>的入门案例</a:t>
            </a:r>
            <a:endParaRPr lang="zh-CN" altLang="en-US" dirty="0"/>
          </a:p>
          <a:p>
            <a:r>
              <a:rPr lang="zh-CN" altLang="en-US" dirty="0"/>
              <a:t>【</a:t>
            </a:r>
            <a:r>
              <a:rPr lang="zh-CN" altLang="en-US" dirty="0">
                <a:sym typeface="+mn-ea"/>
              </a:rPr>
              <a:t>了解】</a:t>
            </a:r>
            <a:r>
              <a:rPr lang="en-US" altLang="zh-CN" dirty="0"/>
              <a:t>Spark</a:t>
            </a:r>
            <a:r>
              <a:rPr lang="zh-CN" altLang="en-US" dirty="0"/>
              <a:t>的基本原理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41277" y="1266092"/>
            <a:ext cx="6049108" cy="369277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kumimoji="1" lang="zh-CN" altLang="en-US" dirty="0" smtClean="0"/>
              <a:t>第一章：Spark 框架概述</a:t>
            </a:r>
            <a:endParaRPr kumimoji="1" lang="zh-CN" altLang="en-US" dirty="0" smtClean="0"/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第二章：S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park环境搭建-Local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第三章：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</a:t>
            </a: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环境搭建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-StandAlone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第四章：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</a:t>
            </a: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环境搭建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-StandAlone-HA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第五章：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Spark</a:t>
            </a: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环境搭建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-Spark On YARN</a:t>
            </a:r>
            <a:endParaRPr lang="en-US" alt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第六章：</a:t>
            </a:r>
            <a:r>
              <a:rPr lang="en-US" altLang="zh-CN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PySpark</a:t>
            </a:r>
            <a:endParaRPr lang="zh-CN" altLang="en-US" dirty="0" smtClean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第七章</a:t>
            </a: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：本机开发环境搭建</a:t>
            </a:r>
            <a:endParaRPr lang="zh-CN" altLang="en-US" dirty="0" smtClean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  <a:p>
            <a:pPr algn="l">
              <a:buFont typeface="+mj-lt"/>
              <a:buAutoNum type="arabicPeriod"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第八章</a:t>
            </a: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：</a:t>
            </a:r>
            <a:r>
              <a:rPr 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分布式代码执行分析</a:t>
            </a:r>
            <a:endParaRPr lang="zh-CN" altLang="en-US" dirty="0" smtClean="0">
              <a:latin typeface="Alibaba PuHuiTi B" pitchFamily="18" charset="-122"/>
              <a:ea typeface="Alibaba PuHuiTi B" pitchFamily="18" charset="-122"/>
              <a:cs typeface="Alibaba PuHuiTi B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096462" y="2768759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S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park 框架概述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第一章</a:t>
            </a:r>
            <a:endParaRPr lang="zh-CN" altLang="en-US" sz="2400" dirty="0" smtClean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/>
        </p:nvSpPr>
        <p:spPr>
          <a:xfrm>
            <a:off x="502824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 smtClean="0">
                <a:sym typeface="+mn-ea"/>
              </a:rPr>
              <a:t>1.1 </a:t>
            </a:r>
            <a:r>
              <a:rPr kumimoji="1" lang="en-US" altLang="zh-CN" dirty="0">
                <a:sym typeface="+mn-ea"/>
              </a:rPr>
              <a:t>Spark 是什么</a:t>
            </a:r>
            <a:endParaRPr kumimoji="1" lang="en-US" altLang="zh-CN" dirty="0">
              <a:sym typeface="+mn-ea"/>
            </a:endParaRPr>
          </a:p>
          <a:p>
            <a:pPr algn="l"/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altLang="zh-CN" dirty="0" smtClean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Spark风雨十年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kumimoji="1" lang="en-US" dirty="0" smtClean="0">
                <a:sym typeface="+mn-ea"/>
              </a:rPr>
              <a:t>1</a:t>
            </a:r>
            <a:r>
              <a:rPr kumimoji="1" dirty="0" smtClean="0">
                <a:sym typeface="+mn-ea"/>
              </a:rPr>
              <a:t>.3 </a:t>
            </a:r>
            <a:r>
              <a:rPr kumimoji="1" dirty="0">
                <a:sym typeface="+mn-ea"/>
              </a:rPr>
              <a:t>扩展阅读：Spark VS Hadoop</a:t>
            </a:r>
            <a:endParaRPr kumimoji="1" dirty="0">
              <a:sym typeface="+mn-ea"/>
            </a:endParaRPr>
          </a:p>
          <a:p>
            <a:r>
              <a:rPr kumimoji="1" lang="en-US" dirty="0" smtClean="0">
                <a:sym typeface="+mn-ea"/>
              </a:rPr>
              <a:t>1</a:t>
            </a:r>
            <a:r>
              <a:rPr kumimoji="1" dirty="0" smtClean="0">
                <a:sym typeface="+mn-ea"/>
              </a:rPr>
              <a:t>.4 </a:t>
            </a:r>
            <a:r>
              <a:rPr kumimoji="1" dirty="0">
                <a:sym typeface="+mn-ea"/>
              </a:rPr>
              <a:t>Spark 四大特点</a:t>
            </a:r>
            <a:endParaRPr kumimoji="1" dirty="0">
              <a:sym typeface="+mn-ea"/>
            </a:endParaRPr>
          </a:p>
          <a:p>
            <a:r>
              <a:rPr kumimoji="1" lang="en-US" dirty="0" smtClean="0">
                <a:sym typeface="+mn-ea"/>
              </a:rPr>
              <a:t>1</a:t>
            </a:r>
            <a:r>
              <a:rPr kumimoji="1" dirty="0" smtClean="0">
                <a:sym typeface="+mn-ea"/>
              </a:rPr>
              <a:t>.5 </a:t>
            </a:r>
            <a:r>
              <a:rPr kumimoji="1" dirty="0">
                <a:sym typeface="+mn-ea"/>
              </a:rPr>
              <a:t>Spark 框架模块-了解</a:t>
            </a:r>
            <a:endParaRPr kumimoji="1" dirty="0">
              <a:sym typeface="+mn-ea"/>
            </a:endParaRPr>
          </a:p>
          <a:p>
            <a:r>
              <a:rPr kumimoji="1" lang="en-US" dirty="0" smtClean="0">
                <a:sym typeface="+mn-ea"/>
              </a:rPr>
              <a:t>1</a:t>
            </a:r>
            <a:r>
              <a:rPr kumimoji="1" dirty="0" smtClean="0">
                <a:sym typeface="+mn-ea"/>
              </a:rPr>
              <a:t>.6 </a:t>
            </a:r>
            <a:r>
              <a:rPr kumimoji="1" dirty="0">
                <a:sym typeface="+mn-ea"/>
              </a:rPr>
              <a:t>Spark 运行模式</a:t>
            </a:r>
            <a:endParaRPr kumimoji="1" dirty="0">
              <a:sym typeface="+mn-ea"/>
            </a:endParaRPr>
          </a:p>
          <a:p>
            <a:r>
              <a:rPr kumimoji="1" lang="en-US" dirty="0">
                <a:sym typeface="+mn-ea"/>
              </a:rPr>
              <a:t>1.7 Spark </a:t>
            </a:r>
            <a:r>
              <a:rPr kumimoji="1" lang="zh-CN" altLang="en-US" dirty="0">
                <a:sym typeface="+mn-ea"/>
              </a:rPr>
              <a:t>架构</a:t>
            </a:r>
            <a:r>
              <a:rPr kumimoji="1" lang="zh-CN" altLang="en-US" dirty="0">
                <a:sym typeface="+mn-ea"/>
              </a:rPr>
              <a:t>角色</a:t>
            </a:r>
            <a:endParaRPr kumimoji="1"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Spark是什么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定义：Apache Spark是用于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大规模数据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（large-scala data）处理的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统一（unified）分析引擎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3060" y="2033270"/>
            <a:ext cx="6216650" cy="12185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09320" y="3540760"/>
            <a:ext cx="111112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最早源于一篇论文 Resilient Distributed Datasets: A Fault-Tolerant Abstraction for In-Memory Cluster Computing，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该论文是由加州大学柏克莱分校的 Matei Zaharia 等人发表的。论文中提出了一种弹性分布式数据集（即 RDD）的概念。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7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80" y="4351655"/>
            <a:ext cx="5688965" cy="4914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909320" y="5044440"/>
            <a:ext cx="10201275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翻译过来就是：RDD 是一种分布式内存抽象，其使得程序员能够在大规模集群中做内存运算，并且有一定的容错方式。而这也是整个 Spark 的核心数据结构，Spark 整个平台都围绕着RDD进行。 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Spark是什么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定义：Apache Spark是用于</a:t>
            </a:r>
            <a:r>
              <a:rPr lang="zh-CN" altLang="en-US" sz="1400" b="1" dirty="0">
                <a:solidFill>
                  <a:srgbClr val="C00000"/>
                </a:solidFill>
                <a:latin typeface="+mn-lt"/>
                <a:ea typeface="+mn-ea"/>
              </a:rPr>
              <a:t>大规模数据（large-scala data）处理的统一（unified）分析引擎。</a:t>
            </a:r>
            <a:endParaRPr lang="zh-CN" altLang="en-US" sz="1400" b="1" dirty="0">
              <a:solidFill>
                <a:srgbClr val="C00000"/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2160" y="5947410"/>
            <a:ext cx="111112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简而言之，Spark 借鉴了 MapReduce 思想发展而来，保留了其分布式并行计算的优点并改进了其明显的缺陷。让中间数据存储在内存中提高了运行速度、并提供丰富的操作数据的API提高了开发速度。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2" name="图片 2"/>
          <p:cNvPicPr>
            <a:picLocks noChangeAspect="1"/>
          </p:cNvPicPr>
          <p:nvPr/>
        </p:nvPicPr>
        <p:blipFill>
          <a:blip r:embed="rId1"/>
          <a:srcRect t="4501" r="1673" b="4167"/>
          <a:stretch>
            <a:fillRect/>
          </a:stretch>
        </p:blipFill>
        <p:spPr>
          <a:xfrm>
            <a:off x="1430655" y="2115185"/>
            <a:ext cx="7880985" cy="3173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Spark是什么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统一分析引擎？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是一款分布式内存计算的统一分析引擎。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其特点就是对任意类型的数据进行自定义计算。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可以计算：结构化、半结构化、非结构化等各种类型的数据结构，同时也支持使用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Scala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以及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语言去开发应用程序计算数据。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的适用面非常广泛，所以，被称之为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统一的（适用面广）的分析引擎（数据处理）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Spark风雨十年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0060"/>
          </a:xfrm>
        </p:spPr>
        <p:txBody>
          <a:bodyPr/>
          <a:lstStyle/>
          <a:p>
            <a:r>
              <a:rPr lang="zh-CN" altLang="en-US" sz="1400"/>
              <a:t>Spark 是加州大学伯克利分校AMP实验室（Algorithms Machines and People Lab）开发的通用大数据处理框架。</a:t>
            </a:r>
            <a:endParaRPr lang="zh-CN" altLang="en-US" sz="1400"/>
          </a:p>
          <a:p>
            <a:r>
              <a:rPr lang="zh-CN" altLang="en-US" sz="1400"/>
              <a:t>Spark的发展历史，经历过几大重要阶段，如下图所示：</a:t>
            </a:r>
            <a:endParaRPr lang="zh-CN" altLang="en-US" sz="1400"/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5235"/>
            <a:ext cx="7419975" cy="4104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Spark风雨十年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0060"/>
          </a:xfrm>
        </p:spPr>
        <p:txBody>
          <a:bodyPr/>
          <a:lstStyle/>
          <a:p>
            <a:r>
              <a:rPr lang="zh-CN" altLang="en-US" sz="1400"/>
              <a:t>Stack Overflow的数据可以看出，2015年开始Spark每月的问题提交数量已经超越Hadoop，而2018年Spark Python版本的API PySpark每月的问题提交数量也已超过Hadoop。2019年排名Spark第一，PySpark第二；而十年的累计排名是Spark第一，PySpark第三。按照这个趋势发展下去，Spark和PySpark在未来很长一段时间内应该还会处于垄断地位。</a:t>
            </a:r>
            <a:endParaRPr lang="zh-CN" altLang="en-US" sz="1400"/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305" y="2912110"/>
            <a:ext cx="6776085" cy="3633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Spark风雨十年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2427605"/>
            <a:ext cx="4729480" cy="31032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814705" y="1457325"/>
            <a:ext cx="8791575" cy="2527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url: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https://spark.apache.org/releases/spark-release-3-2-0.html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4705" y="1807210"/>
            <a:ext cx="111112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十年走来，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目前已经迭代到了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3.2.0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2021.10.13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发布），本次课程基于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最新的</a:t>
            </a: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3.2.0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版本进行授课。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240" y="2500630"/>
            <a:ext cx="6526530" cy="29571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扩展阅读：Spark VS Hadoop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(MapReduce)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和前面学习的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Hadoop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技术栈有何区别呢？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395220" y="2275205"/>
          <a:ext cx="7658735" cy="2927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1095"/>
                <a:gridCol w="3186430"/>
                <a:gridCol w="3331210"/>
              </a:tblGrid>
              <a:tr h="40195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Hadoop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Spark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类型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基础平台, 包含计算, 存储, 调度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纯计算工具（分布式）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73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场景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海量数据批处理（磁盘迭代计算）</a:t>
                      </a:r>
                      <a:endParaRPr lang="zh-CN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海量数据的批处理（内存迭代计算、交互式计算）、海量数据</a:t>
                      </a: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流计算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价格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对机器要求低, 便宜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对内存有要求, 相对较贵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编程范式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Map+Reduce, API 较为底层, 算法适应性差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RDD组成DAG有向无环图, API 较为顶层, 方便使用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数据存储结构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MapReduce中间计算结果在HDFS磁盘上, 延迟大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RDD中间运算结果在内存中 , 延迟小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运行方式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Task以进程方式维护, 任务启动慢</a:t>
                      </a:r>
                      <a:endParaRPr lang="en-US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Task以线程方式维护, 任务启动快</a:t>
                      </a:r>
                      <a:r>
                        <a:rPr lang="zh-CN" altLang="en-US" sz="1000" b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微软雅黑 Light" panose="020B0502040204020203" pitchFamily="34" charset="-122"/>
                        </a:rPr>
                        <a:t>，可批量创建提高并行能力</a:t>
                      </a:r>
                      <a:endParaRPr lang="zh-CN" altLang="en-US" sz="1000" b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微软雅黑 Light" panose="020B0502040204020203" pitchFamily="34" charset="-122"/>
                      </a:endParaRPr>
                    </a:p>
                  </a:txBody>
                  <a:tcPr marL="9525" marR="9525" marT="9525" marB="9525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21335" y="5344795"/>
            <a:ext cx="1107757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尽管Spark相对于Hadoop而言具有较大优势，但Spark并不能完全替代Hadoop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在计算层面，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相比较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MapReduce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）有巨大的性能优势，但至今仍有许多计算工具基于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构架，比如非常成熟的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Hive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仅做计算，而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Hadoop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生态圈不仅有计算（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）也有存储（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HDFS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）和资源管理调度（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YARN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HDFS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YARN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仍是许多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大数据体系的核心架构。</a:t>
            </a:r>
            <a:endParaRPr 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扩展阅读：Spark VS Hadoop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面试题：Hadoop的基于进程的计算和Spark基于线程方式优缺点？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答案：</a:t>
            </a:r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Hadoop中的MR中每个map/reduce task都是一个java进程方式运行，好处在于进程之间是互相独立的，每个task独享进程资源，没有互相干扰，监控方便，但是问题在于task之间不方便共享数据，执行效率比较低。比如多个map task读取不同数据源文件需要将数据源加载到每个map task中，造成重复加载和浪费内存。而基于线程的方式计算是为了数据共享和提高执行效率，Spark采用了线程的最小的执行单位，但缺点是线程之间会有资源竞争。</a:t>
            </a:r>
            <a:endParaRPr lang="zh-CN" altLang="en-US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8210" y="4175125"/>
            <a:ext cx="6204585" cy="21380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【扩展阅读】：线程基本概念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线程是CPU的基本调度单位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一个进程一般包含多个线程, 一个进程下的多个线程共享进程的资源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不同进程之间的线程相互不可见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线程不能独立执行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一个线程可以创建和撤销另外一个线程</a:t>
            </a:r>
            <a:endParaRPr lang="zh-CN" altLang="en-US" sz="14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四大特点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680" y="1750060"/>
            <a:ext cx="7487920" cy="41586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四大特点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速度快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由于Apache Spark支持内存计算，并且通过DAG（有向无环图）执行引擎支持无环数据流，所以官方宣称其在内存中的运算速度要比Hadoop的MapReduce快100倍，在硬盘中要快10倍。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5470" y="5506085"/>
            <a:ext cx="1094867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Spark处理数据与MapReduce处理数据相比，有如下两个不同点：</a:t>
            </a:r>
            <a:endParaRPr lang="zh-CN" altLang="en-US" sz="14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其一、Spark处理数据时，可以将中间处理结果数据存储到内存中；</a:t>
            </a:r>
            <a:endParaRPr lang="zh-CN" altLang="en-US" sz="14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其二、Spark</a:t>
            </a:r>
            <a:r>
              <a:rPr lang="en-US" altLang="zh-CN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提供了非常丰富的算子</a:t>
            </a:r>
            <a:r>
              <a:rPr lang="en-US" altLang="zh-CN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(API), </a:t>
            </a: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可以做到复杂任务在一个</a:t>
            </a:r>
            <a:r>
              <a:rPr lang="en-US" altLang="zh-CN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</a:t>
            </a:r>
            <a:r>
              <a:rPr lang="zh-CN" altLang="en-US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程序中完成</a:t>
            </a:r>
            <a:r>
              <a:rPr lang="en-US" altLang="zh-CN" sz="14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endParaRPr lang="en-US" altLang="zh-CN" sz="14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2" name="图片 7"/>
          <p:cNvPicPr>
            <a:picLocks noChangeAspect="1"/>
          </p:cNvPicPr>
          <p:nvPr/>
        </p:nvPicPr>
        <p:blipFill>
          <a:blip r:embed="rId1"/>
          <a:srcRect t="8374" b="5700"/>
          <a:stretch>
            <a:fillRect/>
          </a:stretch>
        </p:blipFill>
        <p:spPr>
          <a:xfrm>
            <a:off x="3079115" y="3048635"/>
            <a:ext cx="3843655" cy="222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四大特点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易于使用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的版本已经更新到 Spark </a:t>
            </a:r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3.2.0</a:t>
            </a: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（截止日期2021.</a:t>
            </a:r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en-US" altLang="zh-CN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13</a:t>
            </a: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），支持了包括 Java、Scala、Python 、R和SQL语言在内的多种语言。为了兼容Spark2.x企业级应用场景，Spark仍然持续更新Spark2版本。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8"/>
          <p:cNvPicPr>
            <a:picLocks noChangeAspect="1"/>
          </p:cNvPicPr>
          <p:nvPr/>
        </p:nvPicPr>
        <p:blipFill>
          <a:blip r:embed="rId1"/>
          <a:srcRect t="10707" b="5996"/>
          <a:stretch>
            <a:fillRect/>
          </a:stretch>
        </p:blipFill>
        <p:spPr>
          <a:xfrm>
            <a:off x="3759835" y="3059430"/>
            <a:ext cx="3975100" cy="128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四大特点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edium" panose="00020600040101010101" charset="-122"/>
                <a:ea typeface="阿里巴巴普惠体 Medium" panose="00020600040101010101" charset="-122"/>
              </a:rPr>
              <a:t>通用性强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Medium" panose="00020600040101010101" charset="-122"/>
              <a:ea typeface="阿里巴巴普惠体 Medium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 Spark 的基础上，Spark 还提供了包括Spark SQL、Spark Streaming、MLib 及GraphX在内的多个工具库，我们可以在一个应用中无缝地使用这些工具库。</a:t>
            </a:r>
            <a:endParaRPr lang="zh-CN" altLang="en-US" sz="14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4" name="图片 9"/>
          <p:cNvPicPr>
            <a:picLocks noChangeAspect="1"/>
          </p:cNvPicPr>
          <p:nvPr/>
        </p:nvPicPr>
        <p:blipFill>
          <a:blip r:embed="rId1"/>
          <a:srcRect l="1952" t="4176"/>
          <a:stretch>
            <a:fillRect/>
          </a:stretch>
        </p:blipFill>
        <p:spPr>
          <a:xfrm>
            <a:off x="3167380" y="3080703"/>
            <a:ext cx="5582920" cy="272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四大特点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运行方式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2191385"/>
            <a:ext cx="111112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 支持多种运行方式，包括在 Hadoop 和 Mesos 上，也支持 Standalone的独立运行模式，同时也可以运行在云Kubernetes（Spark 2.3开始支持）上。</a:t>
            </a:r>
            <a:endParaRPr lang="zh-CN" altLang="en-US" sz="1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2996565"/>
            <a:ext cx="2787015" cy="25266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042670" y="5789930"/>
            <a:ext cx="9925685" cy="414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对于数据源而言，Spark 支持从HDFS、HBase、Cassandra 及 Kafka 等多种途径获取数据。</a:t>
            </a:r>
            <a:endParaRPr lang="zh-CN" altLang="en-US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65" y="3221355"/>
            <a:ext cx="3094990" cy="21882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9210040" y="3986530"/>
            <a:ext cx="2733040" cy="8991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i、文件系统：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LocalFS、HDFS、</a:t>
            </a: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Hive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、text、parquet、orc、json、csv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ii、数据库RDBMs：</a:t>
            </a: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mysql、Oracle、mssql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iii、NOSQL数据库：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HBase、ES、Redis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iv、消息对象：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Kafka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.5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Spark 框架模块-了解</a:t>
            </a:r>
            <a:endParaRPr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1850" y="1591945"/>
            <a:ext cx="11111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整个Spark 框架模块包含：Spark C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、 Spark SQL、 Spark Streaming、 Spark GraphX、 Spark MLlib，而后四项的能力都是建立在核心引擎之上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1850" y="3930015"/>
            <a:ext cx="11111230" cy="24612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 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的核心，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核心功能均由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 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模块提供，是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运行的基础。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 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RDD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为数据抽象，提供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Python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Java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Scala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语言的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API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，可以编程进行海量离线数据批处理计算。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：基于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之上，提供结构化数据的处理模块。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支持以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语言对数据进行处理，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本身针对离线计算场景。同时基于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提供了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StructuredStreaming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模块，可以以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为基础，进行数据的流式计算。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SparkStreaming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：以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为基础，提供数据的流式计算功能。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MLlib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：以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为基础，进行机器学习计算，内置了大量的机器学习库和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API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算法等。方便用户以分布式计算的模式进行机器学习计算。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GraphX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：以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SparkCore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为基础，进行图计算，提供了大量的图计算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API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，方便用于以分布式计算模式进行图计算。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868420" y="1849120"/>
            <a:ext cx="4235450" cy="21666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1.6 Spark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的运行模式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- 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了解</a:t>
            </a:r>
            <a:endParaRPr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29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04635" y="3208020"/>
            <a:ext cx="5689600" cy="16751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10565" y="1918335"/>
            <a:ext cx="6805295" cy="40309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Spark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提供多种运行模式，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包括：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本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地模式（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单机）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本地模式就是以一个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独立的进程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，通过其内部的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多个线程来模拟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整个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运行时环境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Standalone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模式（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集群）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 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中的各个角色以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独立进程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的形式存在，并组成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集群环境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Hadoop YARN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模式（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集群）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 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中的各个角色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运行在</a:t>
            </a:r>
            <a:r>
              <a:rPr lang="en-US" altLang="zh-CN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YARN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的容器内部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，并组成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集群环境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- Kubernetes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模式（容器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集群）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    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中的各个角色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运行在</a:t>
            </a:r>
            <a:r>
              <a:rPr lang="en-US" altLang="zh-CN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Kubernetes</a:t>
            </a:r>
            <a:r>
              <a:rPr lang="zh-CN" altLang="en-US" sz="12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的容器内部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，并组成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Spark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sym typeface="+mn-ea"/>
              </a:rPr>
              <a:t>集群环境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云服务模式（运行在云平台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上）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......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1.7 Spark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的架构角色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- 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理解</a:t>
            </a:r>
            <a:endParaRPr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7250" y="1610360"/>
            <a:ext cx="2026285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YARN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角色回顾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7250" y="2364105"/>
            <a:ext cx="4051300" cy="22453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YARN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主要有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类角色，从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个层面去看：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资源管理层面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集群资源管理者（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ResourceManager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单机资源管理者（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Worker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NodeManager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任务计算层面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单任务管理者（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Master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ApplicationMaster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单任务执行者（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Worker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）：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Task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（容器内计算框架的工作角色）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949315" y="2288540"/>
            <a:ext cx="5927725" cy="3235960"/>
            <a:chOff x="9369" y="3604"/>
            <a:chExt cx="9335" cy="5096"/>
          </a:xfrm>
        </p:grpSpPr>
        <p:sp>
          <p:nvSpPr>
            <p:cNvPr id="6" name="圆角矩形 5"/>
            <p:cNvSpPr/>
            <p:nvPr/>
          </p:nvSpPr>
          <p:spPr>
            <a:xfrm>
              <a:off x="11514" y="3604"/>
              <a:ext cx="4810" cy="103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ResourceManager</a:t>
              </a:r>
              <a:endParaRPr lang="en-US" altLang="zh-CN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9369" y="5948"/>
              <a:ext cx="3849" cy="27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Node</a:t>
              </a:r>
              <a:r>
                <a:rPr lang="en-US" altLang="zh-CN"/>
                <a:t>Manager</a:t>
              </a:r>
              <a:endParaRPr lang="en-US" altLang="zh-CN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4856" y="5948"/>
              <a:ext cx="3849" cy="275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Node</a:t>
              </a:r>
              <a:r>
                <a:rPr lang="en-US" altLang="zh-CN"/>
                <a:t>Manager</a:t>
              </a:r>
              <a:endParaRPr lang="en-US" altLang="zh-CN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9481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 b="1">
                  <a:solidFill>
                    <a:srgbClr val="FF0000"/>
                  </a:solidFill>
                </a:rPr>
                <a:t>ApplicationMaster</a:t>
              </a:r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3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/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49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6885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cxnSp>
          <p:nvCxnSpPr>
            <p:cNvPr id="13" name="直接箭头连接符 12"/>
            <p:cNvCxnSpPr>
              <a:stCxn id="7" idx="0"/>
              <a:endCxn id="6" idx="2"/>
            </p:cNvCxnSpPr>
            <p:nvPr/>
          </p:nvCxnSpPr>
          <p:spPr>
            <a:xfrm flipV="1">
              <a:off x="11294" y="4639"/>
              <a:ext cx="2625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8" idx="0"/>
              <a:endCxn id="6" idx="2"/>
            </p:cNvCxnSpPr>
            <p:nvPr/>
          </p:nvCxnSpPr>
          <p:spPr>
            <a:xfrm flipH="1" flipV="1">
              <a:off x="13919" y="4639"/>
              <a:ext cx="2862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10" idx="1"/>
              <a:endCxn id="9" idx="3"/>
            </p:cNvCxnSpPr>
            <p:nvPr/>
          </p:nvCxnSpPr>
          <p:spPr>
            <a:xfrm flipH="1">
              <a:off x="11186" y="6964"/>
              <a:ext cx="197" cy="0"/>
            </a:xfrm>
            <a:prstGeom prst="straightConnector1">
              <a:avLst/>
            </a:prstGeom>
            <a:ln w="28575" cmpd="sng">
              <a:solidFill>
                <a:srgbClr val="B70006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曲线连接符 15"/>
            <p:cNvCxnSpPr>
              <a:stCxn id="11" idx="1"/>
              <a:endCxn id="9" idx="2"/>
            </p:cNvCxnSpPr>
            <p:nvPr/>
          </p:nvCxnSpPr>
          <p:spPr>
            <a:xfrm rot="10800000" flipV="1">
              <a:off x="10333" y="6964"/>
              <a:ext cx="4649" cy="610"/>
            </a:xfrm>
            <a:prstGeom prst="curvedConnector4">
              <a:avLst>
                <a:gd name="adj1" fmla="val 24456"/>
                <a:gd name="adj2" fmla="val 148196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曲线连接符 17"/>
            <p:cNvCxnSpPr>
              <a:stCxn id="12" idx="0"/>
              <a:endCxn id="9" idx="0"/>
            </p:cNvCxnSpPr>
            <p:nvPr/>
          </p:nvCxnSpPr>
          <p:spPr>
            <a:xfrm rot="16200000" flipV="1">
              <a:off x="14036" y="2651"/>
              <a:ext cx="5" cy="7404"/>
            </a:xfrm>
            <a:prstGeom prst="curvedConnector3">
              <a:avLst>
                <a:gd name="adj1" fmla="val 21610000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1.7 Spark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的架构角色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- 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理解</a:t>
            </a:r>
            <a:endParaRPr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7250" y="1610360"/>
            <a:ext cx="2026285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角色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926580" y="2752090"/>
            <a:ext cx="5198745" cy="2838450"/>
            <a:chOff x="9369" y="3604"/>
            <a:chExt cx="9335" cy="5096"/>
          </a:xfrm>
        </p:grpSpPr>
        <p:sp>
          <p:nvSpPr>
            <p:cNvPr id="6" name="圆角矩形 5"/>
            <p:cNvSpPr/>
            <p:nvPr/>
          </p:nvSpPr>
          <p:spPr>
            <a:xfrm>
              <a:off x="11514" y="3604"/>
              <a:ext cx="4810" cy="103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Master</a:t>
              </a:r>
              <a:endParaRPr lang="en-US" altLang="zh-CN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9369" y="5948"/>
              <a:ext cx="3849" cy="27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Work</a:t>
              </a:r>
              <a:r>
                <a:rPr lang="en-US" altLang="zh-CN"/>
                <a:t>er</a:t>
              </a:r>
              <a:endParaRPr lang="en-US" altLang="zh-CN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4856" y="5948"/>
              <a:ext cx="3849" cy="275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Worker</a:t>
              </a:r>
              <a:endParaRPr lang="en-US" altLang="zh-CN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9481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 b="1">
                  <a:solidFill>
                    <a:srgbClr val="FF0000"/>
                  </a:solidFill>
                </a:rPr>
                <a:t>Driver</a:t>
              </a:r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3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/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49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6885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cxnSp>
          <p:nvCxnSpPr>
            <p:cNvPr id="13" name="直接箭头连接符 12"/>
            <p:cNvCxnSpPr>
              <a:stCxn id="7" idx="0"/>
              <a:endCxn id="6" idx="2"/>
            </p:cNvCxnSpPr>
            <p:nvPr/>
          </p:nvCxnSpPr>
          <p:spPr>
            <a:xfrm flipV="1">
              <a:off x="11294" y="4639"/>
              <a:ext cx="2625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8" idx="0"/>
              <a:endCxn id="6" idx="2"/>
            </p:cNvCxnSpPr>
            <p:nvPr/>
          </p:nvCxnSpPr>
          <p:spPr>
            <a:xfrm flipH="1" flipV="1">
              <a:off x="13919" y="4639"/>
              <a:ext cx="2862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10" idx="1"/>
              <a:endCxn id="9" idx="3"/>
            </p:cNvCxnSpPr>
            <p:nvPr/>
          </p:nvCxnSpPr>
          <p:spPr>
            <a:xfrm flipH="1">
              <a:off x="11186" y="6964"/>
              <a:ext cx="197" cy="0"/>
            </a:xfrm>
            <a:prstGeom prst="straightConnector1">
              <a:avLst/>
            </a:prstGeom>
            <a:ln w="28575" cmpd="sng">
              <a:solidFill>
                <a:srgbClr val="B70006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曲线连接符 15"/>
            <p:cNvCxnSpPr>
              <a:stCxn id="11" idx="1"/>
              <a:endCxn id="9" idx="2"/>
            </p:cNvCxnSpPr>
            <p:nvPr/>
          </p:nvCxnSpPr>
          <p:spPr>
            <a:xfrm rot="10800000" flipV="1">
              <a:off x="10333" y="6964"/>
              <a:ext cx="4649" cy="610"/>
            </a:xfrm>
            <a:prstGeom prst="curvedConnector4">
              <a:avLst>
                <a:gd name="adj1" fmla="val 24456"/>
                <a:gd name="adj2" fmla="val 148196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曲线连接符 17"/>
            <p:cNvCxnSpPr>
              <a:stCxn id="12" idx="0"/>
              <a:endCxn id="9" idx="0"/>
            </p:cNvCxnSpPr>
            <p:nvPr/>
          </p:nvCxnSpPr>
          <p:spPr>
            <a:xfrm rot="16200000" flipV="1">
              <a:off x="14036" y="2651"/>
              <a:ext cx="5" cy="7404"/>
            </a:xfrm>
            <a:prstGeom prst="curvedConnector3">
              <a:avLst>
                <a:gd name="adj1" fmla="val 21610000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516255" y="2762250"/>
            <a:ext cx="5181600" cy="2828925"/>
            <a:chOff x="9369" y="3604"/>
            <a:chExt cx="9335" cy="5096"/>
          </a:xfrm>
        </p:grpSpPr>
        <p:sp>
          <p:nvSpPr>
            <p:cNvPr id="20" name="圆角矩形 19"/>
            <p:cNvSpPr/>
            <p:nvPr/>
          </p:nvSpPr>
          <p:spPr>
            <a:xfrm>
              <a:off x="11514" y="3604"/>
              <a:ext cx="4810" cy="103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ResourceManager</a:t>
              </a:r>
              <a:endParaRPr lang="en-US" altLang="zh-CN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9369" y="5948"/>
              <a:ext cx="3849" cy="27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Node</a:t>
              </a:r>
              <a:r>
                <a:rPr lang="en-US" altLang="zh-CN"/>
                <a:t>Manager</a:t>
              </a:r>
              <a:endParaRPr lang="en-US" altLang="zh-CN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4856" y="5948"/>
              <a:ext cx="3849" cy="275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Node</a:t>
              </a:r>
              <a:r>
                <a:rPr lang="en-US" altLang="zh-CN"/>
                <a:t>Manager</a:t>
              </a:r>
              <a:endParaRPr lang="en-US" altLang="zh-CN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9481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 b="1">
                  <a:solidFill>
                    <a:srgbClr val="FF0000"/>
                  </a:solidFill>
                </a:rPr>
                <a:t>ApplicationMaster</a:t>
              </a:r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13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/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49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16885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Task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cxnSp>
          <p:nvCxnSpPr>
            <p:cNvPr id="27" name="直接箭头连接符 26"/>
            <p:cNvCxnSpPr>
              <a:stCxn id="21" idx="0"/>
              <a:endCxn id="20" idx="2"/>
            </p:cNvCxnSpPr>
            <p:nvPr/>
          </p:nvCxnSpPr>
          <p:spPr>
            <a:xfrm flipV="1">
              <a:off x="11294" y="4639"/>
              <a:ext cx="2625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22" idx="0"/>
              <a:endCxn id="20" idx="2"/>
            </p:cNvCxnSpPr>
            <p:nvPr/>
          </p:nvCxnSpPr>
          <p:spPr>
            <a:xfrm flipH="1" flipV="1">
              <a:off x="13919" y="4639"/>
              <a:ext cx="2862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4" idx="1"/>
              <a:endCxn id="23" idx="3"/>
            </p:cNvCxnSpPr>
            <p:nvPr/>
          </p:nvCxnSpPr>
          <p:spPr>
            <a:xfrm flipH="1">
              <a:off x="11186" y="6964"/>
              <a:ext cx="197" cy="0"/>
            </a:xfrm>
            <a:prstGeom prst="straightConnector1">
              <a:avLst/>
            </a:prstGeom>
            <a:ln w="28575" cmpd="sng">
              <a:solidFill>
                <a:srgbClr val="B70006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曲线连接符 29"/>
            <p:cNvCxnSpPr>
              <a:stCxn id="25" idx="1"/>
              <a:endCxn id="23" idx="2"/>
            </p:cNvCxnSpPr>
            <p:nvPr/>
          </p:nvCxnSpPr>
          <p:spPr>
            <a:xfrm rot="10800000" flipV="1">
              <a:off x="10333" y="6964"/>
              <a:ext cx="4649" cy="610"/>
            </a:xfrm>
            <a:prstGeom prst="curvedConnector4">
              <a:avLst>
                <a:gd name="adj1" fmla="val 24456"/>
                <a:gd name="adj2" fmla="val 148196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曲线连接符 30"/>
            <p:cNvCxnSpPr>
              <a:stCxn id="26" idx="0"/>
              <a:endCxn id="23" idx="0"/>
            </p:cNvCxnSpPr>
            <p:nvPr/>
          </p:nvCxnSpPr>
          <p:spPr>
            <a:xfrm rot="16200000" flipV="1">
              <a:off x="14036" y="2651"/>
              <a:ext cx="5" cy="7404"/>
            </a:xfrm>
            <a:prstGeom prst="curvedConnector3">
              <a:avLst>
                <a:gd name="adj1" fmla="val 21610000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右箭头 31"/>
          <p:cNvSpPr/>
          <p:nvPr/>
        </p:nvSpPr>
        <p:spPr>
          <a:xfrm>
            <a:off x="5920740" y="4063365"/>
            <a:ext cx="795655" cy="31877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1.7 Spark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的架构角色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- </a:t>
            </a:r>
            <a:r>
              <a:rPr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理解</a:t>
            </a:r>
            <a:endParaRPr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7250" y="1610360"/>
            <a:ext cx="2026285" cy="30670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运行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角色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70100"/>
            <a:ext cx="6440170" cy="325945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6653530" y="2670810"/>
            <a:ext cx="5347970" cy="2919730"/>
            <a:chOff x="9369" y="3604"/>
            <a:chExt cx="9335" cy="5096"/>
          </a:xfrm>
        </p:grpSpPr>
        <p:sp>
          <p:nvSpPr>
            <p:cNvPr id="6" name="圆角矩形 5"/>
            <p:cNvSpPr/>
            <p:nvPr/>
          </p:nvSpPr>
          <p:spPr>
            <a:xfrm>
              <a:off x="11514" y="3604"/>
              <a:ext cx="4810" cy="103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Master</a:t>
              </a:r>
              <a:endParaRPr lang="en-US" altLang="zh-CN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9369" y="5948"/>
              <a:ext cx="3849" cy="274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Work</a:t>
              </a:r>
              <a:r>
                <a:rPr lang="en-US" altLang="zh-CN"/>
                <a:t>er</a:t>
              </a:r>
              <a:endParaRPr lang="en-US" altLang="zh-CN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4856" y="5948"/>
              <a:ext cx="3849" cy="275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/>
                <a:t>Worker</a:t>
              </a:r>
              <a:endParaRPr lang="en-US" altLang="zh-CN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9481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 b="1">
                  <a:solidFill>
                    <a:srgbClr val="FF0000"/>
                  </a:solidFill>
                </a:rPr>
                <a:t>Driver</a:t>
              </a:r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endParaRPr lang="en-US" altLang="zh-CN" sz="1000" b="1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3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/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4983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6885" y="6353"/>
              <a:ext cx="1705" cy="122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1"/>
            <a:p>
              <a:pPr algn="ctr"/>
              <a:r>
                <a:rPr lang="en-US" altLang="zh-CN" sz="1000">
                  <a:sym typeface="+mn-ea"/>
                </a:rPr>
                <a:t>Executor</a:t>
              </a:r>
              <a:endParaRPr lang="en-US" altLang="zh-CN" sz="1000"/>
            </a:p>
            <a:p>
              <a:pPr algn="ctr"/>
              <a:endParaRPr lang="en-US" altLang="zh-CN" sz="1000"/>
            </a:p>
            <a:p>
              <a:pPr algn="ctr"/>
              <a:r>
                <a:rPr lang="zh-CN" altLang="en-US" sz="1000"/>
                <a:t>容器</a:t>
              </a:r>
              <a:endParaRPr lang="zh-CN" altLang="en-US" sz="1000"/>
            </a:p>
          </p:txBody>
        </p:sp>
        <p:cxnSp>
          <p:nvCxnSpPr>
            <p:cNvPr id="13" name="直接箭头连接符 12"/>
            <p:cNvCxnSpPr>
              <a:stCxn id="7" idx="0"/>
              <a:endCxn id="6" idx="2"/>
            </p:cNvCxnSpPr>
            <p:nvPr/>
          </p:nvCxnSpPr>
          <p:spPr>
            <a:xfrm flipV="1">
              <a:off x="11294" y="4639"/>
              <a:ext cx="2625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8" idx="0"/>
              <a:endCxn id="6" idx="2"/>
            </p:cNvCxnSpPr>
            <p:nvPr/>
          </p:nvCxnSpPr>
          <p:spPr>
            <a:xfrm flipH="1" flipV="1">
              <a:off x="13919" y="4639"/>
              <a:ext cx="2862" cy="13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10" idx="1"/>
              <a:endCxn id="9" idx="3"/>
            </p:cNvCxnSpPr>
            <p:nvPr/>
          </p:nvCxnSpPr>
          <p:spPr>
            <a:xfrm flipH="1">
              <a:off x="11186" y="6964"/>
              <a:ext cx="197" cy="0"/>
            </a:xfrm>
            <a:prstGeom prst="straightConnector1">
              <a:avLst/>
            </a:prstGeom>
            <a:ln w="28575" cmpd="sng">
              <a:solidFill>
                <a:srgbClr val="B70006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曲线连接符 15"/>
            <p:cNvCxnSpPr>
              <a:stCxn id="11" idx="1"/>
              <a:endCxn id="9" idx="2"/>
            </p:cNvCxnSpPr>
            <p:nvPr/>
          </p:nvCxnSpPr>
          <p:spPr>
            <a:xfrm rot="10800000" flipV="1">
              <a:off x="10333" y="6964"/>
              <a:ext cx="4649" cy="610"/>
            </a:xfrm>
            <a:prstGeom prst="curvedConnector4">
              <a:avLst>
                <a:gd name="adj1" fmla="val 24456"/>
                <a:gd name="adj2" fmla="val 148196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曲线连接符 17"/>
            <p:cNvCxnSpPr>
              <a:stCxn id="12" idx="0"/>
              <a:endCxn id="9" idx="0"/>
            </p:cNvCxnSpPr>
            <p:nvPr/>
          </p:nvCxnSpPr>
          <p:spPr>
            <a:xfrm rot="16200000" flipV="1">
              <a:off x="14036" y="2651"/>
              <a:ext cx="5" cy="7404"/>
            </a:xfrm>
            <a:prstGeom prst="curvedConnector3">
              <a:avLst>
                <a:gd name="adj1" fmla="val 21610000"/>
              </a:avLst>
            </a:prstGeom>
            <a:ln w="12700" cmpd="sng">
              <a:solidFill>
                <a:srgbClr val="B70006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968375" y="6152515"/>
            <a:ext cx="6097270" cy="252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注：正常情况下</a:t>
            </a: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Executor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是干活的角色，不过在特殊场景下（</a:t>
            </a: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Local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模式）</a:t>
            </a:r>
            <a:r>
              <a:rPr lang="en-US" altLang="zh-CN" sz="1050" dirty="0">
                <a:solidFill>
                  <a:srgbClr val="FF0000"/>
                </a:solidFill>
                <a:latin typeface="+mn-lt"/>
                <a:ea typeface="+mn-ea"/>
              </a:rPr>
              <a:t>Driver</a:t>
            </a:r>
            <a:r>
              <a:rPr lang="zh-CN" altLang="en-US" sz="1050" dirty="0">
                <a:solidFill>
                  <a:srgbClr val="FF0000"/>
                </a:solidFill>
                <a:latin typeface="+mn-lt"/>
                <a:ea typeface="+mn-ea"/>
              </a:rPr>
              <a:t>可以即管理又干活</a:t>
            </a:r>
            <a:endParaRPr lang="zh-CN" altLang="en-US" sz="1050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解决什么问题？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海量数据的计算，可以进行离线批处理以及实时流计算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有哪些模块？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核心</a:t>
            </a:r>
            <a:r>
              <a:rPr lang="en-US" altLang="zh-CN" sz="1400"/>
              <a:t>SparkCore</a:t>
            </a:r>
            <a:r>
              <a:rPr lang="zh-CN" altLang="en-US" sz="1400"/>
              <a:t>、</a:t>
            </a:r>
            <a:r>
              <a:rPr lang="en-US" altLang="zh-CN" sz="1400"/>
              <a:t>SQL</a:t>
            </a:r>
            <a:r>
              <a:rPr lang="zh-CN" altLang="en-US" sz="1400"/>
              <a:t>计算（</a:t>
            </a:r>
            <a:r>
              <a:rPr lang="en-US" altLang="zh-CN" sz="1400"/>
              <a:t>SparkSQL</a:t>
            </a:r>
            <a:r>
              <a:rPr lang="zh-CN" altLang="en-US" sz="1400"/>
              <a:t>）、流计算（</a:t>
            </a:r>
            <a:r>
              <a:rPr lang="en-US" altLang="zh-CN" sz="1400"/>
              <a:t>SparkStreaming</a:t>
            </a:r>
            <a:r>
              <a:rPr lang="zh-CN" altLang="en-US" sz="1400"/>
              <a:t>）、图计算（</a:t>
            </a:r>
            <a:r>
              <a:rPr lang="en-US" altLang="zh-CN" sz="1400"/>
              <a:t>GraphX</a:t>
            </a:r>
            <a:r>
              <a:rPr lang="zh-CN" altLang="en-US" sz="1400"/>
              <a:t>）、机器学习（</a:t>
            </a:r>
            <a:r>
              <a:rPr lang="en-US" altLang="zh-CN" sz="1400"/>
              <a:t>MLlib</a:t>
            </a:r>
            <a:r>
              <a:rPr lang="zh-CN" altLang="en-US" sz="1400"/>
              <a:t>）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特点有哪些？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速度快、使用简单、通用性强、多种模式运行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的运行</a:t>
            </a:r>
            <a:r>
              <a:rPr lang="zh-CN" altLang="en-US"/>
              <a:t>模式？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本地模式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集群模式（</a:t>
            </a:r>
            <a:r>
              <a:rPr lang="en-US" altLang="zh-CN" sz="1400"/>
              <a:t>StandAlone</a:t>
            </a:r>
            <a:r>
              <a:rPr lang="zh-CN" altLang="en-US" sz="1400"/>
              <a:t>、</a:t>
            </a:r>
            <a:r>
              <a:rPr lang="en-US" altLang="zh-CN" sz="1400"/>
              <a:t>YARN</a:t>
            </a:r>
            <a:r>
              <a:rPr lang="zh-CN" altLang="en-US" sz="1400"/>
              <a:t>、</a:t>
            </a:r>
            <a:r>
              <a:rPr lang="en-US" altLang="zh-CN" sz="1400"/>
              <a:t>K8S</a:t>
            </a:r>
            <a:r>
              <a:rPr lang="zh-CN" altLang="en-US" sz="1400"/>
              <a:t>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云模式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的运行角色（对比</a:t>
            </a:r>
            <a:r>
              <a:rPr lang="en-US" altLang="zh-CN"/>
              <a:t>YARN</a:t>
            </a:r>
            <a:r>
              <a:rPr lang="zh-CN" altLang="en-US"/>
              <a:t>）？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Master</a:t>
            </a:r>
            <a:r>
              <a:rPr lang="zh-CN" altLang="en-US" sz="1400"/>
              <a:t>：集群资源管理（类同</a:t>
            </a:r>
            <a:r>
              <a:rPr lang="en-US" altLang="zh-CN" sz="1400"/>
              <a:t>ResourceManager</a:t>
            </a:r>
            <a:r>
              <a:rPr lang="zh-CN" altLang="en-US" sz="1400"/>
              <a:t>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Worker</a:t>
            </a:r>
            <a:r>
              <a:rPr lang="zh-CN" altLang="en-US" sz="1400"/>
              <a:t>：单机资源管理（类同</a:t>
            </a:r>
            <a:r>
              <a:rPr lang="en-US" altLang="zh-CN" sz="1400"/>
              <a:t>NodeManager</a:t>
            </a:r>
            <a:r>
              <a:rPr lang="zh-CN" altLang="en-US" sz="1400"/>
              <a:t>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Driver</a:t>
            </a:r>
            <a:r>
              <a:rPr lang="zh-CN" altLang="en-US" sz="1400"/>
              <a:t>：单任务管理者（类同</a:t>
            </a:r>
            <a:r>
              <a:rPr lang="en-US" altLang="zh-CN" sz="1400"/>
              <a:t>ApplicationMaster</a:t>
            </a:r>
            <a:r>
              <a:rPr lang="zh-CN" altLang="en-US" sz="1400"/>
              <a:t>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Executor</a:t>
            </a:r>
            <a:r>
              <a:rPr lang="zh-CN" altLang="en-US" sz="1400"/>
              <a:t>：单任务执行者（类同</a:t>
            </a:r>
            <a:r>
              <a:rPr lang="en-US" altLang="zh-CN" sz="1400"/>
              <a:t>YARN</a:t>
            </a:r>
            <a:r>
              <a:rPr lang="zh-CN" altLang="en-US" sz="1400"/>
              <a:t>容器内的</a:t>
            </a:r>
            <a:r>
              <a:rPr lang="en-US" altLang="zh-CN" sz="1400"/>
              <a:t>Task</a:t>
            </a:r>
            <a:r>
              <a:rPr lang="zh-CN" altLang="en-US" sz="1400"/>
              <a:t>）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087668" y="2768759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S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park环境搭建-Local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第二章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2.1 </a:t>
            </a:r>
            <a:r>
              <a:rPr lang="zh-CN" altLang="en-US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课程服务器环境</a:t>
            </a:r>
            <a:endParaRPr lang="en-US" altLang="zh-CN" dirty="0" smtClean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2.2 Local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模式基本原理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2.3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安装包下载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2.4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基础操作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 smtClean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2.5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测试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2</a:t>
            </a:r>
            <a:r>
              <a:rPr dirty="0" smtClean="0">
                <a:sym typeface="+mn-ea"/>
              </a:rPr>
              <a:t>.</a:t>
            </a:r>
            <a:r>
              <a:rPr lang="en-US" altLang="zh-CN" dirty="0" smtClean="0">
                <a:sym typeface="+mn-ea"/>
              </a:rPr>
              <a:t>1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课程服务器环境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2541905"/>
          </a:xfrm>
        </p:spPr>
        <p:txBody>
          <a:bodyPr/>
          <a:lstStyle/>
          <a:p>
            <a:r>
              <a:rPr lang="zh-CN" altLang="en-US" dirty="0"/>
              <a:t>本次课程使用三台</a:t>
            </a:r>
            <a:r>
              <a:rPr lang="en-US" altLang="zh-CN" dirty="0"/>
              <a:t>Linux</a:t>
            </a:r>
            <a:r>
              <a:rPr lang="zh-CN" altLang="en-US" dirty="0"/>
              <a:t>虚拟机服务器来学习</a:t>
            </a:r>
            <a:r>
              <a:rPr lang="en-US" altLang="zh-CN" dirty="0"/>
              <a:t>, </a:t>
            </a:r>
            <a:r>
              <a:rPr lang="zh-CN" altLang="en-US" dirty="0"/>
              <a:t>三台虚拟机的功能分配是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en-US" altLang="zh-CN" dirty="0"/>
              <a:t>node1: Master(HDFS\YARN\Spark) </a:t>
            </a:r>
            <a:r>
              <a:rPr lang="zh-CN" altLang="en-US" dirty="0"/>
              <a:t>和</a:t>
            </a:r>
            <a:r>
              <a:rPr lang="en-US" altLang="zh-CN" dirty="0"/>
              <a:t> Worker(HDFS\ YARN\ Spark)</a:t>
            </a:r>
            <a:endParaRPr lang="en-US" altLang="zh-CN" dirty="0"/>
          </a:p>
          <a:p>
            <a:r>
              <a:rPr lang="en-US" altLang="zh-CN" dirty="0"/>
              <a:t>node2: Worker(HDFS\ YARN\ Spark)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node3: Worker(HDFS\ YARN\ Spark) 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Hive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集群环境的搭建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同学们有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种选择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sp>
        <p:nvSpPr>
          <p:cNvPr id="7" name="文本占位符 3"/>
          <p:cNvSpPr>
            <a:spLocks noGrp="1"/>
          </p:cNvSpPr>
          <p:nvPr/>
        </p:nvSpPr>
        <p:spPr>
          <a:xfrm>
            <a:off x="710565" y="4197985"/>
            <a:ext cx="6470650" cy="25076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方式</a:t>
            </a:r>
            <a:r>
              <a:rPr lang="en-US" altLang="zh-CN" dirty="0"/>
              <a:t>1: </a:t>
            </a:r>
            <a:r>
              <a:rPr lang="zh-CN" altLang="en-US" dirty="0"/>
              <a:t>自行搭建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同学们可以自行创建三台</a:t>
            </a:r>
            <a:r>
              <a:rPr lang="en-US" altLang="zh-CN" dirty="0">
                <a:sym typeface="+mn-ea"/>
              </a:rPr>
              <a:t>Linux</a:t>
            </a:r>
            <a:r>
              <a:rPr lang="zh-CN" altLang="en-US" dirty="0">
                <a:sym typeface="+mn-ea"/>
              </a:rPr>
              <a:t>虚拟机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服务器集群即可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满足如下要求即可跟着课程操作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已部署好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Hadoop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集群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(HDFS\YARN),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要求版本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Hadoop3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以上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JDK 1.8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操作系统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CentOS 7 (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建议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7.6)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文本占位符 3"/>
          <p:cNvSpPr>
            <a:spLocks noGrp="1"/>
          </p:cNvSpPr>
          <p:nvPr/>
        </p:nvSpPr>
        <p:spPr>
          <a:xfrm>
            <a:off x="6677660" y="4290695"/>
            <a:ext cx="5683885" cy="25076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dirty="0"/>
              <a:t>方式</a:t>
            </a:r>
            <a:r>
              <a:rPr lang="en-US" altLang="zh-CN" dirty="0"/>
              <a:t>2: </a:t>
            </a:r>
            <a:r>
              <a:rPr lang="zh-CN" altLang="en-US" dirty="0"/>
              <a:t>使用课程中提供的虚拟机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课程资料中提供了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台虚拟机的压缩包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同学们解压后导入</a:t>
            </a:r>
            <a:r>
              <a:rPr lang="en-US" altLang="zh-CN" dirty="0">
                <a:sym typeface="+mn-ea"/>
              </a:rPr>
              <a:t>VMWare</a:t>
            </a:r>
            <a:r>
              <a:rPr lang="zh-CN" altLang="en-US" dirty="0">
                <a:sym typeface="+mn-ea"/>
              </a:rPr>
              <a:t>即可</a:t>
            </a:r>
            <a:r>
              <a:rPr lang="en-US" altLang="zh-CN" dirty="0">
                <a:sym typeface="+mn-ea"/>
              </a:rPr>
              <a:t>, </a:t>
            </a:r>
            <a:r>
              <a:rPr lang="zh-CN" altLang="en-US" dirty="0">
                <a:sym typeface="+mn-ea"/>
              </a:rPr>
              <a:t>要求</a:t>
            </a:r>
            <a:r>
              <a:rPr lang="en-US" altLang="zh-CN" dirty="0">
                <a:sym typeface="+mn-ea"/>
              </a:rPr>
              <a:t>:</a:t>
            </a:r>
            <a:endParaRPr lang="en-US" altLang="zh-CN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VMWare WorkStation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要求版本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15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或更高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VMWare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的网段设置为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192.168.88.0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网段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2</a:t>
            </a:r>
            <a:r>
              <a:rPr dirty="0" smtClean="0">
                <a:sym typeface="+mn-ea"/>
              </a:rPr>
              <a:t>.</a:t>
            </a:r>
            <a:r>
              <a:rPr lang="en-US" altLang="zh-CN" dirty="0" smtClean="0">
                <a:sym typeface="+mn-ea"/>
              </a:rPr>
              <a:t>2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基本原理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04545" y="2698115"/>
            <a:ext cx="750443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模式可以限制模拟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Spark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集群环境的线程数量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即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Local[N]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Local[*]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其中</a:t>
            </a: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N代表可以使用N个线程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，每个线程拥有一个cpu core。如果不指定N，则默认是1个线程（该线程有1个core）。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通常Cpu有几个Core，就指定几个线程，最大化利用计算能力.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如果是</a:t>
            </a: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local[*]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，则代表 Run Spark locally with as many worker threads as logical cores on your machine.按照Cpu最多的Cores设置线程数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9" name="图片 5"/>
          <p:cNvPicPr>
            <a:picLocks noChangeAspect="1"/>
          </p:cNvPicPr>
          <p:nvPr/>
        </p:nvPicPr>
        <p:blipFill>
          <a:blip r:embed="rId1"/>
          <a:srcRect t="1548" b="3559"/>
          <a:stretch>
            <a:fillRect/>
          </a:stretch>
        </p:blipFill>
        <p:spPr>
          <a:xfrm>
            <a:off x="8308975" y="2239010"/>
            <a:ext cx="3883025" cy="30206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55980" y="2161540"/>
            <a:ext cx="739902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本质：启动一个JVM Process进程(一个进程里面有多个线程)，执行任务Task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2</a:t>
            </a:r>
            <a:r>
              <a:rPr dirty="0" smtClean="0">
                <a:sym typeface="+mn-ea"/>
              </a:rPr>
              <a:t>.</a:t>
            </a:r>
            <a:r>
              <a:rPr lang="en-US" altLang="zh-CN" dirty="0" smtClean="0">
                <a:sym typeface="+mn-ea"/>
              </a:rPr>
              <a:t>2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基本原理</a:t>
            </a:r>
            <a:endParaRPr lang="zh-CN" altLang="en-US" dirty="0"/>
          </a:p>
        </p:txBody>
      </p:sp>
      <p:sp>
        <p:nvSpPr>
          <p:cNvPr id="2" name="文本占位符 1"/>
          <p:cNvSpPr/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Local </a:t>
            </a:r>
            <a:r>
              <a:rPr lang="zh-CN" altLang="en-US"/>
              <a:t>下的角色</a:t>
            </a:r>
            <a:r>
              <a:rPr lang="zh-CN" altLang="en-US"/>
              <a:t>分布：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资源</a:t>
            </a:r>
            <a:r>
              <a:rPr lang="zh-CN" altLang="en-US"/>
              <a:t>管理：</a:t>
            </a:r>
            <a:endParaRPr lang="zh-CN" altLang="en-US"/>
          </a:p>
          <a:p>
            <a:r>
              <a:rPr lang="en-US" altLang="zh-CN"/>
              <a:t>Master</a:t>
            </a:r>
            <a:r>
              <a:rPr lang="zh-CN" altLang="en-US"/>
              <a:t>：</a:t>
            </a:r>
            <a:r>
              <a:rPr lang="en-US" altLang="zh-CN"/>
              <a:t>Local</a:t>
            </a:r>
            <a:r>
              <a:rPr lang="zh-CN" altLang="en-US"/>
              <a:t>进程</a:t>
            </a:r>
            <a:r>
              <a:rPr lang="zh-CN" altLang="en-US"/>
              <a:t>本身</a:t>
            </a:r>
            <a:endParaRPr lang="zh-CN" altLang="en-US"/>
          </a:p>
          <a:p>
            <a:r>
              <a:rPr lang="en-US" altLang="zh-CN"/>
              <a:t>Worker</a:t>
            </a:r>
            <a:r>
              <a:rPr lang="zh-CN" altLang="en-US"/>
              <a:t>：</a:t>
            </a:r>
            <a:r>
              <a:rPr lang="en-US" altLang="zh-CN"/>
              <a:t>Local</a:t>
            </a:r>
            <a:r>
              <a:rPr lang="zh-CN" altLang="en-US"/>
              <a:t>进程本身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任务</a:t>
            </a:r>
            <a:r>
              <a:rPr lang="zh-CN" altLang="en-US"/>
              <a:t>执行：</a:t>
            </a:r>
            <a:endParaRPr lang="zh-CN" altLang="en-US"/>
          </a:p>
          <a:p>
            <a:r>
              <a:rPr lang="en-US" altLang="zh-CN"/>
              <a:t>Driver</a:t>
            </a:r>
            <a:r>
              <a:rPr lang="zh-CN" altLang="en-US"/>
              <a:t>：</a:t>
            </a:r>
            <a:r>
              <a:rPr lang="en-US"/>
              <a:t>Local</a:t>
            </a:r>
            <a:r>
              <a:rPr lang="zh-CN" altLang="en-US"/>
              <a:t>进程本身</a:t>
            </a:r>
            <a:endParaRPr lang="zh-CN" altLang="en-US"/>
          </a:p>
          <a:p>
            <a:r>
              <a:rPr lang="en-US" altLang="zh-CN"/>
              <a:t>Executor</a:t>
            </a:r>
            <a:r>
              <a:rPr lang="zh-CN" altLang="en-US"/>
              <a:t>：不存在，没有独立的</a:t>
            </a:r>
            <a:r>
              <a:rPr lang="en-US" altLang="zh-CN"/>
              <a:t>Executor</a:t>
            </a:r>
            <a:r>
              <a:rPr lang="zh-CN" altLang="en-US"/>
              <a:t>角色</a:t>
            </a:r>
            <a:r>
              <a:rPr lang="en-US" altLang="zh-CN"/>
              <a:t>, </a:t>
            </a:r>
            <a:r>
              <a:rPr lang="zh-CN" altLang="en-US"/>
              <a:t>由</a:t>
            </a:r>
            <a:r>
              <a:rPr lang="en-US" altLang="zh-CN"/>
              <a:t>Local</a:t>
            </a:r>
            <a:r>
              <a:rPr lang="zh-CN" altLang="en-US"/>
              <a:t>进程</a:t>
            </a:r>
            <a:r>
              <a:rPr lang="en-US" altLang="zh-CN"/>
              <a:t>(</a:t>
            </a:r>
            <a:r>
              <a:rPr lang="zh-CN" altLang="en-US"/>
              <a:t>也就是</a:t>
            </a:r>
            <a:r>
              <a:rPr lang="en-US" altLang="zh-CN"/>
              <a:t>Driver)</a:t>
            </a:r>
            <a:r>
              <a:rPr lang="zh-CN" altLang="en-US"/>
              <a:t>内的线程提供计算能力</a:t>
            </a:r>
            <a:endParaRPr lang="zh-CN" altLang="en-US"/>
          </a:p>
          <a:p>
            <a:r>
              <a:rPr lang="en-US" altLang="zh-CN" sz="1200">
                <a:solidFill>
                  <a:srgbClr val="C00000"/>
                </a:solidFill>
              </a:rPr>
              <a:t>PS: Driver</a:t>
            </a:r>
            <a:r>
              <a:rPr lang="zh-CN" altLang="en-US" sz="1200">
                <a:solidFill>
                  <a:srgbClr val="C00000"/>
                </a:solidFill>
              </a:rPr>
              <a:t>也算一种特殊的</a:t>
            </a:r>
            <a:r>
              <a:rPr lang="en-US" altLang="zh-CN" sz="1200">
                <a:solidFill>
                  <a:srgbClr val="C00000"/>
                </a:solidFill>
              </a:rPr>
              <a:t>Executor, </a:t>
            </a:r>
            <a:r>
              <a:rPr lang="zh-CN" altLang="en-US" sz="1200">
                <a:solidFill>
                  <a:srgbClr val="C00000"/>
                </a:solidFill>
              </a:rPr>
              <a:t>只不过多数时候</a:t>
            </a:r>
            <a:r>
              <a:rPr lang="en-US" altLang="zh-CN" sz="1200">
                <a:solidFill>
                  <a:srgbClr val="C00000"/>
                </a:solidFill>
              </a:rPr>
              <a:t>, </a:t>
            </a:r>
            <a:r>
              <a:rPr lang="zh-CN" altLang="en-US" sz="1200">
                <a:solidFill>
                  <a:srgbClr val="C00000"/>
                </a:solidFill>
              </a:rPr>
              <a:t>我们将</a:t>
            </a:r>
            <a:r>
              <a:rPr lang="en-US" altLang="zh-CN" sz="1200">
                <a:solidFill>
                  <a:srgbClr val="C00000"/>
                </a:solidFill>
              </a:rPr>
              <a:t>Executor</a:t>
            </a:r>
            <a:r>
              <a:rPr lang="zh-CN" altLang="en-US" sz="1200">
                <a:solidFill>
                  <a:srgbClr val="C00000"/>
                </a:solidFill>
              </a:rPr>
              <a:t>当做纯</a:t>
            </a:r>
            <a:r>
              <a:rPr lang="en-US" altLang="zh-CN" sz="1200">
                <a:solidFill>
                  <a:srgbClr val="C00000"/>
                </a:solidFill>
              </a:rPr>
              <a:t>Worker</a:t>
            </a:r>
            <a:r>
              <a:rPr lang="zh-CN" altLang="en-US" sz="1200">
                <a:solidFill>
                  <a:srgbClr val="C00000"/>
                </a:solidFill>
              </a:rPr>
              <a:t>对待</a:t>
            </a:r>
            <a:r>
              <a:rPr lang="en-US" altLang="zh-CN" sz="1200">
                <a:solidFill>
                  <a:srgbClr val="C00000"/>
                </a:solidFill>
              </a:rPr>
              <a:t>, </a:t>
            </a:r>
            <a:r>
              <a:rPr lang="zh-CN" altLang="en-US" sz="1200">
                <a:solidFill>
                  <a:srgbClr val="C00000"/>
                </a:solidFill>
              </a:rPr>
              <a:t>这样和</a:t>
            </a:r>
            <a:r>
              <a:rPr lang="en-US" altLang="zh-CN" sz="1200">
                <a:solidFill>
                  <a:srgbClr val="C00000"/>
                </a:solidFill>
              </a:rPr>
              <a:t>Driver</a:t>
            </a:r>
            <a:r>
              <a:rPr lang="zh-CN" altLang="en-US" sz="1200">
                <a:solidFill>
                  <a:srgbClr val="C00000"/>
                </a:solidFill>
              </a:rPr>
              <a:t>好区分</a:t>
            </a:r>
            <a:r>
              <a:rPr lang="en-US" altLang="zh-CN" sz="1200">
                <a:solidFill>
                  <a:srgbClr val="C00000"/>
                </a:solidFill>
              </a:rPr>
              <a:t>(</a:t>
            </a:r>
            <a:r>
              <a:rPr lang="zh-CN" altLang="en-US" sz="1200">
                <a:solidFill>
                  <a:srgbClr val="C00000"/>
                </a:solidFill>
              </a:rPr>
              <a:t>一类是管理</a:t>
            </a:r>
            <a:r>
              <a:rPr lang="en-US" altLang="zh-CN" sz="1200">
                <a:solidFill>
                  <a:srgbClr val="C00000"/>
                </a:solidFill>
              </a:rPr>
              <a:t> </a:t>
            </a:r>
            <a:r>
              <a:rPr lang="zh-CN" altLang="en-US" sz="1200">
                <a:solidFill>
                  <a:srgbClr val="C00000"/>
                </a:solidFill>
              </a:rPr>
              <a:t>一类是工人</a:t>
            </a:r>
            <a:r>
              <a:rPr lang="en-US" altLang="zh-CN" sz="1200">
                <a:solidFill>
                  <a:srgbClr val="C00000"/>
                </a:solidFill>
              </a:rPr>
              <a:t>)</a:t>
            </a:r>
            <a:endParaRPr lang="zh-CN" altLang="en-US" sz="1200">
              <a:solidFill>
                <a:srgbClr val="C0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en-US" altLang="zh-CN">
                <a:solidFill>
                  <a:srgbClr val="FF0000"/>
                </a:solidFill>
              </a:rPr>
              <a:t>: Local</a:t>
            </a:r>
            <a:r>
              <a:rPr lang="zh-CN" altLang="en-US">
                <a:solidFill>
                  <a:srgbClr val="FF0000"/>
                </a:solidFill>
              </a:rPr>
              <a:t>模式只能运行一个</a:t>
            </a:r>
            <a:r>
              <a:rPr lang="en-US" altLang="zh-CN">
                <a:solidFill>
                  <a:srgbClr val="FF0000"/>
                </a:solidFill>
              </a:rPr>
              <a:t>Spark</a:t>
            </a:r>
            <a:r>
              <a:rPr lang="zh-CN" altLang="en-US">
                <a:solidFill>
                  <a:srgbClr val="FF0000"/>
                </a:solidFill>
              </a:rPr>
              <a:t>程序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如果执行多个</a:t>
            </a:r>
            <a:r>
              <a:rPr lang="en-US" altLang="zh-CN">
                <a:solidFill>
                  <a:srgbClr val="FF0000"/>
                </a:solidFill>
              </a:rPr>
              <a:t>Spark</a:t>
            </a:r>
            <a:r>
              <a:rPr lang="zh-CN" altLang="en-US">
                <a:solidFill>
                  <a:srgbClr val="FF0000"/>
                </a:solidFill>
              </a:rPr>
              <a:t>程序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那就是由多个相互独立的</a:t>
            </a:r>
            <a:r>
              <a:rPr lang="en-US" altLang="zh-CN">
                <a:solidFill>
                  <a:srgbClr val="FF0000"/>
                </a:solidFill>
              </a:rPr>
              <a:t>Local</a:t>
            </a:r>
            <a:r>
              <a:rPr lang="zh-CN" altLang="en-US">
                <a:solidFill>
                  <a:srgbClr val="FF0000"/>
                </a:solidFill>
              </a:rPr>
              <a:t>进程在执行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2061015"/>
          </a:xfrm>
        </p:spPr>
        <p:txBody>
          <a:bodyPr/>
          <a:lstStyle/>
          <a:p>
            <a:r>
              <a:rPr lang="zh-CN" altLang="en-US" dirty="0" smtClean="0"/>
              <a:t>搭建操作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可参考资料提供的部署文档</a:t>
            </a:r>
            <a:r>
              <a:rPr lang="en-US" altLang="zh-CN" dirty="0"/>
              <a:t>&lt;&lt; spark</a:t>
            </a:r>
            <a:r>
              <a:rPr lang="zh-CN" altLang="en-US" dirty="0"/>
              <a:t>部署文档</a:t>
            </a:r>
            <a:r>
              <a:rPr lang="en-US" altLang="zh-CN" dirty="0"/>
              <a:t>.doc </a:t>
            </a:r>
            <a:r>
              <a:rPr lang="en-US" altLang="zh-CN" dirty="0" smtClean="0"/>
              <a:t>&gt;&gt; </a:t>
            </a:r>
            <a:r>
              <a:rPr lang="zh-CN" altLang="en-US" dirty="0" smtClean="0"/>
              <a:t>中关于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模式搭建操作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zh-CN" altLang="en-US" b="1" dirty="0"/>
              <a:t>●开箱即用：直接启动bin目录下的spark-shell: 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/export/server/spark/bin/spark-shell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●运行成功以后，有如下提示信息</a:t>
            </a:r>
            <a:r>
              <a:rPr lang="zh-CN" altLang="en-US" b="1" dirty="0" smtClean="0">
                <a:solidFill>
                  <a:schemeClr val="tx1"/>
                </a:solidFill>
              </a:rPr>
              <a:t>：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95" y="3722761"/>
            <a:ext cx="7717800" cy="26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618220" y="4776470"/>
            <a:ext cx="2999105" cy="106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sc：SparkContext实例对象：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spark：SparkSession实例对象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4040：Web监控页面端口号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698800" cy="517190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搭建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测试</a:t>
            </a:r>
            <a:r>
              <a:rPr lang="en-US" altLang="zh-CN" dirty="0" smtClean="0"/>
              <a:t> - 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bin/pyspark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49730"/>
            <a:ext cx="6892290" cy="658495"/>
          </a:xfrm>
        </p:spPr>
        <p:txBody>
          <a:bodyPr/>
          <a:lstStyle/>
          <a:p>
            <a:r>
              <a:rPr sz="1200" dirty="0"/>
              <a:t>bin/pyspark 程序, 可以提供一个  交互式的 Python解释器环境, 在这里面可以</a:t>
            </a:r>
            <a:r>
              <a:rPr lang="zh-CN" sz="1200" dirty="0"/>
              <a:t>用</a:t>
            </a:r>
            <a:r>
              <a:rPr lang="en-US" altLang="zh-CN" sz="1200" dirty="0"/>
              <a:t>Python</a:t>
            </a:r>
            <a:r>
              <a:rPr lang="zh-CN" altLang="en-US" sz="1200" dirty="0"/>
              <a:t>语言调用</a:t>
            </a:r>
            <a:r>
              <a:rPr lang="en-US" altLang="zh-CN" sz="1200" dirty="0"/>
              <a:t>Spark API </a:t>
            </a:r>
            <a:r>
              <a:rPr lang="zh-CN" altLang="en-US" sz="1200" dirty="0"/>
              <a:t>进行计算</a:t>
            </a:r>
            <a:endParaRPr sz="1200" dirty="0"/>
          </a:p>
          <a:p>
            <a:endParaRPr lang="zh-CN" altLang="en-US" sz="1200" dirty="0"/>
          </a:p>
          <a:p>
            <a:endParaRPr lang="zh-CN" altLang="en-US" sz="900" b="1" dirty="0">
              <a:solidFill>
                <a:schemeClr val="tx1"/>
              </a:solidFill>
            </a:endParaRPr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804545" y="2308225"/>
            <a:ext cx="5365115" cy="2240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3"/>
          <p:cNvSpPr txBox="1"/>
          <p:nvPr/>
        </p:nvSpPr>
        <p:spPr>
          <a:xfrm>
            <a:off x="804545" y="4878705"/>
            <a:ext cx="6478905" cy="7372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示例代码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, 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将数组内容都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+1</a:t>
            </a:r>
            <a:r>
              <a:rPr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进行计算</a:t>
            </a:r>
            <a:r>
              <a:rPr lang="en-US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: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sc.parallelize([1,2,3,4,5]).map(lambda x: x + 1).collect()</a:t>
            </a:r>
            <a:endParaRPr lang="zh-CN" altLang="zh-CN" sz="14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2"/>
          <a:stretch>
            <a:fillRect/>
          </a:stretch>
        </p:blipFill>
        <p:spPr>
          <a:xfrm>
            <a:off x="804545" y="5829300"/>
            <a:ext cx="6406515" cy="554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49730"/>
            <a:ext cx="6892290" cy="658495"/>
          </a:xfrm>
        </p:spPr>
        <p:txBody>
          <a:bodyPr/>
          <a:lstStyle/>
          <a:p>
            <a:r>
              <a:rPr lang="zh-CN" sz="1200" dirty="0"/>
              <a:t>每一个</a:t>
            </a:r>
            <a:r>
              <a:rPr sz="1200" dirty="0"/>
              <a:t>Spark程序在运行的时候, 会绑定到</a:t>
            </a:r>
            <a:r>
              <a:rPr lang="en-US" sz="1200" b="1" dirty="0">
                <a:solidFill>
                  <a:srgbClr val="FF0000"/>
                </a:solidFill>
              </a:rPr>
              <a:t>Driver</a:t>
            </a:r>
            <a:r>
              <a:rPr lang="zh-CN" altLang="en-US" sz="1200" b="1" dirty="0">
                <a:solidFill>
                  <a:srgbClr val="FF0000"/>
                </a:solidFill>
              </a:rPr>
              <a:t>所在</a:t>
            </a:r>
            <a:r>
              <a:rPr sz="1200" dirty="0"/>
              <a:t>机器的4040端口上.</a:t>
            </a:r>
            <a:endParaRPr sz="1200" dirty="0"/>
          </a:p>
          <a:p>
            <a:r>
              <a:rPr sz="1200" dirty="0"/>
              <a:t>如果4040端口被占用, 会顺延到4041 ... 4042...</a:t>
            </a:r>
            <a:endParaRPr sz="12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2</a:t>
            </a:r>
            <a:r>
              <a:rPr lang="zh-CN" altLang="en-US" dirty="0" smtClean="0"/>
              <a:t>.</a:t>
            </a:r>
            <a:r>
              <a:rPr lang="en-US" altLang="zh-CN" dirty="0" smtClean="0"/>
              <a:t>5</a:t>
            </a:r>
            <a:r>
              <a:rPr lang="zh-CN" altLang="en-US" dirty="0" smtClean="0"/>
              <a:t> 测试</a:t>
            </a:r>
            <a:r>
              <a:rPr lang="en-US" altLang="zh-CN" dirty="0" smtClean="0"/>
              <a:t> - 4040</a:t>
            </a:r>
            <a:r>
              <a:rPr dirty="0" smtClean="0"/>
              <a:t>监控端口</a:t>
            </a:r>
            <a:endParaRPr dirty="0" smtClean="0"/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812800" y="2385695"/>
            <a:ext cx="9249410" cy="1551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812800" y="4064000"/>
            <a:ext cx="5906135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4040端口是一个WEBUI端口, 可以在浏览器内打开</a:t>
            </a:r>
            <a:r>
              <a:rPr lang="en-US" altLang="zh-CN" sz="1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输入:</a:t>
            </a:r>
            <a:r>
              <a:rPr lang="zh-CN" altLang="en-US" sz="10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服务器ip:4040 即可打开:</a:t>
            </a:r>
            <a:endParaRPr lang="zh-CN" altLang="en-US" sz="10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2"/>
          <a:stretch>
            <a:fillRect/>
          </a:stretch>
        </p:blipFill>
        <p:spPr>
          <a:xfrm>
            <a:off x="869950" y="4673600"/>
            <a:ext cx="2496185" cy="2027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3528060" y="4673600"/>
            <a:ext cx="4479925" cy="159956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打开监控页面后, 可以发现 在程序内仅有一个Driver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因为我们是Local模式, Driver即管理 又 干活.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同时, 输入jps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可以看到local模式下的唯一进程存在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这个进程 即是master也是worker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9" name="图片 108"/>
          <p:cNvPicPr/>
          <p:nvPr/>
        </p:nvPicPr>
        <p:blipFill>
          <a:blip r:embed="rId3"/>
          <a:stretch>
            <a:fillRect/>
          </a:stretch>
        </p:blipFill>
        <p:spPr>
          <a:xfrm>
            <a:off x="8007985" y="4958715"/>
            <a:ext cx="3037205" cy="1314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.</a:t>
            </a:r>
            <a:r>
              <a:rPr lang="en-US" altLang="zh-CN" dirty="0" smtClean="0"/>
              <a:t>5</a:t>
            </a:r>
            <a:r>
              <a:rPr lang="zh-CN" altLang="en-US" dirty="0" smtClean="0"/>
              <a:t> 基于</a:t>
            </a:r>
            <a:r>
              <a:rPr lang="en-US" altLang="zh-CN" dirty="0" smtClean="0"/>
              <a:t>bin/spark-shell</a:t>
            </a:r>
            <a:r>
              <a:rPr lang="zh-CN" altLang="en-US" dirty="0"/>
              <a:t>测试</a:t>
            </a:r>
            <a:r>
              <a:rPr lang="en-US" altLang="zh-CN" dirty="0"/>
              <a:t> - </a:t>
            </a:r>
            <a:r>
              <a:rPr dirty="0"/>
              <a:t>了解</a:t>
            </a:r>
            <a:r>
              <a:rPr lang="en-US" altLang="zh-CN" dirty="0"/>
              <a:t>(</a:t>
            </a:r>
            <a:r>
              <a:rPr dirty="0"/>
              <a:t>此项需</a:t>
            </a:r>
            <a:r>
              <a:rPr lang="en-US" altLang="zh-CN" dirty="0"/>
              <a:t>Scala</a:t>
            </a:r>
            <a:r>
              <a:rPr dirty="0"/>
              <a:t>语言操作</a:t>
            </a:r>
            <a:r>
              <a:rPr lang="en-US" altLang="zh-CN" dirty="0"/>
              <a:t>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974850"/>
            <a:ext cx="11088370" cy="23088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684655"/>
            <a:ext cx="1278890" cy="2901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.</a:t>
            </a:r>
            <a:r>
              <a:rPr lang="en-US" altLang="zh-CN" dirty="0" smtClean="0"/>
              <a:t>5</a:t>
            </a:r>
            <a:r>
              <a:rPr lang="zh-CN" altLang="en-US" dirty="0" smtClean="0"/>
              <a:t> 基于</a:t>
            </a:r>
            <a:r>
              <a:rPr lang="en-US" altLang="zh-CN" dirty="0" smtClean="0"/>
              <a:t>bin/spark-submit</a:t>
            </a:r>
            <a:r>
              <a:rPr dirty="0" smtClean="0"/>
              <a:t>测试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49730"/>
            <a:ext cx="7424420" cy="400050"/>
          </a:xfrm>
        </p:spPr>
        <p:txBody>
          <a:bodyPr/>
          <a:lstStyle/>
          <a:p>
            <a:r>
              <a:rPr lang="en-US" sz="1200" dirty="0"/>
              <a:t>bin/spark-submit</a:t>
            </a:r>
            <a:r>
              <a:rPr lang="zh-CN" altLang="en-US" sz="1200" dirty="0"/>
              <a:t>程序</a:t>
            </a:r>
            <a:r>
              <a:rPr lang="en-US" altLang="zh-CN" sz="1200" dirty="0"/>
              <a:t>, </a:t>
            </a:r>
            <a:r>
              <a:rPr sz="1200" dirty="0"/>
              <a:t>作用: 提交指定的Spark代码到Spark环境中运行</a:t>
            </a:r>
            <a:endParaRPr sz="1200" dirty="0"/>
          </a:p>
          <a:p>
            <a:endParaRPr lang="zh-CN" altLang="en-US" sz="900" b="1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2049780"/>
            <a:ext cx="6781800" cy="9944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05" y="3968115"/>
            <a:ext cx="6847840" cy="2204085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/>
        </p:nvSpPr>
        <p:spPr>
          <a:xfrm>
            <a:off x="814705" y="3568065"/>
            <a:ext cx="7424420" cy="4000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pyspark/spark-shell/spark-submit </a:t>
            </a:r>
            <a:r>
              <a:rPr lang="zh-CN" altLang="en-US" sz="1200" dirty="0"/>
              <a:t>对比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Local</a:t>
            </a:r>
            <a:r>
              <a:rPr lang="zh-CN" altLang="en-US"/>
              <a:t>模式的运行原理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en-US" altLang="zh-CN" sz="1200"/>
              <a:t>Local</a:t>
            </a:r>
            <a:r>
              <a:rPr lang="zh-CN" altLang="en-US" sz="1200"/>
              <a:t>模式就是以一个独立进程配合其内部线程来提供完成</a:t>
            </a:r>
            <a:r>
              <a:rPr lang="en-US" altLang="zh-CN" sz="1200"/>
              <a:t>Spark</a:t>
            </a:r>
            <a:r>
              <a:rPr lang="zh-CN" altLang="en-US" sz="1200"/>
              <a:t>运行时环境</a:t>
            </a:r>
            <a:r>
              <a:rPr lang="en-US" altLang="zh-CN" sz="1200"/>
              <a:t>. Local</a:t>
            </a:r>
            <a:r>
              <a:rPr lang="zh-CN" altLang="en-US" sz="1200"/>
              <a:t>模式可以通过</a:t>
            </a:r>
            <a:r>
              <a:rPr lang="en-US" altLang="zh-CN" sz="1200"/>
              <a:t>spark-shell/pyspark/spark-submit</a:t>
            </a:r>
            <a:r>
              <a:rPr lang="zh-CN" altLang="en-US" sz="1200"/>
              <a:t>等来开启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/>
              <a:t>bin/pyspark</a:t>
            </a:r>
            <a:r>
              <a:rPr lang="zh-CN" altLang="en-US"/>
              <a:t>是什么程序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zh-CN" altLang="en-US" sz="1200"/>
              <a:t>是一个交互式的解释器执行环境</a:t>
            </a:r>
            <a:r>
              <a:rPr lang="en-US" altLang="zh-CN" sz="1200"/>
              <a:t>,</a:t>
            </a:r>
            <a:r>
              <a:rPr lang="zh-CN" altLang="en-US" sz="1200"/>
              <a:t>环境启动后就得到了一个</a:t>
            </a:r>
            <a:r>
              <a:rPr lang="en-US" altLang="zh-CN" sz="1200"/>
              <a:t>Local Spark</a:t>
            </a:r>
            <a:r>
              <a:rPr lang="zh-CN" altLang="en-US" sz="1200"/>
              <a:t>环境</a:t>
            </a:r>
            <a:r>
              <a:rPr lang="en-US" altLang="zh-CN" sz="1200"/>
              <a:t>,</a:t>
            </a:r>
            <a:r>
              <a:rPr lang="zh-CN" altLang="en-US" sz="1200"/>
              <a:t>可以运行</a:t>
            </a:r>
            <a:r>
              <a:rPr lang="en-US" altLang="zh-CN" sz="1200"/>
              <a:t>Python</a:t>
            </a:r>
            <a:r>
              <a:rPr lang="zh-CN" altLang="en-US" sz="1200"/>
              <a:t>代码去进行</a:t>
            </a:r>
            <a:r>
              <a:rPr lang="en-US" altLang="zh-CN" sz="1200"/>
              <a:t>Spark</a:t>
            </a:r>
            <a:r>
              <a:rPr lang="zh-CN" altLang="en-US" sz="1200"/>
              <a:t>计算</a:t>
            </a:r>
            <a:r>
              <a:rPr lang="en-US" altLang="zh-CN" sz="1200"/>
              <a:t>,</a:t>
            </a:r>
            <a:r>
              <a:rPr lang="zh-CN" altLang="en-US" sz="1200"/>
              <a:t>类似</a:t>
            </a:r>
            <a:r>
              <a:rPr lang="en-US" altLang="zh-CN" sz="1200"/>
              <a:t>Python</a:t>
            </a:r>
            <a:r>
              <a:rPr lang="zh-CN" altLang="en-US" sz="1200"/>
              <a:t>自带解释器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的</a:t>
            </a:r>
            <a:r>
              <a:rPr lang="en-US" altLang="zh-CN"/>
              <a:t>4040</a:t>
            </a:r>
            <a:r>
              <a:rPr lang="zh-CN" altLang="en-US"/>
              <a:t>端口是什么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en-US" altLang="zh-CN" sz="1200"/>
              <a:t>Spark</a:t>
            </a:r>
            <a:r>
              <a:rPr lang="zh-CN" altLang="en-US" sz="1200"/>
              <a:t>的任务在运行后</a:t>
            </a:r>
            <a:r>
              <a:rPr lang="en-US" altLang="zh-CN" sz="1200"/>
              <a:t>,</a:t>
            </a:r>
            <a:r>
              <a:rPr lang="zh-CN" altLang="en-US" sz="1200"/>
              <a:t>会在</a:t>
            </a:r>
            <a:r>
              <a:rPr lang="en-US" altLang="zh-CN" sz="1200"/>
              <a:t>Driver</a:t>
            </a:r>
            <a:r>
              <a:rPr lang="zh-CN" altLang="en-US" sz="1200"/>
              <a:t>所在机器绑定到</a:t>
            </a:r>
            <a:r>
              <a:rPr lang="en-US" altLang="zh-CN" sz="1200"/>
              <a:t>4040</a:t>
            </a:r>
            <a:r>
              <a:rPr lang="zh-CN" altLang="en-US" sz="1200"/>
              <a:t>端口</a:t>
            </a:r>
            <a:r>
              <a:rPr lang="en-US" altLang="zh-CN" sz="1200"/>
              <a:t>,</a:t>
            </a:r>
            <a:r>
              <a:rPr lang="zh-CN" altLang="en-US" sz="1200"/>
              <a:t>提供当前任务的监控页面供查看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096461" y="2768759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环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境搭建-Standalone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第三章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zh-CN" altLang="en-US" dirty="0"/>
              <a:t>1 Standalone 架构</a:t>
            </a:r>
            <a:endParaRPr lang="zh-CN" altLang="en-US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zh-CN" altLang="en-US" dirty="0"/>
              <a:t>2 安</a:t>
            </a:r>
            <a:r>
              <a:rPr lang="zh-CN" altLang="en-US" dirty="0" smtClean="0"/>
              <a:t>装</a:t>
            </a:r>
            <a:r>
              <a:rPr lang="en-US" altLang="zh-CN" dirty="0" smtClean="0"/>
              <a:t>standalone</a:t>
            </a:r>
            <a:r>
              <a:rPr lang="zh-CN" altLang="en-US" dirty="0" smtClean="0"/>
              <a:t>环境</a:t>
            </a:r>
            <a:endParaRPr lang="zh-CN" altLang="en-US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  <a:p>
            <a:r>
              <a:rPr lang="en-US" altLang="zh-CN" dirty="0" smtClean="0">
                <a:sym typeface="+mn-ea"/>
              </a:rPr>
              <a:t>3</a:t>
            </a:r>
            <a:r>
              <a:rPr lang="zh-CN" altLang="en-US" dirty="0" smtClean="0">
                <a:sym typeface="+mn-ea"/>
              </a:rPr>
              <a:t>.</a:t>
            </a:r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Spark</a:t>
            </a:r>
            <a:r>
              <a:rPr dirty="0">
                <a:sym typeface="+mn-ea"/>
              </a:rPr>
              <a:t>程序运行层次结构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zh-CN" altLang="en-US" dirty="0"/>
              <a:t>1 Standalone 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466215"/>
            <a:ext cx="10699115" cy="927100"/>
          </a:xfrm>
        </p:spPr>
        <p:txBody>
          <a:bodyPr/>
          <a:lstStyle/>
          <a:p>
            <a:r>
              <a:rPr lang="zh-CN" altLang="en-US"/>
              <a:t>Standalone模式是Spark自带的一种集群模式，不同于前面本地模式启动多个进程来模拟集群的环境，Standalone模式是真实地在多个机器之间搭建Spark集群的环境，完全可以利用该模式搭建多机器集群，用于实际的大数据处理。</a:t>
            </a:r>
            <a:endParaRPr lang="zh-CN" altLang="en-US"/>
          </a:p>
        </p:txBody>
      </p:sp>
      <p:sp>
        <p:nvSpPr>
          <p:cNvPr id="5" name="文本占位符 3"/>
          <p:cNvSpPr>
            <a:spLocks noGrp="1"/>
          </p:cNvSpPr>
          <p:nvPr/>
        </p:nvSpPr>
        <p:spPr>
          <a:xfrm>
            <a:off x="710565" y="2494583"/>
            <a:ext cx="10699115" cy="12274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StandAlone </a:t>
            </a:r>
            <a:r>
              <a:rPr lang="zh-CN" altLang="en-US" b="1" dirty="0">
                <a:solidFill>
                  <a:srgbClr val="FF0000"/>
                </a:solidFill>
              </a:rPr>
              <a:t>是完整的</a:t>
            </a:r>
            <a:r>
              <a:rPr lang="en-US" altLang="zh-CN" b="1" dirty="0">
                <a:solidFill>
                  <a:srgbClr val="FF0000"/>
                </a:solidFill>
              </a:rPr>
              <a:t>Spark</a:t>
            </a:r>
            <a:r>
              <a:rPr lang="zh-CN" altLang="en-US" b="1" dirty="0">
                <a:solidFill>
                  <a:srgbClr val="FF0000"/>
                </a:solidFill>
              </a:rPr>
              <a:t>运行环境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zh-CN" altLang="en-US" b="1" dirty="0">
                <a:solidFill>
                  <a:srgbClr val="FF0000"/>
                </a:solidFill>
              </a:rPr>
              <a:t>其中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Master</a:t>
            </a:r>
            <a:r>
              <a:rPr lang="zh-CN" altLang="en-US" b="1" dirty="0">
                <a:solidFill>
                  <a:srgbClr val="FF0000"/>
                </a:solidFill>
              </a:rPr>
              <a:t>角色以</a:t>
            </a:r>
            <a:r>
              <a:rPr lang="en-US" altLang="zh-CN" b="1" dirty="0">
                <a:solidFill>
                  <a:srgbClr val="FF0000"/>
                </a:solidFill>
              </a:rPr>
              <a:t>Master</a:t>
            </a:r>
            <a:r>
              <a:rPr lang="zh-CN" altLang="en-US" b="1" dirty="0">
                <a:solidFill>
                  <a:srgbClr val="FF0000"/>
                </a:solidFill>
              </a:rPr>
              <a:t>进程存在</a:t>
            </a:r>
            <a:r>
              <a:rPr lang="en-US" altLang="zh-CN" b="1" dirty="0">
                <a:solidFill>
                  <a:srgbClr val="FF0000"/>
                </a:solidFill>
              </a:rPr>
              <a:t>, Worker</a:t>
            </a:r>
            <a:r>
              <a:rPr lang="zh-CN" altLang="en-US" b="1" dirty="0">
                <a:solidFill>
                  <a:srgbClr val="FF0000"/>
                </a:solidFill>
              </a:rPr>
              <a:t>角色以</a:t>
            </a:r>
            <a:r>
              <a:rPr lang="en-US" altLang="zh-CN" b="1" dirty="0">
                <a:solidFill>
                  <a:srgbClr val="FF0000"/>
                </a:solidFill>
              </a:rPr>
              <a:t>Worker</a:t>
            </a:r>
            <a:r>
              <a:rPr lang="zh-CN" altLang="en-US" b="1" dirty="0">
                <a:solidFill>
                  <a:srgbClr val="FF0000"/>
                </a:solidFill>
              </a:rPr>
              <a:t>进程存在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Driver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Executor</a:t>
            </a:r>
            <a:r>
              <a:rPr lang="zh-CN" altLang="en-US" b="1" dirty="0">
                <a:solidFill>
                  <a:srgbClr val="FF0000"/>
                </a:solidFill>
              </a:rPr>
              <a:t>运行于</a:t>
            </a:r>
            <a:r>
              <a:rPr lang="en-US" altLang="zh-CN" b="1" dirty="0">
                <a:solidFill>
                  <a:srgbClr val="FF0000"/>
                </a:solidFill>
              </a:rPr>
              <a:t>Worker</a:t>
            </a:r>
            <a:r>
              <a:rPr lang="zh-CN" altLang="en-US" b="1" dirty="0">
                <a:solidFill>
                  <a:srgbClr val="FF0000"/>
                </a:solidFill>
              </a:rPr>
              <a:t>进程内</a:t>
            </a:r>
            <a:r>
              <a:rPr lang="en-US" altLang="zh-CN" b="1" dirty="0">
                <a:solidFill>
                  <a:srgbClr val="FF0000"/>
                </a:solidFill>
              </a:rPr>
              <a:t>, </a:t>
            </a:r>
            <a:r>
              <a:rPr lang="zh-CN" altLang="en-US" b="1" dirty="0">
                <a:solidFill>
                  <a:srgbClr val="FF0000"/>
                </a:solidFill>
              </a:rPr>
              <a:t>由</a:t>
            </a:r>
            <a:r>
              <a:rPr lang="en-US" altLang="zh-CN" b="1" dirty="0">
                <a:solidFill>
                  <a:srgbClr val="FF0000"/>
                </a:solidFill>
              </a:rPr>
              <a:t>Worker</a:t>
            </a:r>
            <a:r>
              <a:rPr lang="zh-CN" altLang="en-US" b="1" dirty="0">
                <a:solidFill>
                  <a:srgbClr val="FF0000"/>
                </a:solidFill>
              </a:rPr>
              <a:t>提供资源供给它们运行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8" name="图片 1"/>
          <p:cNvPicPr>
            <a:picLocks noChangeAspect="1"/>
          </p:cNvPicPr>
          <p:nvPr/>
        </p:nvPicPr>
        <p:blipFill>
          <a:blip r:embed="rId1"/>
          <a:srcRect t="1075"/>
          <a:stretch>
            <a:fillRect/>
          </a:stretch>
        </p:blipFill>
        <p:spPr>
          <a:xfrm>
            <a:off x="1503486" y="3722037"/>
            <a:ext cx="3979220" cy="304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12" descr="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10" y="3896359"/>
            <a:ext cx="5843270" cy="276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zh-CN" altLang="en-US" dirty="0"/>
              <a:t>1 Standalone 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715865"/>
            <a:ext cx="11470372" cy="4869573"/>
          </a:xfrm>
        </p:spPr>
        <p:txBody>
          <a:bodyPr/>
          <a:lstStyle/>
          <a:p>
            <a:pPr>
              <a:buFont typeface="Wingdings" panose="05000000000000000000" charset="0"/>
            </a:pPr>
            <a:r>
              <a:rPr lang="en-US" altLang="zh-CN" sz="1000" dirty="0"/>
              <a:t>StandAlone</a:t>
            </a:r>
            <a:r>
              <a:rPr lang="zh-CN" altLang="en-US" sz="1000" dirty="0"/>
              <a:t>集群在进程上主要有</a:t>
            </a:r>
            <a:r>
              <a:rPr lang="en-US" altLang="zh-CN" sz="1000" dirty="0"/>
              <a:t>3</a:t>
            </a:r>
            <a:r>
              <a:rPr lang="zh-CN" altLang="en-US" sz="1000" dirty="0"/>
              <a:t>类进程</a:t>
            </a:r>
            <a:r>
              <a:rPr lang="en-US" altLang="zh-CN" sz="1000" dirty="0"/>
              <a:t>:</a:t>
            </a:r>
            <a:endParaRPr lang="en-US" altLang="zh-CN" sz="10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000" dirty="0"/>
              <a:t>主节点Master进程：</a:t>
            </a:r>
            <a:endParaRPr lang="zh-CN" altLang="en-US" sz="1000" dirty="0"/>
          </a:p>
          <a:p>
            <a:pPr marL="285750" indent="-285750"/>
            <a:r>
              <a:rPr lang="zh-CN" altLang="en-US" sz="1000" dirty="0"/>
              <a:t></a:t>
            </a:r>
            <a:r>
              <a:rPr lang="en-US" altLang="zh-CN" sz="1000" dirty="0"/>
              <a:t>Master</a:t>
            </a:r>
            <a:r>
              <a:rPr lang="zh-CN" altLang="en-US" sz="1000" dirty="0"/>
              <a:t>角色</a:t>
            </a:r>
            <a:r>
              <a:rPr lang="en-US" altLang="zh-CN" sz="1000" dirty="0"/>
              <a:t>, </a:t>
            </a:r>
            <a:r>
              <a:rPr lang="zh-CN" altLang="en-US" sz="1000" dirty="0"/>
              <a:t>管理整个集群资源，并托管运行各个任务的</a:t>
            </a:r>
            <a:r>
              <a:rPr lang="en-US" altLang="zh-CN" sz="1000" dirty="0"/>
              <a:t>Driver</a:t>
            </a:r>
            <a:endParaRPr lang="en-US" altLang="zh-CN" sz="10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000" dirty="0"/>
              <a:t>从节点Workers：</a:t>
            </a:r>
            <a:endParaRPr lang="zh-CN" altLang="en-US" sz="1000" dirty="0"/>
          </a:p>
          <a:p>
            <a:pPr marL="285750" indent="-285750"/>
            <a:r>
              <a:rPr lang="zh-CN" altLang="en-US" sz="1000" dirty="0"/>
              <a:t></a:t>
            </a:r>
            <a:r>
              <a:rPr lang="en-US" altLang="zh-CN" sz="1000" dirty="0"/>
              <a:t>Worker</a:t>
            </a:r>
            <a:r>
              <a:rPr lang="zh-CN" altLang="en-US" sz="1000" dirty="0"/>
              <a:t>角色</a:t>
            </a:r>
            <a:r>
              <a:rPr lang="en-US" altLang="zh-CN" sz="1000" dirty="0"/>
              <a:t>, </a:t>
            </a:r>
            <a:r>
              <a:rPr lang="zh-CN" altLang="en-US" sz="1000" dirty="0"/>
              <a:t>管理每个机器的资源，分配对应的资源来运行</a:t>
            </a:r>
            <a:r>
              <a:rPr lang="en-US" altLang="zh-CN" sz="1000" dirty="0"/>
              <a:t>Executor(Task)</a:t>
            </a:r>
            <a:r>
              <a:rPr lang="zh-CN" altLang="en-US" sz="1000" dirty="0"/>
              <a:t>；</a:t>
            </a:r>
            <a:endParaRPr lang="zh-CN" altLang="en-US" sz="1000" dirty="0"/>
          </a:p>
          <a:p>
            <a:r>
              <a:rPr lang="zh-CN" altLang="en-US" sz="1000" dirty="0" smtClean="0"/>
              <a:t>  </a:t>
            </a:r>
            <a:r>
              <a:rPr lang="en-US" altLang="zh-CN" sz="1000" dirty="0" smtClean="0"/>
              <a:t>  </a:t>
            </a:r>
            <a:r>
              <a:rPr lang="zh-CN" altLang="en-US" sz="1000" dirty="0" smtClean="0"/>
              <a:t>每</a:t>
            </a:r>
            <a:r>
              <a:rPr lang="zh-CN" altLang="en-US" sz="1000" dirty="0"/>
              <a:t>个从节点分配资源信息给Worker管理，资源信息包含内存Memory和CPU Cores核数</a:t>
            </a:r>
            <a:endParaRPr lang="zh-CN" altLang="en-US" sz="10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000" dirty="0"/>
              <a:t>历史服务器HistoryServer(可选)：</a:t>
            </a:r>
            <a:endParaRPr lang="zh-CN" altLang="en-US" sz="1000" dirty="0"/>
          </a:p>
          <a:p>
            <a:pPr marL="285750" indent="-285750"/>
            <a:r>
              <a:rPr lang="zh-CN" altLang="en-US" sz="1000" dirty="0"/>
              <a:t>Spark Application运行完成以后，保存事件日志数据至HDFS，启动HistoryServer可以查看应用运行相关信息。</a:t>
            </a:r>
            <a:endParaRPr lang="zh-CN" altLang="en-US" sz="1000" dirty="0"/>
          </a:p>
        </p:txBody>
      </p:sp>
      <p:pic>
        <p:nvPicPr>
          <p:cNvPr id="4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59407" y="1872066"/>
            <a:ext cx="4421530" cy="200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0565" y="3877310"/>
            <a:ext cx="7341870" cy="2708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0698800" cy="603623"/>
          </a:xfrm>
        </p:spPr>
        <p:txBody>
          <a:bodyPr/>
          <a:lstStyle/>
          <a:p>
            <a:r>
              <a:rPr lang="en-US" altLang="zh-CN" b="1" dirty="0" smtClean="0"/>
              <a:t>standalone</a:t>
            </a:r>
            <a:r>
              <a:rPr lang="zh-CN" altLang="en-US" b="1" dirty="0" smtClean="0"/>
              <a:t>环境可直接参考</a:t>
            </a:r>
            <a:r>
              <a:rPr lang="en-US" altLang="zh-CN" b="1" dirty="0"/>
              <a:t>&lt;&lt;spark</a:t>
            </a:r>
            <a:r>
              <a:rPr lang="zh-CN" altLang="en-US" b="1" dirty="0"/>
              <a:t>部署文档</a:t>
            </a:r>
            <a:r>
              <a:rPr lang="en-US" altLang="zh-CN" b="1" dirty="0"/>
              <a:t>.doc</a:t>
            </a:r>
            <a:r>
              <a:rPr lang="en-US" altLang="zh-CN" b="1" dirty="0" smtClean="0"/>
              <a:t>&gt;&gt;</a:t>
            </a:r>
            <a:r>
              <a:rPr lang="zh-CN" altLang="en-US" b="1" dirty="0" smtClean="0"/>
              <a:t>中关于</a:t>
            </a:r>
            <a:r>
              <a:rPr lang="en-US" altLang="zh-CN" b="1" dirty="0" smtClean="0"/>
              <a:t>standalone</a:t>
            </a:r>
            <a:r>
              <a:rPr lang="zh-CN" altLang="en-US" b="1" dirty="0" smtClean="0"/>
              <a:t>安装操作</a:t>
            </a:r>
            <a:endParaRPr lang="zh-CN" altLang="en-US" b="1" dirty="0"/>
          </a:p>
        </p:txBody>
      </p:sp>
      <p:sp>
        <p:nvSpPr>
          <p:cNvPr id="7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698800" cy="517190"/>
          </a:xfrm>
        </p:spPr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2</a:t>
            </a:r>
            <a:r>
              <a:rPr lang="zh-CN" altLang="en-US" dirty="0" smtClean="0"/>
              <a:t> </a:t>
            </a:r>
            <a:r>
              <a:rPr lang="zh-CN" altLang="en-US" dirty="0"/>
              <a:t>Standalone 环</a:t>
            </a:r>
            <a:r>
              <a:rPr lang="zh-CN" altLang="en-US" dirty="0" smtClean="0"/>
              <a:t>境安装操作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332990"/>
            <a:ext cx="4392930" cy="388175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22425"/>
            <a:ext cx="9951085" cy="37484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510030"/>
            <a:ext cx="9316720" cy="49453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416685"/>
            <a:ext cx="10699115" cy="1924392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在</a:t>
            </a:r>
            <a:r>
              <a:rPr lang="en-US" altLang="zh-CN" dirty="0"/>
              <a:t>bin/pyspark</a:t>
            </a:r>
            <a:r>
              <a:rPr lang="zh-CN" altLang="en-US" dirty="0"/>
              <a:t>中执行如下代码进行测试 </a:t>
            </a:r>
            <a:endParaRPr lang="zh-CN" altLang="en-US" dirty="0"/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1200" dirty="0"/>
              <a:t>resultRDD = sc.textFile("hdfs://node1</a:t>
            </a:r>
            <a:r>
              <a:rPr lang="zh-CN" altLang="en-US" sz="1200" dirty="0" smtClean="0"/>
              <a:t>:</a:t>
            </a:r>
            <a:r>
              <a:rPr lang="en-US" altLang="zh-CN" sz="1200" dirty="0" smtClean="0"/>
              <a:t>8020</a:t>
            </a:r>
            <a:r>
              <a:rPr lang="zh-CN" altLang="en-US" sz="1200" dirty="0" smtClean="0"/>
              <a:t>/</a:t>
            </a:r>
            <a:r>
              <a:rPr lang="en-US" altLang="zh-CN" sz="1200" dirty="0"/>
              <a:t>input</a:t>
            </a:r>
            <a:r>
              <a:rPr lang="zh-CN" altLang="en-US" sz="1200" dirty="0"/>
              <a:t>/words.txt") \</a:t>
            </a: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1200" dirty="0"/>
              <a:t>	.flatMap(lambda line: line.split(" ")) \</a:t>
            </a: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1200" dirty="0"/>
              <a:t>	.map(lambda x: (x, 1)) \</a:t>
            </a: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1200" dirty="0"/>
              <a:t>	.reduceByKey(lambda a, b: a + b)</a:t>
            </a: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1200" dirty="0"/>
              <a:t>resultRDD .collect(</a:t>
            </a:r>
            <a:r>
              <a:rPr lang="zh-CN" altLang="en-US" sz="1200" dirty="0" smtClean="0"/>
              <a:t>)</a:t>
            </a:r>
            <a:endParaRPr lang="en-US" altLang="zh-CN" sz="1200" dirty="0" smtClean="0"/>
          </a:p>
          <a:p>
            <a:pPr>
              <a:lnSpc>
                <a:spcPct val="100000"/>
              </a:lnSpc>
              <a:buFont typeface="Wingdings" panose="05000000000000000000" charset="0"/>
            </a:pPr>
            <a:endParaRPr lang="en-US" altLang="zh-CN" sz="1200" dirty="0" smtClean="0"/>
          </a:p>
        </p:txBody>
      </p:sp>
      <p:pic>
        <p:nvPicPr>
          <p:cNvPr id="175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25" y="3396943"/>
            <a:ext cx="7601585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占位符 3"/>
          <p:cNvSpPr>
            <a:spLocks noGrp="1"/>
          </p:cNvSpPr>
          <p:nvPr/>
        </p:nvSpPr>
        <p:spPr>
          <a:xfrm>
            <a:off x="746125" y="4973565"/>
            <a:ext cx="10699115" cy="16998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注意</a:t>
            </a:r>
            <a:endParaRPr lang="zh-CN" altLang="en-US" dirty="0"/>
          </a:p>
          <a:p>
            <a:pPr marL="285750" indent="-285750">
              <a:buFont typeface="Wingdings" panose="05000000000000000000" charset="0"/>
            </a:pPr>
            <a:r>
              <a:rPr lang="zh-CN" altLang="en-US" dirty="0">
                <a:solidFill>
                  <a:srgbClr val="C00000"/>
                </a:solidFill>
              </a:rPr>
              <a:t>集群模式下程序是在集群上运行的，不要直接读取本地文件，应该读取hdfs上的</a:t>
            </a:r>
            <a:endParaRPr lang="zh-CN" altLang="en-US" dirty="0">
              <a:solidFill>
                <a:srgbClr val="C00000"/>
              </a:solidFill>
            </a:endParaRPr>
          </a:p>
          <a:p>
            <a:pPr>
              <a:buFont typeface="Wingdings" panose="05000000000000000000" charset="0"/>
            </a:pPr>
            <a:r>
              <a:rPr lang="zh-CN" altLang="en-US" dirty="0">
                <a:solidFill>
                  <a:srgbClr val="C00000"/>
                </a:solidFill>
              </a:rPr>
              <a:t>因为程序运行在集群上，具体在哪个节点上我们运行并不知道，其他节点可能并没有那个数据文件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45" y="1678940"/>
            <a:ext cx="10960735" cy="16338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210" y="3161030"/>
            <a:ext cx="11044555" cy="3395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457325"/>
            <a:ext cx="5947410" cy="157543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pic>
        <p:nvPicPr>
          <p:cNvPr id="96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1457325"/>
            <a:ext cx="8666480" cy="525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登录到Spark HistoryServer历史服务器WEB UI界面，点击刚刚运行圆周率PI程序：</a:t>
            </a:r>
            <a:endParaRPr lang="zh-CN" altLang="en-US"/>
          </a:p>
        </p:txBody>
      </p:sp>
      <p:pic>
        <p:nvPicPr>
          <p:cNvPr id="72" name="图片 8"/>
          <p:cNvPicPr>
            <a:picLocks noChangeAspect="1"/>
          </p:cNvPicPr>
          <p:nvPr/>
        </p:nvPicPr>
        <p:blipFill>
          <a:blip r:embed="rId1"/>
          <a:srcRect t="8047"/>
          <a:stretch>
            <a:fillRect/>
          </a:stretch>
        </p:blipFill>
        <p:spPr>
          <a:xfrm>
            <a:off x="809625" y="2432685"/>
            <a:ext cx="10661650" cy="289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查看应用运行状况：</a:t>
            </a:r>
            <a:endParaRPr lang="zh-CN" altLang="en-US"/>
          </a:p>
        </p:txBody>
      </p:sp>
      <p:pic>
        <p:nvPicPr>
          <p:cNvPr id="73" name="图片 10"/>
          <p:cNvPicPr>
            <a:picLocks noChangeAspect="1"/>
          </p:cNvPicPr>
          <p:nvPr/>
        </p:nvPicPr>
        <p:blipFill>
          <a:blip r:embed="rId1"/>
          <a:srcRect t="8140"/>
          <a:stretch>
            <a:fillRect/>
          </a:stretch>
        </p:blipFill>
        <p:spPr>
          <a:xfrm>
            <a:off x="810260" y="2223770"/>
            <a:ext cx="8787130" cy="263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/>
              <a:t>切换到【Executors】Tab页面：</a:t>
            </a:r>
            <a:endParaRPr lang="zh-CN" altLang="en-US"/>
          </a:p>
        </p:txBody>
      </p:sp>
      <p:pic>
        <p:nvPicPr>
          <p:cNvPr id="75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926590"/>
            <a:ext cx="8678545" cy="43294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占位符 3"/>
          <p:cNvSpPr>
            <a:spLocks noGrp="1"/>
          </p:cNvSpPr>
          <p:nvPr/>
        </p:nvSpPr>
        <p:spPr>
          <a:xfrm>
            <a:off x="868680" y="6264910"/>
            <a:ext cx="9839960" cy="29241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从图中可以看到Spark Application运行到集群上时，由两部分组成：Driver Program和Executors。</a:t>
            </a:r>
            <a:endParaRPr lang="zh-CN" altLang="en-US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1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889" y="3955366"/>
            <a:ext cx="5676900" cy="272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 sz="1400" dirty="0"/>
              <a:t>从图中可以看到Spark Application运行到集群上时，由两部分组成：Driver Program和Executors。</a:t>
            </a:r>
            <a:endParaRPr lang="zh-CN" altLang="en-US" sz="1400" dirty="0"/>
          </a:p>
          <a:p>
            <a:r>
              <a:rPr lang="zh-CN" altLang="en-US" sz="1400" dirty="0"/>
              <a:t>第一、Driver Program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dirty="0"/>
              <a:t>相当于AppMaster，整个应用管理者，负责应用中所有Job的调度执行;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dirty="0"/>
              <a:t>运行JVM Process，运行程序的MAIN函数，必须创建SparkContext上下文对象；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dirty="0"/>
              <a:t>一个SparkApplication仅有一个；</a:t>
            </a:r>
            <a:endParaRPr lang="zh-CN" altLang="en-US" sz="1400" dirty="0"/>
          </a:p>
          <a:p>
            <a:pPr marL="285750" indent="-285750"/>
            <a:r>
              <a:rPr lang="zh-CN" altLang="en-US" sz="1400" dirty="0"/>
              <a:t>第二、Executors		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dirty="0"/>
              <a:t>相当于一个线程池，运行JVM Process，其中有很多线程，每个线程运行一个Task任务，一个Task任务运行需要1 Core CPU，所有可以认为Executor中线程数就等于CPU Core核数；</a:t>
            </a:r>
            <a:endParaRPr lang="zh-CN" altLang="en-US" sz="14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dirty="0"/>
              <a:t>一个Spark Application可以有多个，可以设置个数和资源信息；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zh-CN" altLang="en-US" dirty="0"/>
              <a:t>Spark 应用架构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 sz="1400"/>
              <a:t>用户程序从最开始的提交到最终的计算执行，需要经历以下几个阶段：</a:t>
            </a:r>
            <a:endParaRPr lang="zh-CN" altLang="en-US" sz="1400"/>
          </a:p>
          <a:p>
            <a:r>
              <a:rPr lang="zh-CN" altLang="en-US" sz="1400"/>
              <a:t> 1）、用户程序创建 SparkContext 时，新创建的 SparkContext 实例会连接到 ClusterManager。 Cluster Manager 会根据用户提交时设置的 CPU 和内存等信息为本次提交分配计算资源，启动 Executor。</a:t>
            </a:r>
            <a:endParaRPr lang="zh-CN" altLang="en-US" sz="1400"/>
          </a:p>
          <a:p>
            <a:r>
              <a:rPr lang="zh-CN" altLang="en-US" sz="1400"/>
              <a:t> 2）、Driver会将用户程序划分为不同的执行阶段Stage，每个执行阶段Stage由一组完全相同Task组成，这些Task分别作用于待处理数据的不同分区。在阶段划分完成和Task创建后， Driver会向Executor发送 Task；</a:t>
            </a:r>
            <a:endParaRPr lang="zh-CN" altLang="en-US" sz="1400"/>
          </a:p>
          <a:p>
            <a:r>
              <a:rPr lang="zh-CN" altLang="en-US" sz="1400"/>
              <a:t> 3）、Executor在接收到Task后，会下载Task的运行时依赖，在准备好Task的执行环境后，会开始执行Task，并且将Task的运行状态汇报给Driver；</a:t>
            </a:r>
            <a:endParaRPr lang="zh-CN" altLang="en-US" sz="1400"/>
          </a:p>
          <a:p>
            <a:r>
              <a:rPr lang="zh-CN" altLang="en-US" sz="1400"/>
              <a:t> 4）、Driver会根据收到的Task的运行状态来处理不同的状态更新。 Task分为两种：一种是Shuffle Map Task，它实现数据的重新洗牌，洗牌的结果保存到Executor 所在节点的文件系统中；另外一种是Result Task，它负责生成结果数据；</a:t>
            </a:r>
            <a:endParaRPr lang="zh-CN" altLang="en-US" sz="1400"/>
          </a:p>
          <a:p>
            <a:r>
              <a:rPr lang="zh-CN" altLang="en-US" sz="1400"/>
              <a:t> 5）、Driver 会不断地调用Task，将Task发送到Executor执行，在所有的Task 都正确执行或者超过执行次数的限制仍然没有执行成功时停止；</a:t>
            </a:r>
            <a:endParaRPr lang="zh-CN" altLang="en-US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en-US" altLang="zh-CN" dirty="0"/>
              <a:t>Spark</a:t>
            </a:r>
            <a:r>
              <a:rPr dirty="0"/>
              <a:t>程序运行层次结构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 sz="1400"/>
              <a:t>在前面我们接触到了不少的监控页面</a:t>
            </a:r>
            <a:r>
              <a:rPr lang="en-US" altLang="zh-CN" sz="1400"/>
              <a:t>,</a:t>
            </a:r>
            <a:r>
              <a:rPr lang="zh-CN" altLang="en-US" sz="1400"/>
              <a:t>有</a:t>
            </a:r>
            <a:r>
              <a:rPr lang="en-US" altLang="zh-CN" sz="1400"/>
              <a:t>4040,</a:t>
            </a:r>
            <a:r>
              <a:rPr lang="zh-CN" altLang="en-US" sz="1400"/>
              <a:t>有</a:t>
            </a:r>
            <a:r>
              <a:rPr lang="en-US" altLang="zh-CN" sz="1400"/>
              <a:t>8080,</a:t>
            </a:r>
            <a:r>
              <a:rPr lang="zh-CN" altLang="en-US" sz="1400"/>
              <a:t>有</a:t>
            </a:r>
            <a:r>
              <a:rPr lang="en-US" altLang="zh-CN" sz="1400"/>
              <a:t>18080,</a:t>
            </a:r>
            <a:r>
              <a:rPr lang="zh-CN" altLang="en-US" sz="1400"/>
              <a:t>它们有何区别吗</a:t>
            </a:r>
            <a:r>
              <a:rPr lang="en-US" altLang="zh-CN" sz="1400"/>
              <a:t>?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4040: </a:t>
            </a:r>
            <a:r>
              <a:rPr lang="zh-CN" altLang="en-US" sz="1400"/>
              <a:t>是一个运行的</a:t>
            </a:r>
            <a:r>
              <a:rPr lang="en-US" altLang="zh-CN" sz="1400"/>
              <a:t>Application</a:t>
            </a:r>
            <a:r>
              <a:rPr lang="zh-CN" altLang="en-US" sz="1400"/>
              <a:t>在运行的过程中临时绑定的端口</a:t>
            </a:r>
            <a:r>
              <a:rPr lang="en-US" altLang="zh-CN" sz="1400"/>
              <a:t>,</a:t>
            </a:r>
            <a:r>
              <a:rPr lang="zh-CN" altLang="en-US" sz="1400"/>
              <a:t>用以查看当前任务的状态</a:t>
            </a:r>
            <a:r>
              <a:rPr lang="en-US" altLang="zh-CN" sz="1400"/>
              <a:t>.4040</a:t>
            </a:r>
            <a:r>
              <a:rPr lang="zh-CN" altLang="en-US" sz="1400"/>
              <a:t>被占用会顺延到</a:t>
            </a:r>
            <a:r>
              <a:rPr lang="en-US" altLang="zh-CN" sz="1400"/>
              <a:t>4041.4042</a:t>
            </a:r>
            <a:r>
              <a:rPr lang="zh-CN" altLang="en-US" sz="1400"/>
              <a:t>等</a:t>
            </a:r>
            <a:endParaRPr lang="zh-CN" altLang="en-US" sz="1400"/>
          </a:p>
          <a:p>
            <a:r>
              <a:rPr lang="en-US" altLang="zh-CN" sz="1400"/>
              <a:t>            </a:t>
            </a:r>
            <a:r>
              <a:rPr lang="en-US" altLang="zh-CN" sz="1400">
                <a:solidFill>
                  <a:srgbClr val="C00000"/>
                </a:solidFill>
              </a:rPr>
              <a:t>4040</a:t>
            </a:r>
            <a:r>
              <a:rPr lang="zh-CN" altLang="en-US" sz="1400">
                <a:solidFill>
                  <a:srgbClr val="C00000"/>
                </a:solidFill>
              </a:rPr>
              <a:t>是一个临时端口</a:t>
            </a:r>
            <a:r>
              <a:rPr lang="en-US" altLang="zh-CN" sz="1400">
                <a:solidFill>
                  <a:srgbClr val="C00000"/>
                </a:solidFill>
              </a:rPr>
              <a:t>,</a:t>
            </a:r>
            <a:r>
              <a:rPr lang="zh-CN" altLang="en-US" sz="1400">
                <a:solidFill>
                  <a:srgbClr val="C00000"/>
                </a:solidFill>
              </a:rPr>
              <a:t>当前程序运行完成后</a:t>
            </a:r>
            <a:r>
              <a:rPr lang="en-US" altLang="zh-CN" sz="1400">
                <a:solidFill>
                  <a:srgbClr val="C00000"/>
                </a:solidFill>
              </a:rPr>
              <a:t>, 4040</a:t>
            </a:r>
            <a:r>
              <a:rPr lang="zh-CN" altLang="en-US" sz="1400">
                <a:solidFill>
                  <a:srgbClr val="C00000"/>
                </a:solidFill>
              </a:rPr>
              <a:t>就会被注销哦</a:t>
            </a:r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8080: </a:t>
            </a:r>
            <a:r>
              <a:rPr lang="zh-CN" altLang="en-US" sz="1400"/>
              <a:t>默认是</a:t>
            </a:r>
            <a:r>
              <a:rPr lang="en-US" altLang="zh-CN" sz="1400"/>
              <a:t>StandAlone</a:t>
            </a:r>
            <a:r>
              <a:rPr lang="zh-CN" altLang="en-US" sz="1400"/>
              <a:t>下</a:t>
            </a:r>
            <a:r>
              <a:rPr lang="en-US" altLang="zh-CN" sz="1400"/>
              <a:t>, Master</a:t>
            </a:r>
            <a:r>
              <a:rPr lang="zh-CN" altLang="en-US" sz="1400"/>
              <a:t>角色</a:t>
            </a:r>
            <a:r>
              <a:rPr lang="en-US" altLang="zh-CN" sz="1400"/>
              <a:t>(</a:t>
            </a:r>
            <a:r>
              <a:rPr lang="zh-CN" altLang="en-US" sz="1400"/>
              <a:t>进程</a:t>
            </a:r>
            <a:r>
              <a:rPr lang="en-US" altLang="zh-CN" sz="1400"/>
              <a:t>)</a:t>
            </a:r>
            <a:r>
              <a:rPr lang="zh-CN" altLang="en-US" sz="1400"/>
              <a:t>的</a:t>
            </a:r>
            <a:r>
              <a:rPr lang="en-US" altLang="zh-CN" sz="1400"/>
              <a:t>WEB</a:t>
            </a:r>
            <a:r>
              <a:rPr lang="zh-CN" altLang="en-US" sz="1400"/>
              <a:t>端口</a:t>
            </a:r>
            <a:r>
              <a:rPr lang="en-US" altLang="zh-CN" sz="1400"/>
              <a:t>,</a:t>
            </a:r>
            <a:r>
              <a:rPr lang="zh-CN" altLang="en-US" sz="1400"/>
              <a:t>用以查看当前</a:t>
            </a:r>
            <a:r>
              <a:rPr lang="en-US" altLang="zh-CN" sz="1400"/>
              <a:t>Master(</a:t>
            </a:r>
            <a:r>
              <a:rPr lang="zh-CN" altLang="en-US" sz="1400"/>
              <a:t>集群</a:t>
            </a:r>
            <a:r>
              <a:rPr lang="en-US" altLang="zh-CN" sz="1400"/>
              <a:t>)</a:t>
            </a:r>
            <a:r>
              <a:rPr lang="zh-CN" altLang="en-US" sz="1400"/>
              <a:t>的状态</a:t>
            </a:r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18080: </a:t>
            </a:r>
            <a:r>
              <a:rPr lang="zh-CN" altLang="en-US" sz="1400"/>
              <a:t>默认是历史服务器的端口</a:t>
            </a:r>
            <a:r>
              <a:rPr lang="en-US" altLang="zh-CN" sz="1400"/>
              <a:t>, </a:t>
            </a:r>
            <a:r>
              <a:rPr lang="zh-CN" altLang="en-US" sz="1400"/>
              <a:t>由于每个程序运行完成后</a:t>
            </a:r>
            <a:r>
              <a:rPr lang="en-US" altLang="zh-CN" sz="1400"/>
              <a:t>,4040</a:t>
            </a:r>
            <a:r>
              <a:rPr lang="zh-CN" altLang="en-US" sz="1400"/>
              <a:t>端口就被注销了</a:t>
            </a:r>
            <a:r>
              <a:rPr lang="en-US" altLang="zh-CN" sz="1400"/>
              <a:t>. </a:t>
            </a:r>
            <a:r>
              <a:rPr lang="zh-CN" altLang="en-US" sz="1400"/>
              <a:t>在以后想回看某个程序的运行状态就可以通过历史服务器查看</a:t>
            </a:r>
            <a:r>
              <a:rPr lang="en-US" altLang="zh-CN" sz="1400"/>
              <a:t>,</a:t>
            </a:r>
            <a:r>
              <a:rPr lang="zh-CN" altLang="en-US" sz="1400"/>
              <a:t>历史服务器长期稳定运行</a:t>
            </a:r>
            <a:r>
              <a:rPr lang="en-US" altLang="zh-CN" sz="1400"/>
              <a:t>,</a:t>
            </a:r>
            <a:r>
              <a:rPr lang="zh-CN" altLang="en-US" sz="1400"/>
              <a:t>可供随时查看被记录的程序的运行过程</a:t>
            </a:r>
            <a:r>
              <a:rPr lang="en-US" altLang="zh-CN" sz="1400"/>
              <a:t>.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3</a:t>
            </a:r>
            <a:r>
              <a:rPr smtClean="0">
                <a:sym typeface="+mn-ea"/>
              </a:rPr>
              <a:t>.</a:t>
            </a:r>
            <a:r>
              <a:rPr lang="en-US" altLang="zh-CN" smtClean="0">
                <a:sym typeface="+mn-ea"/>
              </a:rPr>
              <a:t>4</a:t>
            </a:r>
            <a:r>
              <a:rPr smtClean="0">
                <a:sym typeface="+mn-ea"/>
              </a:rPr>
              <a:t> </a:t>
            </a:r>
            <a:r>
              <a:rPr lang="en-US" altLang="zh-CN">
                <a:sym typeface="+mn-ea"/>
              </a:rPr>
              <a:t>Spark</a:t>
            </a:r>
            <a:r>
              <a:rPr>
                <a:sym typeface="+mn-ea"/>
              </a:rPr>
              <a:t>程序运行层次结构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 sz="1400"/>
              <a:t>运行起来一个</a:t>
            </a:r>
            <a:r>
              <a:rPr lang="en-US" altLang="zh-CN" sz="1400"/>
              <a:t>Spark Application, </a:t>
            </a:r>
            <a:r>
              <a:rPr lang="zh-CN" altLang="en-US" sz="1400"/>
              <a:t>然后打开其</a:t>
            </a:r>
            <a:r>
              <a:rPr lang="en-US" altLang="zh-CN" sz="1400"/>
              <a:t>4040</a:t>
            </a:r>
            <a:r>
              <a:rPr lang="zh-CN" altLang="en-US" sz="1400"/>
              <a:t>端口</a:t>
            </a:r>
            <a:r>
              <a:rPr lang="en-US" altLang="zh-CN" sz="1400"/>
              <a:t>,</a:t>
            </a:r>
            <a:r>
              <a:rPr lang="zh-CN" altLang="en-US" sz="1400"/>
              <a:t>并查看：</a:t>
            </a:r>
            <a:endParaRPr lang="zh-CN" altLang="en-US" sz="1400"/>
          </a:p>
          <a:p>
            <a:r>
              <a:rPr lang="zh-CN" altLang="en-US" sz="1400"/>
              <a:t>/export/server/spark/bin/spark-shell --master spark://node1.itcast.cn:7077 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774700" y="2639060"/>
            <a:ext cx="10493375" cy="3067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在node1运行pyspark-shell，WEB UI监控页面地址：http://node1:4040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1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35" y="3208655"/>
            <a:ext cx="8936990" cy="3069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3</a:t>
            </a:r>
            <a:r>
              <a:rPr smtClean="0">
                <a:sym typeface="+mn-ea"/>
              </a:rPr>
              <a:t>.</a:t>
            </a:r>
            <a:r>
              <a:rPr lang="en-US" altLang="zh-CN" smtClean="0">
                <a:sym typeface="+mn-ea"/>
              </a:rPr>
              <a:t>4</a:t>
            </a:r>
            <a:r>
              <a:rPr smtClean="0">
                <a:sym typeface="+mn-ea"/>
              </a:rPr>
              <a:t> </a:t>
            </a:r>
            <a:r>
              <a:rPr lang="en-US" altLang="zh-CN">
                <a:sym typeface="+mn-ea"/>
              </a:rPr>
              <a:t>Spark</a:t>
            </a:r>
            <a:r>
              <a:rPr>
                <a:sym typeface="+mn-ea"/>
              </a:rPr>
              <a:t>程序运行层次结构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47075" y="1398190"/>
            <a:ext cx="10698800" cy="4219575"/>
          </a:xfrm>
        </p:spPr>
        <p:txBody>
          <a:bodyPr/>
          <a:lstStyle/>
          <a:p>
            <a:r>
              <a:rPr lang="zh-CN" altLang="en-US" sz="1400"/>
              <a:t>可以发现在</a:t>
            </a:r>
            <a:r>
              <a:rPr lang="zh-CN" altLang="en-US" sz="1400">
                <a:solidFill>
                  <a:srgbClr val="FF0000"/>
                </a:solidFill>
              </a:rPr>
              <a:t>一个Spark Application中，包含多个Job</a:t>
            </a:r>
            <a:r>
              <a:rPr lang="zh-CN" altLang="en-US" sz="1400"/>
              <a:t>，</a:t>
            </a:r>
            <a:r>
              <a:rPr lang="zh-CN" altLang="en-US" sz="1400">
                <a:solidFill>
                  <a:srgbClr val="FF0000"/>
                </a:solidFill>
              </a:rPr>
              <a:t>每个Job有多个Stage组成</a:t>
            </a:r>
            <a:r>
              <a:rPr lang="zh-CN" altLang="en-US" sz="1400"/>
              <a:t>，每个Job执行按照DAG图进行的。 </a:t>
            </a:r>
            <a:endParaRPr lang="zh-CN" altLang="en-US" sz="1400"/>
          </a:p>
        </p:txBody>
      </p:sp>
      <p:pic>
        <p:nvPicPr>
          <p:cNvPr id="7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0" y="1932940"/>
            <a:ext cx="4578985" cy="44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050290" y="6365240"/>
            <a:ext cx="9659620" cy="3067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其中每个Stage中包含多个Task任务，每个Task以线程Thread方式执行，需要1Core CPU。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3</a:t>
            </a:r>
            <a:r>
              <a:rPr smtClean="0">
                <a:sym typeface="+mn-ea"/>
              </a:rPr>
              <a:t>.</a:t>
            </a:r>
            <a:r>
              <a:rPr lang="en-US" altLang="zh-CN" smtClean="0">
                <a:sym typeface="+mn-ea"/>
              </a:rPr>
              <a:t>4</a:t>
            </a:r>
            <a:r>
              <a:rPr smtClean="0">
                <a:sym typeface="+mn-ea"/>
              </a:rPr>
              <a:t> </a:t>
            </a:r>
            <a:r>
              <a:rPr lang="en-US" altLang="zh-CN">
                <a:sym typeface="+mn-ea"/>
              </a:rPr>
              <a:t>Spark</a:t>
            </a:r>
            <a:r>
              <a:rPr>
                <a:sym typeface="+mn-ea"/>
              </a:rPr>
              <a:t>程序运行层次结构</a:t>
            </a:r>
            <a:endParaRPr lang="zh-CN" altLang="en-US" dirty="0"/>
          </a:p>
        </p:txBody>
      </p:sp>
      <p:pic>
        <p:nvPicPr>
          <p:cNvPr id="76" name="图片 76" descr="spark-st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890" y="785495"/>
            <a:ext cx="5763260" cy="5873750"/>
          </a:xfrm>
          <a:prstGeom prst="rect">
            <a:avLst/>
          </a:prstGeom>
        </p:spPr>
      </p:pic>
      <p:sp>
        <p:nvSpPr>
          <p:cNvPr id="7" name="文本占位符 3"/>
          <p:cNvSpPr>
            <a:spLocks noGrp="1"/>
          </p:cNvSpPr>
          <p:nvPr/>
        </p:nvSpPr>
        <p:spPr>
          <a:xfrm>
            <a:off x="746760" y="1398270"/>
            <a:ext cx="4984750" cy="48729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/>
              <a:t>Spark Application程序运行时三个核心概念：Job、Stage、Task，说明如下： 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sz="1400"/>
              <a:t>J</a:t>
            </a:r>
            <a:r>
              <a:rPr lang="zh-CN" altLang="en-US" sz="1400"/>
              <a:t>ob：由多个 Task 的并行计算部分，一般 Spark 中的 action 操作（如 save、collect，后面进一步说明），会生成一个 Job。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1400"/>
              <a:t>Stage：Job 的组成单位，一个 Job 会切分成多个 Stage，Stage 彼此之间相互依赖顺序执行，而每个 Stage 是多个 Task 的集合，类似 map 和 reduce stage。 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u"/>
            </a:pPr>
            <a:r>
              <a:rPr lang="zh-CN" altLang="en-US" sz="1400">
                <a:sym typeface="+mn-ea"/>
              </a:rPr>
              <a:t>Task：被分配到各个 Executor 的单位工作内容，它是 Spark 中的最小执行单位，一般来说有多少个 Paritition（物理层面的概念，即分支可以理解为将数据划分成不同部分并行处理），就会有多少个 Task，每个 Task 只会处理单一分支上的数据。</a:t>
            </a:r>
            <a:endParaRPr lang="zh-CN" altLang="en-US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StandAlone</a:t>
            </a:r>
            <a:r>
              <a:rPr lang="zh-CN" altLang="en-US"/>
              <a:t>的原理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en-US" altLang="zh-CN" sz="1200"/>
              <a:t>Master</a:t>
            </a:r>
            <a:r>
              <a:rPr lang="zh-CN" altLang="en-US" sz="1200"/>
              <a:t>和</a:t>
            </a:r>
            <a:r>
              <a:rPr lang="en-US" altLang="zh-CN" sz="1200"/>
              <a:t>Worker</a:t>
            </a:r>
            <a:r>
              <a:rPr lang="zh-CN" altLang="en-US" sz="1200"/>
              <a:t>角色以独立进程的形式存在</a:t>
            </a:r>
            <a:r>
              <a:rPr lang="en-US" altLang="zh-CN" sz="1200"/>
              <a:t>,</a:t>
            </a:r>
            <a:r>
              <a:rPr lang="zh-CN" altLang="en-US" sz="1200"/>
              <a:t>并组成</a:t>
            </a:r>
            <a:r>
              <a:rPr lang="en-US" altLang="zh-CN" sz="1200"/>
              <a:t>Spark</a:t>
            </a:r>
            <a:r>
              <a:rPr lang="zh-CN" altLang="en-US" sz="1200"/>
              <a:t>运行时环境</a:t>
            </a:r>
            <a:r>
              <a:rPr lang="en-US" altLang="zh-CN" sz="1200"/>
              <a:t>(</a:t>
            </a:r>
            <a:r>
              <a:rPr lang="zh-CN" altLang="en-US" sz="1200"/>
              <a:t>集群</a:t>
            </a:r>
            <a:r>
              <a:rPr lang="en-US" altLang="zh-CN" sz="1200"/>
              <a:t>)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Spark</a:t>
            </a:r>
            <a:r>
              <a:rPr lang="zh-CN" altLang="en-US"/>
              <a:t>角色在</a:t>
            </a:r>
            <a:r>
              <a:rPr lang="en-US" altLang="zh-CN"/>
              <a:t>StandAlone</a:t>
            </a:r>
            <a:r>
              <a:rPr lang="zh-CN" altLang="en-US"/>
              <a:t>中的分布？</a:t>
            </a:r>
            <a:endParaRPr lang="zh-CN" altLang="en-US"/>
          </a:p>
          <a:p>
            <a:pPr marL="0" indent="0">
              <a:buNone/>
            </a:pPr>
            <a:r>
              <a:rPr lang="en-US" altLang="zh-CN" sz="1200"/>
              <a:t>Master</a:t>
            </a:r>
            <a:r>
              <a:rPr lang="zh-CN" altLang="en-US" sz="1200"/>
              <a:t>角色</a:t>
            </a:r>
            <a:r>
              <a:rPr lang="en-US" altLang="zh-CN" sz="1200"/>
              <a:t>:Master</a:t>
            </a:r>
            <a:r>
              <a:rPr lang="zh-CN" altLang="en-US" sz="1200"/>
              <a:t>进程</a:t>
            </a:r>
            <a:r>
              <a:rPr lang="en-US" altLang="zh-CN" sz="1200"/>
              <a:t>,  Worker</a:t>
            </a:r>
            <a:r>
              <a:rPr lang="zh-CN" altLang="en-US" sz="1200"/>
              <a:t>角色</a:t>
            </a:r>
            <a:r>
              <a:rPr lang="en-US" altLang="zh-CN" sz="1200"/>
              <a:t>:Worker</a:t>
            </a:r>
            <a:r>
              <a:rPr lang="zh-CN" altLang="en-US" sz="1200"/>
              <a:t>进程</a:t>
            </a:r>
            <a:r>
              <a:rPr lang="en-US" altLang="zh-CN" sz="1200"/>
              <a:t>,  </a:t>
            </a:r>
            <a:r>
              <a:rPr lang="en-US" sz="1200">
                <a:solidFill>
                  <a:srgbClr val="FF0000"/>
                </a:solidFill>
              </a:rPr>
              <a:t>Driver</a:t>
            </a:r>
            <a:r>
              <a:rPr lang="zh-CN" altLang="en-US" sz="1200">
                <a:solidFill>
                  <a:srgbClr val="FF0000"/>
                </a:solidFill>
              </a:rPr>
              <a:t>角色和</a:t>
            </a:r>
            <a:r>
              <a:rPr lang="en-US" altLang="zh-CN" sz="1200">
                <a:solidFill>
                  <a:srgbClr val="FF0000"/>
                </a:solidFill>
              </a:rPr>
              <a:t>Executor</a:t>
            </a:r>
            <a:r>
              <a:rPr lang="zh-CN" altLang="en-US" sz="1200">
                <a:solidFill>
                  <a:srgbClr val="FF0000"/>
                </a:solidFill>
              </a:rPr>
              <a:t>角色</a:t>
            </a:r>
            <a:r>
              <a:rPr lang="en-US" altLang="zh-CN" sz="1200"/>
              <a:t>:</a:t>
            </a:r>
            <a:r>
              <a:rPr lang="zh-CN" altLang="en-US" sz="1200"/>
              <a:t>以线程运行在</a:t>
            </a:r>
            <a:r>
              <a:rPr lang="en-US" altLang="zh-CN" sz="1200"/>
              <a:t>Worker</a:t>
            </a:r>
            <a:r>
              <a:rPr lang="zh-CN" altLang="en-US" sz="1200"/>
              <a:t>中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>
                <a:sym typeface="+mn-ea"/>
              </a:rPr>
              <a:t>Standalone</a:t>
            </a:r>
            <a:r>
              <a:rPr lang="zh-CN" altLang="en-US"/>
              <a:t>如何提交</a:t>
            </a:r>
            <a:r>
              <a:rPr lang="en-US" altLang="zh-CN"/>
              <a:t>Spark</a:t>
            </a:r>
            <a:r>
              <a:rPr lang="zh-CN" altLang="en-US"/>
              <a:t>应用？</a:t>
            </a:r>
            <a:endParaRPr lang="zh-CN" altLang="en-US"/>
          </a:p>
          <a:p>
            <a:pPr marL="0" indent="0">
              <a:buNone/>
            </a:pPr>
            <a:r>
              <a:rPr lang="en-US" altLang="zh-CN" sz="1200"/>
              <a:t>bin/spark-submit --master spark://server:7077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4040\8080\18080</a:t>
            </a:r>
            <a:r>
              <a:rPr lang="zh-CN" altLang="en-US"/>
              <a:t>分别是什么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en-US" altLang="zh-CN" sz="1200"/>
              <a:t>4040</a:t>
            </a:r>
            <a:r>
              <a:rPr lang="zh-CN" altLang="en-US" sz="1200"/>
              <a:t>是单个程序运行的时候绑定的端口可供查看本任务运行情况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Job\State\Task</a:t>
            </a:r>
            <a:r>
              <a:rPr lang="zh-CN" altLang="en-US"/>
              <a:t>的关系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zh-CN" altLang="en-US" sz="1200"/>
              <a:t>一个</a:t>
            </a:r>
            <a:r>
              <a:rPr lang="en-US" altLang="zh-CN" sz="1200"/>
              <a:t>Spark</a:t>
            </a:r>
            <a:r>
              <a:rPr lang="zh-CN" altLang="en-US" sz="1200"/>
              <a:t>程序会被分成多个子任务</a:t>
            </a:r>
            <a:r>
              <a:rPr lang="en-US" altLang="zh-CN" sz="1200"/>
              <a:t>(Job)</a:t>
            </a:r>
            <a:r>
              <a:rPr lang="zh-CN" altLang="en-US" sz="1200"/>
              <a:t>运行</a:t>
            </a:r>
            <a:r>
              <a:rPr lang="en-US" altLang="zh-CN" sz="1200"/>
              <a:t>, </a:t>
            </a:r>
            <a:r>
              <a:rPr lang="zh-CN" altLang="en-US" sz="1200"/>
              <a:t>每一个</a:t>
            </a:r>
            <a:r>
              <a:rPr lang="en-US" altLang="zh-CN" sz="1200"/>
              <a:t>Job</a:t>
            </a:r>
            <a:r>
              <a:rPr lang="zh-CN" altLang="en-US" sz="1200"/>
              <a:t>会分成多个</a:t>
            </a:r>
            <a:r>
              <a:rPr lang="en-US" altLang="zh-CN" sz="1200"/>
              <a:t>State(</a:t>
            </a:r>
            <a:r>
              <a:rPr lang="zh-CN" altLang="en-US" sz="1200"/>
              <a:t>阶段</a:t>
            </a:r>
            <a:r>
              <a:rPr lang="en-US" altLang="zh-CN" sz="1200"/>
              <a:t>)</a:t>
            </a:r>
            <a:r>
              <a:rPr lang="zh-CN" altLang="en-US" sz="1200"/>
              <a:t>来运行</a:t>
            </a:r>
            <a:r>
              <a:rPr lang="en-US" altLang="zh-CN" sz="1200"/>
              <a:t>, </a:t>
            </a:r>
            <a:r>
              <a:rPr lang="zh-CN" altLang="en-US" sz="1200"/>
              <a:t>每一个</a:t>
            </a:r>
            <a:r>
              <a:rPr lang="en-US" altLang="zh-CN" sz="1200"/>
              <a:t>State</a:t>
            </a:r>
            <a:r>
              <a:rPr lang="zh-CN" altLang="en-US" sz="1200"/>
              <a:t>内会分出来多个</a:t>
            </a:r>
            <a:r>
              <a:rPr lang="en-US" altLang="zh-CN" sz="1200"/>
              <a:t>Task(</a:t>
            </a:r>
            <a:r>
              <a:rPr lang="zh-CN" altLang="en-US" sz="1200"/>
              <a:t>线程</a:t>
            </a:r>
            <a:r>
              <a:rPr lang="en-US" altLang="zh-CN" sz="1200"/>
              <a:t>)</a:t>
            </a:r>
            <a:r>
              <a:rPr lang="zh-CN" altLang="en-US" sz="1200"/>
              <a:t>来执行具体任务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105596" y="2768759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环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境搭建-Standalone HA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第四章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.</a:t>
            </a:r>
            <a:r>
              <a:rPr lang="zh-CN" altLang="en-US" dirty="0"/>
              <a:t>1 </a:t>
            </a:r>
            <a:r>
              <a:rPr lang="en-US" altLang="zh-CN" dirty="0"/>
              <a:t>StandAlone HA </a:t>
            </a:r>
            <a:r>
              <a:rPr lang="zh-CN" altLang="en-US" dirty="0"/>
              <a:t>运行原理</a:t>
            </a:r>
            <a:endParaRPr lang="zh-CN" altLang="en-US" dirty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.</a:t>
            </a:r>
            <a:r>
              <a:rPr lang="zh-CN" altLang="en-US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高可用</a:t>
            </a:r>
            <a:r>
              <a:rPr lang="en-US" altLang="zh-CN" dirty="0"/>
              <a:t>HA StandAlone</a:t>
            </a:r>
            <a:r>
              <a:rPr lang="zh-CN" altLang="en-US" dirty="0"/>
              <a:t>集群搭建</a:t>
            </a:r>
            <a:endParaRPr lang="zh-CN" altLang="en-US" dirty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.</a:t>
            </a:r>
            <a:r>
              <a:rPr lang="zh-CN" altLang="en-US" dirty="0"/>
              <a:t>3 测试运行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565" y="1645920"/>
            <a:ext cx="10719435" cy="83439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Spark Standalone集群是Master-Slaves架构的集群模式，和大部分的Master-Slaves结构集群一样，存在着Master单点故障（SPOF）的问题。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导论</a:t>
            </a:r>
            <a:endParaRPr lang="zh-CN" altLang="en-US"/>
          </a:p>
        </p:txBody>
      </p:sp>
      <p:pic>
        <p:nvPicPr>
          <p:cNvPr id="93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960" y="2668905"/>
            <a:ext cx="8936355" cy="3312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1 高可用HA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占位符 1"/>
          <p:cNvSpPr>
            <a:spLocks noGrp="1"/>
          </p:cNvSpPr>
          <p:nvPr/>
        </p:nvSpPr>
        <p:spPr>
          <a:xfrm>
            <a:off x="710878" y="1646133"/>
            <a:ext cx="10947721" cy="42195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如何解决这个单点故障的问题，Spark提供了两种方案：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1.基于文件系统的单点恢复(Single-Node Recovery with Local File System)--只能用于开发或测试环境。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2.基于zookeeper的Standby Masters(Standby Masters with ZooKeeper)--可以用于生产环境。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ZooKeeper提供了一个Leader Election机制，利用这个机制可以保证虽然集群存在多个Master，但是只有一个是Active的，其他的都是Standby。当Active的Master出现故障时，另外的一个Standby Master会被选举出来。由于集群的信息，包括Worker， Driver和Application的信息都已经持久化到文件系统，因此在切换的过程中只会影响新Job的提交，对于正在进行的Job没有任何的影响。加入ZooKeeper的集群整体架构如下图所示。</a:t>
            </a:r>
            <a:endParaRPr lang="zh-CN" altLang="en-US" dirty="0"/>
          </a:p>
        </p:txBody>
      </p:sp>
      <p:pic>
        <p:nvPicPr>
          <p:cNvPr id="79" name="Picture 2" descr="http://images0.cnblogs.com/i/469775/201405/092146069481533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02964" y="4453667"/>
            <a:ext cx="5192395" cy="23069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官方文档：http://spark.apache.org/docs/3.1.2/spark-standalone.html#standby-masters-with-zookeeper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2 基于Zookeeper实现HA</a:t>
            </a:r>
            <a:endParaRPr lang="zh-CN" altLang="en-US" dirty="0">
              <a:sym typeface="+mn-ea"/>
            </a:endParaRPr>
          </a:p>
        </p:txBody>
      </p:sp>
      <p:pic>
        <p:nvPicPr>
          <p:cNvPr id="95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6965" y="2244090"/>
            <a:ext cx="4593590" cy="3944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2 基于Zookeeper实现HA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37229" y="1459242"/>
            <a:ext cx="10719120" cy="57250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此时大家可以直接参考部署文档</a:t>
            </a:r>
            <a:r>
              <a:rPr lang="en-US" altLang="zh-CN" dirty="0"/>
              <a:t>&lt;&lt;</a:t>
            </a:r>
            <a:r>
              <a:rPr lang="en-US" altLang="zh-CN" dirty="0">
                <a:hlinkClick r:id="rId1" action="ppaction://hlinkfile"/>
              </a:rPr>
              <a:t>spark</a:t>
            </a:r>
            <a:r>
              <a:rPr lang="zh-CN" altLang="en-US" dirty="0">
                <a:hlinkClick r:id="rId1" action="ppaction://hlinkfile"/>
              </a:rPr>
              <a:t>部署文档</a:t>
            </a:r>
            <a:r>
              <a:rPr lang="en-US" altLang="zh-CN" dirty="0">
                <a:hlinkClick r:id="rId1" action="ppaction://hlinkfile"/>
              </a:rPr>
              <a:t>.doc</a:t>
            </a:r>
            <a:r>
              <a:rPr lang="en-US" altLang="zh-CN" dirty="0" smtClean="0"/>
              <a:t>&gt;&gt; 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HA</a:t>
            </a:r>
            <a:r>
              <a:rPr lang="zh-CN" altLang="en-US" dirty="0" smtClean="0"/>
              <a:t>构造方案</a:t>
            </a:r>
            <a:endParaRPr lang="zh-CN" altLang="en-US" dirty="0"/>
          </a:p>
        </p:txBody>
      </p:sp>
      <p:sp>
        <p:nvSpPr>
          <p:cNvPr id="6" name="文本占位符 1"/>
          <p:cNvSpPr txBox="1"/>
          <p:nvPr/>
        </p:nvSpPr>
        <p:spPr>
          <a:xfrm>
            <a:off x="710879" y="2135571"/>
            <a:ext cx="10719435" cy="15208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400" dirty="0" smtClean="0"/>
              <a:t>查看WebUI</a:t>
            </a:r>
            <a:endParaRPr lang="zh-CN" altLang="en-US" sz="1400" dirty="0" smtClean="0"/>
          </a:p>
          <a:p>
            <a:pPr marL="0" indent="0">
              <a:buFont typeface="+mj-lt"/>
              <a:buNone/>
            </a:pPr>
            <a:r>
              <a:rPr lang="zh-CN" altLang="en-US" sz="1400" b="1" dirty="0" smtClean="0">
                <a:solidFill>
                  <a:srgbClr val="FF0000"/>
                </a:solidFill>
              </a:rPr>
              <a:t>http://node1:8080/</a:t>
            </a:r>
            <a:endParaRPr lang="zh-CN" altLang="en-US" sz="1400" b="1" dirty="0" smtClean="0">
              <a:solidFill>
                <a:srgbClr val="FF0000"/>
              </a:solidFill>
            </a:endParaRPr>
          </a:p>
          <a:p>
            <a:pPr marL="0" indent="0">
              <a:buFont typeface="+mj-lt"/>
              <a:buNone/>
            </a:pPr>
            <a:r>
              <a:rPr lang="zh-CN" altLang="en-US" sz="1400" b="1" dirty="0" smtClean="0">
                <a:solidFill>
                  <a:srgbClr val="FF0000"/>
                </a:solidFill>
              </a:rPr>
              <a:t>http://node2:8080/</a:t>
            </a:r>
            <a:endParaRPr lang="zh-CN" altLang="en-US" sz="1400" b="1" dirty="0" smtClean="0">
              <a:solidFill>
                <a:srgbClr val="FF0000"/>
              </a:solidFill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 smtClean="0"/>
              <a:t>默认情况下，先启动Master就为Active Master，如下截图所示：</a:t>
            </a:r>
            <a:endParaRPr lang="zh-CN" altLang="en-US" sz="1400" dirty="0"/>
          </a:p>
        </p:txBody>
      </p:sp>
      <p:pic>
        <p:nvPicPr>
          <p:cNvPr id="7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69" y="3954846"/>
            <a:ext cx="4596130" cy="19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7" y="3954529"/>
            <a:ext cx="4584065" cy="194246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占位符 1"/>
          <p:cNvSpPr>
            <a:spLocks noGrp="1"/>
          </p:cNvSpPr>
          <p:nvPr/>
        </p:nvSpPr>
        <p:spPr>
          <a:xfrm>
            <a:off x="736914" y="6000816"/>
            <a:ext cx="10719435" cy="85915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/>
              <a:t>如果将node1的Master进程Kill掉，node2的Master在1Min-2Min左右会接替node1的Master作用。 也就是在执行过程中，使用jps查看Active Master进程ID，将其kill，观察Master是否自动切换与应用运行完成结束。（需要等待1-2min）</a:t>
            </a:r>
            <a:endParaRPr lang="zh-CN" altLang="en-US" sz="1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resultRDD = sc.textFile("hdfs://node1</a:t>
            </a:r>
            <a:r>
              <a:rPr lang="zh-CN" altLang="en-US" dirty="0" smtClean="0"/>
              <a:t>:</a:t>
            </a:r>
            <a:r>
              <a:rPr lang="en-US" altLang="zh-CN" dirty="0" smtClean="0"/>
              <a:t>8020</a:t>
            </a:r>
            <a:r>
              <a:rPr lang="zh-CN" altLang="en-US" dirty="0" smtClean="0"/>
              <a:t>/</a:t>
            </a:r>
            <a:r>
              <a:rPr lang="zh-CN" altLang="en-US" dirty="0"/>
              <a:t>pydata/words.txt") \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.flatMap(lambda line: line.split(" ")) \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.map(lambda x: (x, 1)) \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.reduceByKey(lambda a, b: a + b)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resultRDD .collect()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3 测试运行</a:t>
            </a:r>
            <a:endParaRPr lang="zh-CN" altLang="en-US" dirty="0">
              <a:sym typeface="+mn-ea"/>
            </a:endParaRPr>
          </a:p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3.1 Wordcount测试</a:t>
            </a:r>
            <a:endParaRPr lang="zh-CN" altLang="en-US" dirty="0">
              <a:sym typeface="+mn-ea"/>
            </a:endParaRPr>
          </a:p>
        </p:txBody>
      </p:sp>
      <p:pic>
        <p:nvPicPr>
          <p:cNvPr id="181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45" y="3907790"/>
            <a:ext cx="6501130" cy="2383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98500" y="6320790"/>
            <a:ext cx="632523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>
                <a:srgbClr val="404040"/>
              </a:buClr>
              <a:buSzPct val="85000"/>
              <a:buNone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停止集群：/export/server/spark/sbin/stop-all.sh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关闭活跃的</a:t>
            </a:r>
            <a:r>
              <a:rPr>
                <a:solidFill>
                  <a:srgbClr val="FF0000"/>
                </a:solidFill>
              </a:rPr>
              <a:t>Master</a:t>
            </a:r>
            <a:r>
              <a:rPr lang="zh-CN" altLang="en-US">
                <a:solidFill>
                  <a:srgbClr val="FF0000"/>
                </a:solidFill>
              </a:rPr>
              <a:t>进程</a:t>
            </a:r>
            <a:r>
              <a:rPr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等待</a:t>
            </a:r>
            <a:r>
              <a:rPr>
                <a:solidFill>
                  <a:srgbClr val="FF0000"/>
                </a:solidFill>
              </a:rPr>
              <a:t>30</a:t>
            </a:r>
            <a:r>
              <a:rPr lang="zh-CN" altLang="en-US">
                <a:solidFill>
                  <a:srgbClr val="FF0000"/>
                </a:solidFill>
              </a:rPr>
              <a:t>秒左右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查看</a:t>
            </a:r>
            <a:r>
              <a:rPr>
                <a:solidFill>
                  <a:srgbClr val="FF0000"/>
                </a:solidFill>
              </a:rPr>
              <a:t>standby</a:t>
            </a:r>
            <a:r>
              <a:rPr lang="zh-CN" altLang="en-US">
                <a:solidFill>
                  <a:srgbClr val="FF0000"/>
                </a:solidFill>
              </a:rPr>
              <a:t>是否接管集群</a:t>
            </a:r>
            <a:r>
              <a:rPr>
                <a:solidFill>
                  <a:srgbClr val="FF0000"/>
                </a:solidFill>
              </a:rPr>
              <a:t>.</a:t>
            </a:r>
            <a:endParaRPr>
              <a:solidFill>
                <a:srgbClr val="FF0000"/>
              </a:solidFill>
            </a:endParaRPr>
          </a:p>
          <a:p>
            <a:pPr marL="0" indent="0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3 测试运行</a:t>
            </a:r>
            <a:endParaRPr lang="zh-CN" altLang="en-US" dirty="0">
              <a:sym typeface="+mn-ea"/>
            </a:endParaRPr>
          </a:p>
          <a:p>
            <a:r>
              <a:rPr lang="en-US" altLang="zh-CN" dirty="0" smtClean="0">
                <a:sym typeface="+mn-ea"/>
              </a:rPr>
              <a:t>4</a:t>
            </a:r>
            <a:r>
              <a:rPr lang="zh-CN" altLang="en-US" dirty="0" smtClean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3.2 关闭</a:t>
            </a:r>
            <a:r>
              <a:rPr lang="en-US" altLang="zh-CN" dirty="0">
                <a:sym typeface="+mn-ea"/>
              </a:rPr>
              <a:t>M</a:t>
            </a:r>
            <a:r>
              <a:rPr lang="en-US" altLang="zh-CN" dirty="0">
                <a:sym typeface="+mn-ea"/>
              </a:rPr>
              <a:t>aster</a:t>
            </a:r>
            <a:r>
              <a:rPr lang="zh-CN" altLang="en-US" dirty="0">
                <a:sym typeface="+mn-ea"/>
              </a:rPr>
              <a:t>验证</a:t>
            </a:r>
            <a:r>
              <a:rPr lang="en-US" altLang="zh-CN" dirty="0">
                <a:sym typeface="+mn-ea"/>
              </a:rPr>
              <a:t>HA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StandAlone HA</a:t>
            </a:r>
            <a:r>
              <a:rPr lang="zh-CN" altLang="en-US"/>
              <a:t>的原理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基于</a:t>
            </a:r>
            <a:r>
              <a:rPr lang="en-US" altLang="zh-CN" sz="1200"/>
              <a:t>Zookeeper</a:t>
            </a:r>
            <a:r>
              <a:rPr lang="zh-CN" altLang="en-US" sz="1200"/>
              <a:t>做状态的维护</a:t>
            </a:r>
            <a:r>
              <a:rPr lang="en-US" altLang="zh-CN" sz="1200"/>
              <a:t>, </a:t>
            </a:r>
            <a:r>
              <a:rPr lang="zh-CN" altLang="en-US" sz="1200"/>
              <a:t>开启多个</a:t>
            </a:r>
            <a:r>
              <a:rPr lang="en-US" altLang="zh-CN" sz="1200"/>
              <a:t>Master</a:t>
            </a:r>
            <a:r>
              <a:rPr lang="zh-CN" altLang="en-US" sz="1200"/>
              <a:t>进程</a:t>
            </a:r>
            <a:r>
              <a:rPr lang="en-US" altLang="zh-CN" sz="1200"/>
              <a:t>, </a:t>
            </a:r>
            <a:r>
              <a:rPr lang="zh-CN" altLang="en-US" sz="1200"/>
              <a:t>一个作为活跃</a:t>
            </a:r>
            <a:r>
              <a:rPr lang="en-US" altLang="zh-CN" sz="1200"/>
              <a:t>,</a:t>
            </a:r>
            <a:r>
              <a:rPr lang="zh-CN" altLang="en-US" sz="1200"/>
              <a:t>其它的作为备份</a:t>
            </a:r>
            <a:r>
              <a:rPr lang="en-US" altLang="zh-CN" sz="1200"/>
              <a:t>,</a:t>
            </a:r>
            <a:r>
              <a:rPr lang="zh-CN" altLang="en-US" sz="1200"/>
              <a:t>当活跃进程宕机</a:t>
            </a:r>
            <a:r>
              <a:rPr lang="en-US" altLang="zh-CN" sz="1200"/>
              <a:t>,</a:t>
            </a:r>
            <a:r>
              <a:rPr lang="zh-CN" altLang="en-US" sz="1200"/>
              <a:t>备份</a:t>
            </a:r>
            <a:r>
              <a:rPr lang="en-US" altLang="zh-CN" sz="1200"/>
              <a:t>Master</a:t>
            </a:r>
            <a:r>
              <a:rPr lang="zh-CN" altLang="en-US" sz="1200"/>
              <a:t>进行接管</a:t>
            </a:r>
            <a:r>
              <a:rPr lang="en-US" altLang="zh-CN" sz="1200"/>
              <a:t>.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/>
              <a:t>为什么需要</a:t>
            </a:r>
            <a:r>
              <a:rPr lang="en-US" altLang="zh-CN"/>
              <a:t>Zookeeper?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/>
              <a:t>分布式进程是分布在多个服务器上的</a:t>
            </a:r>
            <a:r>
              <a:rPr lang="en-US" altLang="zh-CN" sz="1200"/>
              <a:t>, </a:t>
            </a:r>
            <a:r>
              <a:rPr lang="zh-CN" altLang="en-US" sz="1200"/>
              <a:t>状态之间的同步需要协调</a:t>
            </a:r>
            <a:r>
              <a:rPr lang="en-US" altLang="zh-CN" sz="1200"/>
              <a:t>,</a:t>
            </a:r>
            <a:r>
              <a:rPr lang="zh-CN" altLang="en-US" sz="1200"/>
              <a:t>比如谁是</a:t>
            </a:r>
            <a:r>
              <a:rPr lang="en-US" altLang="zh-CN" sz="1200"/>
              <a:t>master,</a:t>
            </a:r>
            <a:r>
              <a:rPr lang="zh-CN" altLang="en-US" sz="1200"/>
              <a:t>谁是</a:t>
            </a:r>
            <a:r>
              <a:rPr lang="en-US" altLang="zh-CN" sz="1200"/>
              <a:t>worker.</a:t>
            </a:r>
            <a:r>
              <a:rPr lang="zh-CN" altLang="en-US" sz="1200"/>
              <a:t>谁成了</a:t>
            </a:r>
            <a:r>
              <a:rPr lang="en-US" altLang="zh-CN" sz="1200"/>
              <a:t>master</a:t>
            </a:r>
            <a:r>
              <a:rPr lang="zh-CN" altLang="en-US" sz="1200"/>
              <a:t>后要通知</a:t>
            </a:r>
            <a:r>
              <a:rPr lang="en-US" altLang="zh-CN" sz="1200"/>
              <a:t>worker</a:t>
            </a:r>
            <a:r>
              <a:rPr lang="zh-CN" altLang="en-US" sz="1200"/>
              <a:t>等</a:t>
            </a:r>
            <a:r>
              <a:rPr lang="en-US" altLang="zh-CN" sz="1200"/>
              <a:t>, </a:t>
            </a:r>
            <a:r>
              <a:rPr lang="zh-CN" altLang="en-US" sz="1200"/>
              <a:t>这些需要中心化协调器</a:t>
            </a:r>
            <a:r>
              <a:rPr lang="en-US" altLang="zh-CN" sz="1200"/>
              <a:t>Zookeeper</a:t>
            </a:r>
            <a:r>
              <a:rPr lang="zh-CN" altLang="en-US" sz="1200"/>
              <a:t>来进行状态统一协调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149215" y="2768759"/>
            <a:ext cx="4988316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环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境搭建-Spark on YARN</a:t>
            </a:r>
            <a:b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</a:br>
            <a:r>
              <a:rPr lang="zh-CN" altLang="en-US" sz="20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重点掌握</a:t>
            </a:r>
            <a:endParaRPr lang="zh-CN" altLang="en-US" sz="20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第五章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zh-CN" altLang="en-US" dirty="0"/>
              <a:t>1 SparkOnYarn本质</a:t>
            </a:r>
            <a:endParaRPr lang="zh-CN" altLang="en-US" dirty="0"/>
          </a:p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2 </a:t>
            </a:r>
            <a:r>
              <a:rPr lang="zh-CN" altLang="en-US" dirty="0">
                <a:sym typeface="+mn-ea"/>
              </a:rPr>
              <a:t>配</a:t>
            </a:r>
            <a:r>
              <a:rPr lang="zh-CN" altLang="en-US" dirty="0" smtClean="0">
                <a:sym typeface="+mn-ea"/>
              </a:rPr>
              <a:t>置</a:t>
            </a:r>
            <a:r>
              <a:rPr lang="en-US" altLang="zh-CN" dirty="0" smtClean="0">
                <a:sym typeface="+mn-ea"/>
              </a:rPr>
              <a:t>spark on yarn</a:t>
            </a:r>
            <a:r>
              <a:rPr lang="zh-CN" altLang="en-US" dirty="0" smtClean="0">
                <a:sym typeface="+mn-ea"/>
              </a:rPr>
              <a:t>环境</a:t>
            </a:r>
            <a:endParaRPr lang="zh-CN" altLang="en-US" dirty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zh-CN" altLang="en-US" dirty="0"/>
              <a:t>3 </a:t>
            </a:r>
            <a:r>
              <a:rPr dirty="0">
                <a:sym typeface="+mn-ea"/>
              </a:rPr>
              <a:t>部署模式DeployMode</a:t>
            </a:r>
            <a:endParaRPr lang="zh-CN" altLang="en-US" dirty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zh-CN" altLang="en-US" dirty="0"/>
              <a:t>4 </a:t>
            </a:r>
            <a:r>
              <a:rPr dirty="0">
                <a:sym typeface="+mn-ea"/>
              </a:rPr>
              <a:t>Spark On Yarn两种模式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zh-CN" altLang="en-US" dirty="0"/>
              <a:t>5 </a:t>
            </a:r>
            <a:r>
              <a:rPr dirty="0">
                <a:sym typeface="+mn-ea"/>
              </a:rPr>
              <a:t>扩展阅读：两种模式详细流程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>
                <a:sym typeface="+mn-ea"/>
              </a:rPr>
              <a:t>引言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按照前面环境部署中所学习的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如果我们想要一个稳定的生产</a:t>
            </a:r>
            <a:r>
              <a:rPr lang="en-US" altLang="zh-CN" dirty="0">
                <a:solidFill>
                  <a:schemeClr val="tx1"/>
                </a:solidFill>
              </a:rPr>
              <a:t>Spark</a:t>
            </a:r>
            <a:r>
              <a:rPr lang="zh-CN" altLang="en-US" dirty="0">
                <a:solidFill>
                  <a:schemeClr val="tx1"/>
                </a:solidFill>
              </a:rPr>
              <a:t>环境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那么最优的选择就是构建</a:t>
            </a:r>
            <a:r>
              <a:rPr lang="en-US" altLang="zh-CN" dirty="0">
                <a:solidFill>
                  <a:schemeClr val="tx1"/>
                </a:solidFill>
              </a:rPr>
              <a:t>:HA StandAlone</a:t>
            </a:r>
            <a:r>
              <a:rPr lang="zh-CN" altLang="en-US" dirty="0">
                <a:solidFill>
                  <a:schemeClr val="tx1"/>
                </a:solidFill>
              </a:rPr>
              <a:t>集群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不过在企业中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服务器的资源总是紧张的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许多企业不管做什么业务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都基本上会有</a:t>
            </a:r>
            <a:r>
              <a:rPr lang="en-US" altLang="zh-CN" dirty="0">
                <a:solidFill>
                  <a:schemeClr val="tx1"/>
                </a:solidFill>
              </a:rPr>
              <a:t>Hadoop</a:t>
            </a:r>
            <a:r>
              <a:rPr lang="zh-CN" altLang="en-US" dirty="0">
                <a:solidFill>
                  <a:schemeClr val="tx1"/>
                </a:solidFill>
              </a:rPr>
              <a:t>集群</a:t>
            </a:r>
            <a:r>
              <a:rPr lang="en-US" altLang="zh-CN" dirty="0">
                <a:solidFill>
                  <a:schemeClr val="tx1"/>
                </a:solidFill>
              </a:rPr>
              <a:t>. </a:t>
            </a:r>
            <a:r>
              <a:rPr lang="zh-CN" altLang="en-US" dirty="0">
                <a:solidFill>
                  <a:schemeClr val="tx1"/>
                </a:solidFill>
              </a:rPr>
              <a:t>也就是会有</a:t>
            </a:r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集群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对于企业来说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在已有</a:t>
            </a:r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集群的前提下在单独准备</a:t>
            </a:r>
            <a:r>
              <a:rPr lang="en-US" altLang="zh-CN" dirty="0">
                <a:solidFill>
                  <a:schemeClr val="tx1"/>
                </a:solidFill>
              </a:rPr>
              <a:t>Spark StandAlone</a:t>
            </a:r>
            <a:r>
              <a:rPr lang="zh-CN" altLang="en-US" dirty="0">
                <a:solidFill>
                  <a:schemeClr val="tx1"/>
                </a:solidFill>
              </a:rPr>
              <a:t>集群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对</a:t>
            </a:r>
            <a:r>
              <a:rPr lang="zh-CN" altLang="en-US" b="1" dirty="0">
                <a:solidFill>
                  <a:srgbClr val="FF0000"/>
                </a:solidFill>
              </a:rPr>
              <a:t>资源的利用就不高</a:t>
            </a:r>
            <a:r>
              <a:rPr lang="en-US" altLang="zh-CN" dirty="0">
                <a:solidFill>
                  <a:schemeClr val="tx1"/>
                </a:solidFill>
              </a:rPr>
              <a:t>. </a:t>
            </a:r>
            <a:r>
              <a:rPr lang="zh-CN" altLang="en-US" dirty="0">
                <a:solidFill>
                  <a:schemeClr val="tx1"/>
                </a:solidFill>
              </a:rPr>
              <a:t>所以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在企业中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多数场景下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会将</a:t>
            </a:r>
            <a:r>
              <a:rPr lang="en-US" altLang="zh-CN" b="1" dirty="0">
                <a:solidFill>
                  <a:srgbClr val="FF0000"/>
                </a:solidFill>
              </a:rPr>
              <a:t>Spark</a:t>
            </a:r>
            <a:r>
              <a:rPr lang="zh-CN" altLang="en-US" b="1" dirty="0">
                <a:solidFill>
                  <a:srgbClr val="FF0000"/>
                </a:solidFill>
              </a:rPr>
              <a:t>运行到</a:t>
            </a:r>
            <a:r>
              <a:rPr lang="en-US" altLang="zh-CN" b="1" dirty="0">
                <a:solidFill>
                  <a:srgbClr val="FF0000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集群中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本身是一个资源调度框架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负责对运行在内部的计算框架进行资源调度管理</a:t>
            </a:r>
            <a:r>
              <a:rPr lang="en-US" altLang="zh-CN" dirty="0">
                <a:solidFill>
                  <a:schemeClr val="tx1"/>
                </a:solidFill>
              </a:rPr>
              <a:t>. 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作为典型的计算框架</a:t>
            </a:r>
            <a:r>
              <a:rPr lang="en-US" altLang="zh-CN" dirty="0">
                <a:solidFill>
                  <a:schemeClr val="tx1"/>
                </a:solidFill>
              </a:rPr>
              <a:t>, Spark</a:t>
            </a:r>
            <a:r>
              <a:rPr lang="zh-CN" altLang="en-US" dirty="0">
                <a:solidFill>
                  <a:schemeClr val="tx1"/>
                </a:solidFill>
              </a:rPr>
              <a:t>本身也是直接运行在</a:t>
            </a:r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中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并接受</a:t>
            </a:r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的调度的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所以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对于</a:t>
            </a:r>
            <a:r>
              <a:rPr lang="en-US" altLang="zh-CN" dirty="0">
                <a:solidFill>
                  <a:schemeClr val="tx1"/>
                </a:solidFill>
              </a:rPr>
              <a:t>Spark On YARN, </a:t>
            </a:r>
            <a:r>
              <a:rPr lang="zh-CN" altLang="en-US" dirty="0">
                <a:solidFill>
                  <a:schemeClr val="tx1"/>
                </a:solidFill>
              </a:rPr>
              <a:t>无需部署</a:t>
            </a:r>
            <a:r>
              <a:rPr lang="en-US" altLang="zh-CN" dirty="0">
                <a:solidFill>
                  <a:schemeClr val="tx1"/>
                </a:solidFill>
              </a:rPr>
              <a:t>Spark</a:t>
            </a:r>
            <a:r>
              <a:rPr lang="zh-CN" altLang="en-US" dirty="0">
                <a:solidFill>
                  <a:schemeClr val="tx1"/>
                </a:solidFill>
              </a:rPr>
              <a:t>集群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b="1" dirty="0">
                <a:solidFill>
                  <a:srgbClr val="FF0000"/>
                </a:solidFill>
              </a:rPr>
              <a:t>只要找一台服务器</a:t>
            </a:r>
            <a:r>
              <a:rPr lang="en-US" altLang="zh-CN" b="1" dirty="0">
                <a:solidFill>
                  <a:srgbClr val="FF0000"/>
                </a:solidFill>
              </a:rPr>
              <a:t>, </a:t>
            </a:r>
            <a:r>
              <a:rPr lang="zh-CN" altLang="en-US" b="1" dirty="0">
                <a:solidFill>
                  <a:srgbClr val="FF0000"/>
                </a:solidFill>
              </a:rPr>
              <a:t>充当</a:t>
            </a:r>
            <a:r>
              <a:rPr lang="en-US" altLang="zh-CN" b="1" dirty="0">
                <a:solidFill>
                  <a:srgbClr val="FF0000"/>
                </a:solidFill>
              </a:rPr>
              <a:t>Spark</a:t>
            </a:r>
            <a:r>
              <a:rPr lang="zh-CN" altLang="en-US" b="1" dirty="0">
                <a:solidFill>
                  <a:srgbClr val="FF0000"/>
                </a:solidFill>
              </a:rPr>
              <a:t>的客户端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zh-CN" altLang="en-US" dirty="0">
                <a:solidFill>
                  <a:schemeClr val="tx1"/>
                </a:solidFill>
              </a:rPr>
              <a:t>即可提交任务到</a:t>
            </a:r>
            <a:r>
              <a:rPr lang="en-US" altLang="zh-CN" dirty="0">
                <a:solidFill>
                  <a:schemeClr val="tx1"/>
                </a:solidFill>
              </a:rPr>
              <a:t>YARN</a:t>
            </a:r>
            <a:r>
              <a:rPr lang="zh-CN" altLang="en-US" dirty="0">
                <a:solidFill>
                  <a:schemeClr val="tx1"/>
                </a:solidFill>
              </a:rPr>
              <a:t>集群中运行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.1 </a:t>
            </a:r>
            <a:r>
              <a:rPr dirty="0">
                <a:sym typeface="+mn-ea"/>
              </a:rPr>
              <a:t>SparkOnYarn本质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Spark On Yarn的本质?</a:t>
            </a:r>
            <a:endParaRPr lang="zh-CN" altLang="en-US" dirty="0"/>
          </a:p>
          <a:p>
            <a:pPr marL="285750" indent="-285750"/>
            <a:r>
              <a:rPr lang="zh-CN" altLang="en-US" sz="1200" dirty="0" smtClean="0"/>
              <a:t>  </a:t>
            </a:r>
            <a:r>
              <a:rPr lang="en-US" altLang="zh-CN" sz="1200" dirty="0" smtClean="0"/>
              <a:t>Master</a:t>
            </a:r>
            <a:r>
              <a:rPr lang="zh-CN" altLang="en-US" sz="1200" dirty="0" smtClean="0"/>
              <a:t>角色由</a:t>
            </a:r>
            <a:r>
              <a:rPr lang="en-US" altLang="zh-CN" sz="1200" dirty="0" smtClean="0"/>
              <a:t>YARN</a:t>
            </a:r>
            <a:r>
              <a:rPr lang="zh-CN" altLang="en-US" sz="1200" dirty="0" smtClean="0"/>
              <a:t>的</a:t>
            </a:r>
            <a:r>
              <a:rPr lang="en-US" altLang="zh-CN" sz="1200" dirty="0" smtClean="0"/>
              <a:t>ResourceManager</a:t>
            </a:r>
            <a:r>
              <a:rPr lang="zh-CN" altLang="en-US" sz="1200" dirty="0" smtClean="0"/>
              <a:t>担任</a:t>
            </a:r>
            <a:r>
              <a:rPr lang="en-US" altLang="zh-CN" sz="1200" dirty="0" smtClean="0"/>
              <a:t>.</a:t>
            </a:r>
            <a:endParaRPr lang="en-US" altLang="zh-CN" sz="1200" dirty="0" smtClean="0"/>
          </a:p>
          <a:p>
            <a:pPr marL="285750" indent="-285750"/>
            <a:r>
              <a:rPr lang="en-US" altLang="zh-CN" sz="1200" dirty="0" smtClean="0"/>
              <a:t>  Worker</a:t>
            </a:r>
            <a:r>
              <a:rPr lang="zh-CN" altLang="en-US" sz="1200" dirty="0" smtClean="0"/>
              <a:t>角色由</a:t>
            </a:r>
            <a:r>
              <a:rPr lang="en-US" altLang="zh-CN" sz="1200" dirty="0" smtClean="0"/>
              <a:t>YARN</a:t>
            </a:r>
            <a:r>
              <a:rPr lang="zh-CN" altLang="en-US" sz="1200" dirty="0" smtClean="0"/>
              <a:t>的</a:t>
            </a:r>
            <a:r>
              <a:rPr lang="en-US" altLang="zh-CN" sz="1200" dirty="0" smtClean="0"/>
              <a:t>NodeManager</a:t>
            </a:r>
            <a:r>
              <a:rPr lang="zh-CN" altLang="en-US" sz="1200" dirty="0" smtClean="0"/>
              <a:t>担任</a:t>
            </a:r>
            <a:r>
              <a:rPr lang="en-US" altLang="zh-CN" sz="1200" dirty="0" smtClean="0"/>
              <a:t>.</a:t>
            </a:r>
            <a:endParaRPr lang="en-US" altLang="zh-CN" sz="1200" dirty="0" smtClean="0"/>
          </a:p>
          <a:p>
            <a:pPr marL="285750" indent="-285750"/>
            <a:r>
              <a:rPr lang="en-US" altLang="zh-CN" sz="1200" dirty="0" smtClean="0"/>
              <a:t>  Driver</a:t>
            </a:r>
            <a:r>
              <a:rPr lang="zh-CN" altLang="en-US" sz="1200" dirty="0" smtClean="0"/>
              <a:t>角色运行在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YARN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容器</a:t>
            </a:r>
            <a:r>
              <a:rPr lang="zh-CN" altLang="en-US" sz="1200" dirty="0" smtClean="0"/>
              <a:t>内</a:t>
            </a:r>
            <a:r>
              <a:rPr lang="en-US" altLang="zh-CN" sz="1200" dirty="0" smtClean="0"/>
              <a:t> </a:t>
            </a:r>
            <a:r>
              <a:rPr lang="zh-CN" altLang="en-US" sz="1200" dirty="0" smtClean="0"/>
              <a:t>或</a:t>
            </a:r>
            <a:r>
              <a:rPr lang="en-US" altLang="zh-CN" sz="1200" dirty="0" smtClean="0"/>
              <a:t> </a:t>
            </a:r>
            <a:r>
              <a:rPr lang="zh-CN" altLang="en-US" sz="1200" dirty="0" smtClean="0"/>
              <a:t>提交任务的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客户端进程</a:t>
            </a:r>
            <a:r>
              <a:rPr lang="zh-CN" altLang="en-US" sz="1200" dirty="0" smtClean="0"/>
              <a:t>中</a:t>
            </a:r>
            <a:endParaRPr lang="zh-CN" altLang="en-US" sz="1200" dirty="0" smtClean="0"/>
          </a:p>
          <a:p>
            <a:pPr marL="285750" indent="-285750"/>
            <a:r>
              <a:rPr lang="en-US" altLang="zh-CN" sz="1200" dirty="0"/>
              <a:t>  </a:t>
            </a:r>
            <a:r>
              <a:rPr lang="zh-CN" altLang="en-US" sz="1200" dirty="0"/>
              <a:t>真正干活的</a:t>
            </a:r>
            <a:r>
              <a:rPr lang="en-US" altLang="zh-CN" sz="1200" b="1" dirty="0">
                <a:solidFill>
                  <a:srgbClr val="FF0000"/>
                </a:solidFill>
              </a:rPr>
              <a:t>Executor</a:t>
            </a:r>
            <a:r>
              <a:rPr lang="zh-CN" altLang="en-US" sz="1200" b="1" dirty="0">
                <a:solidFill>
                  <a:srgbClr val="FF0000"/>
                </a:solidFill>
              </a:rPr>
              <a:t>运行在</a:t>
            </a:r>
            <a:r>
              <a:rPr lang="en-US" altLang="zh-CN" sz="1200" b="1" dirty="0">
                <a:solidFill>
                  <a:srgbClr val="FF0000"/>
                </a:solidFill>
              </a:rPr>
              <a:t>YARN</a:t>
            </a:r>
            <a:r>
              <a:rPr lang="zh-CN" altLang="en-US" sz="1200" b="1" dirty="0">
                <a:solidFill>
                  <a:srgbClr val="FF0000"/>
                </a:solidFill>
              </a:rPr>
              <a:t>提供的容器</a:t>
            </a:r>
            <a:r>
              <a:rPr lang="zh-CN" altLang="en-US" sz="1200" dirty="0"/>
              <a:t>内</a:t>
            </a:r>
            <a:endParaRPr lang="zh-CN" altLang="en-US" sz="1200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Spark On Yarn需要啥?</a:t>
            </a:r>
            <a:endParaRPr lang="zh-CN" altLang="en-US" dirty="0"/>
          </a:p>
          <a:p>
            <a:pPr marL="285750" indent="-285750"/>
            <a:r>
              <a:rPr lang="zh-CN" altLang="en-US" sz="1200" dirty="0"/>
              <a:t>1.需要Yarn集群:已经安装了</a:t>
            </a:r>
            <a:endParaRPr lang="zh-CN" altLang="en-US" sz="1200" dirty="0"/>
          </a:p>
          <a:p>
            <a:r>
              <a:rPr lang="zh-CN" altLang="en-US" sz="1200" dirty="0"/>
              <a:t>2.需要</a:t>
            </a:r>
            <a:r>
              <a:rPr lang="en-US" altLang="zh-CN" sz="1200" dirty="0"/>
              <a:t>Spark</a:t>
            </a:r>
            <a:r>
              <a:rPr lang="zh-CN" altLang="en-US" sz="1200" dirty="0"/>
              <a:t>客户端工具</a:t>
            </a:r>
            <a:r>
              <a:rPr lang="en-US" altLang="zh-CN" sz="1200" dirty="0"/>
              <a:t>, </a:t>
            </a:r>
            <a:r>
              <a:rPr lang="zh-CN" altLang="en-US" sz="1200" dirty="0"/>
              <a:t>比如</a:t>
            </a:r>
            <a:r>
              <a:rPr lang="en-US" altLang="zh-CN" sz="1200" dirty="0"/>
              <a:t>spark-submit, </a:t>
            </a:r>
            <a:r>
              <a:rPr lang="zh-CN" altLang="en-US" sz="1200" dirty="0"/>
              <a:t>可以将</a:t>
            </a:r>
            <a:r>
              <a:rPr lang="en-US" altLang="zh-CN" sz="1200" dirty="0"/>
              <a:t>Spark</a:t>
            </a:r>
            <a:r>
              <a:rPr lang="zh-CN" altLang="en-US" sz="1200" dirty="0"/>
              <a:t>程序提交到</a:t>
            </a:r>
            <a:r>
              <a:rPr lang="en-US" altLang="zh-CN" sz="1200" dirty="0"/>
              <a:t>YARN</a:t>
            </a:r>
            <a:r>
              <a:rPr lang="zh-CN" altLang="en-US" sz="1200" dirty="0"/>
              <a:t>中</a:t>
            </a:r>
            <a:endParaRPr lang="zh-CN" altLang="en-US" sz="1200" dirty="0"/>
          </a:p>
          <a:p>
            <a:r>
              <a:rPr lang="zh-CN" altLang="en-US" sz="1200" dirty="0"/>
              <a:t>3.需要被提交的代码程序:，如spark/examples/src/main/python/pi.py此示例程序,或我们后续自己开发的Spark任务</a:t>
            </a:r>
            <a:endParaRPr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735" y="1457325"/>
            <a:ext cx="7327265" cy="2638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2 </a:t>
            </a:r>
            <a:r>
              <a:rPr lang="zh-CN" altLang="en-US" dirty="0">
                <a:sym typeface="+mn-ea"/>
              </a:rPr>
              <a:t>配</a:t>
            </a:r>
            <a:r>
              <a:rPr lang="zh-CN" altLang="en-US" dirty="0" smtClean="0">
                <a:sym typeface="+mn-ea"/>
              </a:rPr>
              <a:t>置</a:t>
            </a:r>
            <a:r>
              <a:rPr lang="en-US" altLang="zh-CN" dirty="0" smtClean="0">
                <a:sym typeface="+mn-ea"/>
              </a:rPr>
              <a:t>spark on yarn</a:t>
            </a:r>
            <a:r>
              <a:rPr lang="zh-CN" altLang="en-US" dirty="0" smtClean="0">
                <a:sym typeface="+mn-ea"/>
              </a:rPr>
              <a:t>环境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此部分直接参考</a:t>
            </a:r>
            <a:r>
              <a:rPr lang="en-US" altLang="zh-CN" dirty="0"/>
              <a:t>&lt;&lt;spark</a:t>
            </a:r>
            <a:r>
              <a:rPr lang="zh-CN" altLang="en-US" dirty="0"/>
              <a:t>部署文档</a:t>
            </a:r>
            <a:r>
              <a:rPr lang="en-US" altLang="zh-CN" dirty="0"/>
              <a:t>.doc</a:t>
            </a:r>
            <a:r>
              <a:rPr lang="en-US" altLang="zh-CN" dirty="0" smtClean="0"/>
              <a:t>&gt;&gt;</a:t>
            </a:r>
            <a:r>
              <a:rPr lang="zh-CN" altLang="en-US" dirty="0"/>
              <a:t> </a:t>
            </a:r>
            <a:r>
              <a:rPr lang="zh-CN" altLang="en-US" dirty="0" smtClean="0"/>
              <a:t>即可</a:t>
            </a:r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Spark On YARN</a:t>
            </a:r>
            <a:r>
              <a:rPr lang="zh-CN" altLang="en-US" dirty="0"/>
              <a:t>是有两种运行模式的</a:t>
            </a:r>
            <a:r>
              <a:rPr lang="en-US" altLang="zh-CN" dirty="0"/>
              <a:t>,</a:t>
            </a:r>
            <a:r>
              <a:rPr lang="zh-CN" altLang="en-US" dirty="0"/>
              <a:t>一种是</a:t>
            </a:r>
            <a:r>
              <a:rPr lang="en-US" altLang="zh-CN" dirty="0"/>
              <a:t>Cluster</a:t>
            </a:r>
            <a:r>
              <a:rPr lang="zh-CN" altLang="en-US" dirty="0"/>
              <a:t>模式一种是</a:t>
            </a:r>
            <a:r>
              <a:rPr lang="en-US" altLang="zh-CN" dirty="0"/>
              <a:t>Client</a:t>
            </a:r>
            <a:r>
              <a:rPr lang="zh-CN" altLang="en-US" dirty="0"/>
              <a:t>模式</a:t>
            </a:r>
            <a:r>
              <a:rPr lang="en-US" altLang="zh-CN" dirty="0"/>
              <a:t>.</a:t>
            </a:r>
            <a:endParaRPr lang="en-US" altLang="zh-CN" dirty="0"/>
          </a:p>
          <a:p>
            <a:r>
              <a:rPr lang="zh-CN" altLang="en-US" dirty="0"/>
              <a:t>这两种模式的区别就是</a:t>
            </a:r>
            <a:r>
              <a:rPr lang="en-US" altLang="zh-CN" dirty="0"/>
              <a:t>Driver</a:t>
            </a:r>
            <a:r>
              <a:rPr lang="zh-CN" altLang="en-US" dirty="0"/>
              <a:t>运行的位置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Cluster</a:t>
            </a:r>
            <a:r>
              <a:rPr lang="zh-CN" altLang="en-US" dirty="0"/>
              <a:t>模式即</a:t>
            </a:r>
            <a:r>
              <a:rPr lang="en-US" altLang="zh-CN" dirty="0"/>
              <a:t>:Driver</a:t>
            </a:r>
            <a:r>
              <a:rPr lang="zh-CN" altLang="en-US" dirty="0"/>
              <a:t>运行在</a:t>
            </a:r>
            <a:r>
              <a:rPr lang="en-US" altLang="zh-CN" dirty="0"/>
              <a:t>YARN</a:t>
            </a:r>
            <a:r>
              <a:rPr lang="zh-CN" altLang="en-US" dirty="0"/>
              <a:t>容器内部</a:t>
            </a:r>
            <a:r>
              <a:rPr lang="en-US" altLang="zh-CN" dirty="0"/>
              <a:t>, </a:t>
            </a:r>
            <a:r>
              <a:rPr lang="zh-CN" altLang="en-US" dirty="0"/>
              <a:t>和</a:t>
            </a:r>
            <a:r>
              <a:rPr lang="en-US" altLang="zh-CN" dirty="0"/>
              <a:t>ApplicationMaster</a:t>
            </a:r>
            <a:r>
              <a:rPr lang="zh-CN" altLang="en-US" dirty="0"/>
              <a:t>在同一个容器内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Client</a:t>
            </a:r>
            <a:r>
              <a:rPr lang="zh-CN" altLang="en-US" dirty="0"/>
              <a:t>模式即</a:t>
            </a:r>
            <a:r>
              <a:rPr lang="en-US" altLang="zh-CN" dirty="0"/>
              <a:t>:Driver</a:t>
            </a:r>
            <a:r>
              <a:rPr lang="zh-CN" altLang="en-US" dirty="0"/>
              <a:t>运行在客户端进程中</a:t>
            </a:r>
            <a:r>
              <a:rPr lang="en-US" altLang="zh-CN" dirty="0"/>
              <a:t>, </a:t>
            </a:r>
            <a:r>
              <a:rPr lang="zh-CN" altLang="en-US" dirty="0"/>
              <a:t>比如</a:t>
            </a:r>
            <a:r>
              <a:rPr lang="en-US" altLang="zh-CN" dirty="0"/>
              <a:t>Driver</a:t>
            </a:r>
            <a:r>
              <a:rPr lang="zh-CN" altLang="en-US" dirty="0"/>
              <a:t>运行在</a:t>
            </a:r>
            <a:r>
              <a:rPr lang="en-US" altLang="zh-CN" dirty="0"/>
              <a:t>spark-submit</a:t>
            </a:r>
            <a:r>
              <a:rPr lang="zh-CN" altLang="en-US" dirty="0"/>
              <a:t>程序的进程中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dirty="0">
              <a:sym typeface="+mn-ea"/>
            </a:endParaRP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zh-CN" altLang="en-US" dirty="0"/>
              <a:t>1 </a:t>
            </a:r>
            <a:r>
              <a:rPr lang="en-US" altLang="zh-CN" dirty="0"/>
              <a:t>Cluster</a:t>
            </a:r>
            <a:r>
              <a:rPr dirty="0"/>
              <a:t>模式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如图</a:t>
            </a:r>
            <a:r>
              <a:rPr lang="en-US" altLang="zh-CN" dirty="0"/>
              <a:t>, </a:t>
            </a:r>
            <a:r>
              <a:rPr lang="zh-CN" altLang="en-US" dirty="0"/>
              <a:t>此为</a:t>
            </a:r>
            <a:r>
              <a:rPr lang="en-US" altLang="zh-CN" dirty="0"/>
              <a:t>Cluster</a:t>
            </a:r>
            <a:r>
              <a:rPr lang="zh-CN" altLang="en-US" dirty="0"/>
              <a:t>模式</a:t>
            </a:r>
            <a:endParaRPr lang="zh-CN" altLang="en-US" dirty="0"/>
          </a:p>
          <a:p>
            <a:r>
              <a:rPr lang="en-US" altLang="zh-CN" dirty="0"/>
              <a:t>Driver</a:t>
            </a:r>
            <a:r>
              <a:rPr lang="zh-CN" altLang="en-US" dirty="0"/>
              <a:t>运行在容器内部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0" y="3028315"/>
            <a:ext cx="6751320" cy="2430780"/>
          </a:xfrm>
          <a:prstGeom prst="rect">
            <a:avLst/>
          </a:prstGeom>
        </p:spPr>
      </p:pic>
      <p:pic>
        <p:nvPicPr>
          <p:cNvPr id="4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764915"/>
            <a:ext cx="5107940" cy="2163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dirty="0">
              <a:sym typeface="+mn-ea"/>
            </a:endParaRP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2</a:t>
            </a:r>
            <a:r>
              <a:rPr lang="zh-CN" altLang="en-US" dirty="0"/>
              <a:t> </a:t>
            </a:r>
            <a:r>
              <a:rPr lang="en-US" altLang="zh-CN" dirty="0"/>
              <a:t>Client</a:t>
            </a:r>
            <a:r>
              <a:rPr dirty="0"/>
              <a:t>模式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如图</a:t>
            </a:r>
            <a:r>
              <a:rPr lang="en-US" altLang="zh-CN" dirty="0"/>
              <a:t>, </a:t>
            </a:r>
            <a:r>
              <a:rPr lang="zh-CN" altLang="en-US" dirty="0"/>
              <a:t>此为</a:t>
            </a:r>
            <a:r>
              <a:rPr lang="en-US" altLang="zh-CN" dirty="0"/>
              <a:t>Client</a:t>
            </a:r>
            <a:r>
              <a:rPr lang="zh-CN" altLang="en-US" dirty="0"/>
              <a:t>模式</a:t>
            </a:r>
            <a:endParaRPr lang="zh-CN" altLang="en-US" dirty="0"/>
          </a:p>
          <a:p>
            <a:r>
              <a:rPr lang="en-US" altLang="zh-CN" dirty="0"/>
              <a:t>Driver</a:t>
            </a:r>
            <a:r>
              <a:rPr lang="zh-CN" altLang="en-US" dirty="0"/>
              <a:t>运行在客户端程序进程中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en-US" altLang="zh-CN" dirty="0"/>
              <a:t>spark-submit</a:t>
            </a:r>
            <a:r>
              <a:rPr lang="zh-CN" altLang="en-US" dirty="0"/>
              <a:t>为例</a:t>
            </a:r>
            <a:r>
              <a:rPr lang="en-US" altLang="zh-CN" dirty="0"/>
              <a:t>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705" y="2782570"/>
            <a:ext cx="6219825" cy="3221990"/>
          </a:xfrm>
          <a:prstGeom prst="rect">
            <a:avLst/>
          </a:prstGeom>
        </p:spPr>
      </p:pic>
      <p:pic>
        <p:nvPicPr>
          <p:cNvPr id="4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5" y="3575685"/>
            <a:ext cx="5084445" cy="19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第五章 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+mn-ea"/>
              </a:rPr>
              <a:t>环境搭建-Spark on YARN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dirty="0">
              <a:sym typeface="+mn-ea"/>
            </a:endParaRP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/>
              <a:t> </a:t>
            </a:r>
            <a:r>
              <a:rPr dirty="0"/>
              <a:t>两种模式的区别</a:t>
            </a:r>
            <a:endParaRPr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93875" y="2071370"/>
          <a:ext cx="8533765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Cluster</a:t>
                      </a:r>
                      <a:r>
                        <a:rPr lang="zh-CN" altLang="en-US"/>
                        <a:t>模式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Client</a:t>
                      </a:r>
                      <a:r>
                        <a:rPr lang="zh-CN" altLang="en-US"/>
                        <a:t>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Driver</a:t>
                      </a:r>
                      <a:r>
                        <a:rPr lang="zh-CN" altLang="en-US"/>
                        <a:t>运行位置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YARN</a:t>
                      </a:r>
                      <a:r>
                        <a:rPr lang="zh-CN" altLang="en-US"/>
                        <a:t>容器内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客户端进程内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通讯效率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低于</a:t>
                      </a:r>
                      <a:r>
                        <a:rPr lang="en-US" altLang="zh-CN"/>
                        <a:t>Cluster</a:t>
                      </a:r>
                      <a:r>
                        <a:rPr lang="zh-CN" altLang="en-US"/>
                        <a:t>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日志查看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日志输出在容器内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查看不方便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日志输出在客户端的标准输出流中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方便查看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生产可用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推荐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不推荐</a:t>
                      </a:r>
                      <a:endParaRPr lang="zh-CN" altLang="en-US"/>
                    </a:p>
                  </a:txBody>
                  <a:tcPr/>
                </a:tc>
              </a:tr>
              <a:tr h="523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稳定性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/>
                        <a:t>稳定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基于客户端进程</a:t>
                      </a:r>
                      <a:r>
                        <a:rPr lang="en-US" altLang="zh-CN"/>
                        <a:t>,</a:t>
                      </a:r>
                      <a:r>
                        <a:rPr lang="zh-CN" altLang="en-US"/>
                        <a:t>受到客户端进程影响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dirty="0">
              <a:sym typeface="+mn-ea"/>
            </a:endParaRP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/>
              <a:t>4</a:t>
            </a:r>
            <a:r>
              <a:rPr lang="zh-CN" altLang="en-US" dirty="0"/>
              <a:t> client 模式测试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假设运行圆周率PI程序，采用client模式，命令如下：</a:t>
            </a:r>
            <a:endParaRPr lang="zh-CN" altLang="en-US"/>
          </a:p>
          <a:p>
            <a:r>
              <a:rPr lang="zh-CN" altLang="en-US"/>
              <a:t>SPARK_HOME=/export/server/spark</a:t>
            </a:r>
            <a:endParaRPr lang="zh-CN" altLang="en-US"/>
          </a:p>
          <a:p>
            <a:r>
              <a:rPr lang="zh-CN" altLang="en-US"/>
              <a:t>${SPARK_HOME}/bin/spark-submit \</a:t>
            </a:r>
            <a:endParaRPr lang="zh-CN" altLang="en-US"/>
          </a:p>
          <a:p>
            <a:r>
              <a:rPr lang="zh-CN" altLang="en-US"/>
              <a:t>--master </a:t>
            </a:r>
            <a:r>
              <a:rPr lang="en-US" altLang="zh-CN">
                <a:solidFill>
                  <a:srgbClr val="FF0000"/>
                </a:solidFill>
              </a:rPr>
              <a:t>yarn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/>
              <a:t>\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--deploy-mode</a:t>
            </a:r>
            <a:r>
              <a:rPr lang="zh-CN" altLang="en-US"/>
              <a:t> client \</a:t>
            </a:r>
            <a:endParaRPr lang="zh-CN" altLang="en-US"/>
          </a:p>
          <a:p>
            <a:r>
              <a:rPr lang="zh-CN" altLang="en-US"/>
              <a:t>--driver-memory 512m \</a:t>
            </a:r>
            <a:endParaRPr lang="zh-CN" altLang="en-US"/>
          </a:p>
          <a:p>
            <a:r>
              <a:rPr lang="zh-CN" altLang="en-US"/>
              <a:t>--executor-memory 512m \</a:t>
            </a:r>
            <a:endParaRPr lang="zh-CN" altLang="en-US"/>
          </a:p>
          <a:p>
            <a:r>
              <a:rPr lang="zh-CN" altLang="en-US"/>
              <a:t>--num-executors 1 \</a:t>
            </a:r>
            <a:endParaRPr lang="zh-CN" altLang="en-US"/>
          </a:p>
          <a:p>
            <a:r>
              <a:rPr lang="zh-CN" altLang="en-US"/>
              <a:t>--total-executor-cores 2 \</a:t>
            </a:r>
            <a:endParaRPr lang="zh-CN" altLang="en-US"/>
          </a:p>
          <a:p>
            <a:r>
              <a:rPr lang="zh-CN" altLang="en-US"/>
              <a:t>${SPARK_HOME}/examples/src/main/python/pi.py \</a:t>
            </a:r>
            <a:endParaRPr lang="zh-CN" altLang="en-US"/>
          </a:p>
          <a:p>
            <a:r>
              <a:rPr lang="zh-CN" altLang="en-US"/>
              <a:t>10</a:t>
            </a:r>
            <a:endParaRPr lang="zh-CN" altLang="en-US"/>
          </a:p>
        </p:txBody>
      </p:sp>
      <p:pic>
        <p:nvPicPr>
          <p:cNvPr id="117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591" y="3647391"/>
            <a:ext cx="5274310" cy="14135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931785" y="5099050"/>
            <a:ext cx="3273425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日志跟随客户端的标准输出流进行输出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3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部署模式DeployMode</a:t>
            </a:r>
            <a:endParaRPr dirty="0">
              <a:sym typeface="+mn-ea"/>
            </a:endParaRPr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 smtClean="0"/>
              <a:t>.</a:t>
            </a:r>
            <a:r>
              <a:rPr lang="en-US" altLang="zh-CN" dirty="0"/>
              <a:t>5</a:t>
            </a:r>
            <a:r>
              <a:rPr lang="zh-CN" altLang="en-US" dirty="0"/>
              <a:t> cluster 模式测试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假设运行圆周率PI程序，采用cluster模式，命令如下：</a:t>
            </a:r>
            <a:endParaRPr lang="zh-CN" altLang="en-US" dirty="0"/>
          </a:p>
          <a:p>
            <a:r>
              <a:rPr lang="zh-CN" altLang="en-US" sz="1400" dirty="0"/>
              <a:t>SPARK_HOME=/export/server/spark</a:t>
            </a:r>
            <a:endParaRPr lang="zh-CN" altLang="en-US" sz="1400" dirty="0"/>
          </a:p>
          <a:p>
            <a:r>
              <a:rPr lang="zh-CN" altLang="en-US" sz="1400" dirty="0"/>
              <a:t>${SPARK_HOME}/bin/spark-submit \</a:t>
            </a:r>
            <a:endParaRPr lang="zh-CN" altLang="en-US" sz="1400" dirty="0"/>
          </a:p>
          <a:p>
            <a:r>
              <a:rPr lang="zh-CN" altLang="en-US" sz="1400" dirty="0"/>
              <a:t>--master </a:t>
            </a:r>
            <a:r>
              <a:rPr lang="en-US" altLang="zh-CN" sz="1400" dirty="0">
                <a:solidFill>
                  <a:srgbClr val="FF0000"/>
                </a:solidFill>
              </a:rPr>
              <a:t>yarn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zh-CN" altLang="en-US" sz="1400" dirty="0"/>
              <a:t>\</a:t>
            </a:r>
            <a:endParaRPr lang="zh-CN" altLang="en-US" sz="1400" dirty="0"/>
          </a:p>
          <a:p>
            <a:r>
              <a:rPr lang="zh-CN" altLang="en-US" sz="1400" dirty="0">
                <a:solidFill>
                  <a:srgbClr val="FF0000"/>
                </a:solidFill>
              </a:rPr>
              <a:t>--deploy-mode cluster</a:t>
            </a:r>
            <a:r>
              <a:rPr lang="zh-CN" altLang="en-US" sz="1400" dirty="0"/>
              <a:t>  \</a:t>
            </a:r>
            <a:endParaRPr lang="zh-CN" altLang="en-US" sz="1400" dirty="0"/>
          </a:p>
          <a:p>
            <a:r>
              <a:rPr lang="zh-CN" altLang="en-US" sz="1400" dirty="0"/>
              <a:t>--driver-memory 512m \</a:t>
            </a:r>
            <a:endParaRPr lang="zh-CN" altLang="en-US" sz="1400" dirty="0"/>
          </a:p>
          <a:p>
            <a:r>
              <a:rPr lang="zh-CN" altLang="en-US" sz="1400" dirty="0"/>
              <a:t>--executor-memory 512m \</a:t>
            </a:r>
            <a:endParaRPr lang="zh-CN" altLang="en-US" sz="1400" dirty="0"/>
          </a:p>
          <a:p>
            <a:r>
              <a:rPr lang="zh-CN" altLang="en-US" sz="1400" dirty="0"/>
              <a:t>--num-executors 1 \</a:t>
            </a:r>
            <a:endParaRPr lang="zh-CN" altLang="en-US" sz="1400" dirty="0"/>
          </a:p>
          <a:p>
            <a:r>
              <a:rPr lang="zh-CN" altLang="en-US" sz="1400" dirty="0"/>
              <a:t>--total-executor-cores 2 \</a:t>
            </a:r>
            <a:endParaRPr lang="zh-CN" altLang="en-US" sz="1400" dirty="0"/>
          </a:p>
          <a:p>
            <a:r>
              <a:rPr lang="zh-CN" altLang="en-US" sz="1400" dirty="0"/>
              <a:t>--conf "spark.pyspark.driver.python=/root/anaconda3/bin/python3" \</a:t>
            </a:r>
            <a:endParaRPr lang="zh-CN" altLang="en-US" sz="1400" dirty="0"/>
          </a:p>
          <a:p>
            <a:r>
              <a:rPr lang="zh-CN" altLang="en-US" sz="1400" dirty="0"/>
              <a:t>--conf "spark.pyspark.python=/root/anaconda3/bin/python3" \</a:t>
            </a:r>
            <a:endParaRPr lang="zh-CN" altLang="en-US" sz="1400" dirty="0"/>
          </a:p>
          <a:p>
            <a:r>
              <a:rPr lang="zh-CN" altLang="en-US" sz="1400" dirty="0"/>
              <a:t>${SPARK_HOME}/examples/src/main/python/pi.py \</a:t>
            </a:r>
            <a:endParaRPr lang="zh-CN" altLang="en-US" sz="1400" dirty="0"/>
          </a:p>
          <a:p>
            <a:r>
              <a:rPr lang="zh-CN" altLang="en-US" sz="1400" dirty="0"/>
              <a:t>10</a:t>
            </a:r>
            <a:endParaRPr lang="zh-CN" altLang="en-US" sz="1400" dirty="0"/>
          </a:p>
        </p:txBody>
      </p:sp>
      <p:pic>
        <p:nvPicPr>
          <p:cNvPr id="125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630" y="3144520"/>
            <a:ext cx="7405370" cy="1541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4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Spark On Yarn两种模式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Client模式和Cluster模式最最本质的区别是：Driver程序运行在哪里。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Client模式：学习测试时使用，生产不推荐</a:t>
            </a:r>
            <a:r>
              <a:rPr lang="en-US" altLang="zh-CN" dirty="0"/>
              <a:t>(</a:t>
            </a:r>
            <a:r>
              <a:rPr lang="zh-CN" altLang="en-US" dirty="0"/>
              <a:t>要用也可以</a:t>
            </a:r>
            <a:r>
              <a:rPr lang="en-US" altLang="zh-CN" dirty="0"/>
              <a:t>,</a:t>
            </a:r>
            <a:r>
              <a:rPr lang="zh-CN" altLang="en-US" dirty="0"/>
              <a:t>性能略低</a:t>
            </a:r>
            <a:r>
              <a:rPr lang="en-US" altLang="zh-CN" dirty="0"/>
              <a:t>,</a:t>
            </a:r>
            <a:r>
              <a:rPr lang="zh-CN" altLang="en-US" dirty="0"/>
              <a:t>稳定性略低</a:t>
            </a:r>
            <a:r>
              <a:rPr lang="en-US" altLang="zh-CN" dirty="0"/>
              <a:t>)</a:t>
            </a:r>
            <a:endParaRPr lang="zh-CN" altLang="en-US" dirty="0"/>
          </a:p>
          <a:p>
            <a:pPr marL="285750" indent="-285750"/>
            <a:r>
              <a:rPr lang="zh-CN" altLang="en-US" dirty="0"/>
              <a:t>  1.Driver运行在Client上,和集群的通信成本高</a:t>
            </a:r>
            <a:endParaRPr lang="zh-CN" altLang="en-US" dirty="0"/>
          </a:p>
          <a:p>
            <a:r>
              <a:rPr lang="zh-CN" altLang="en-US" dirty="0"/>
              <a:t>  2.Driver输出结果会在客户端显示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Cluster模式：生产环境中使用该模式</a:t>
            </a:r>
            <a:endParaRPr lang="zh-CN" altLang="en-US" dirty="0"/>
          </a:p>
          <a:p>
            <a:pPr marL="285750" indent="-285750"/>
            <a:r>
              <a:rPr lang="zh-CN" altLang="en-US" dirty="0"/>
              <a:t>  1.Driver程序在YARN集群中，和集群的通信成本低</a:t>
            </a:r>
            <a:endParaRPr lang="zh-CN" altLang="en-US" dirty="0"/>
          </a:p>
          <a:p>
            <a:r>
              <a:rPr lang="zh-CN" altLang="en-US" dirty="0"/>
              <a:t>  2.Driver输出结果不能在客户端显示</a:t>
            </a:r>
            <a:endParaRPr lang="zh-CN" altLang="en-US" dirty="0"/>
          </a:p>
          <a:p>
            <a:r>
              <a:rPr lang="zh-CN" altLang="en-US" dirty="0"/>
              <a:t>  3.该模式下Driver运行ApplicattionMaster这个节点上,由Yarn管理，如果出现问题，yarn会重启ApplicattionMaster(Driver)</a:t>
            </a:r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扩展阅读：两种模式详细流程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在YARN Client模式下，Driver在任务提交的本地机器上运行，示意图如下：</a:t>
            </a:r>
            <a:endParaRPr lang="zh-CN" altLang="en-US" dirty="0"/>
          </a:p>
        </p:txBody>
      </p:sp>
      <p:pic>
        <p:nvPicPr>
          <p:cNvPr id="10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932" y="2013439"/>
            <a:ext cx="7686675" cy="4575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扩展阅读：两种模式详细流程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具体流程步骤如下：</a:t>
            </a:r>
            <a:endParaRPr lang="zh-CN" altLang="en-US" dirty="0"/>
          </a:p>
          <a:p>
            <a:r>
              <a:rPr lang="zh-CN" altLang="en-US" dirty="0"/>
              <a:t>1）、Driver在任务提交的本地机器上运行，Driver启动后会和ResourceManager通讯申请启动ApplicationMaster；</a:t>
            </a:r>
            <a:endParaRPr lang="zh-CN" altLang="en-US" dirty="0"/>
          </a:p>
          <a:p>
            <a:r>
              <a:rPr lang="zh-CN" altLang="en-US" dirty="0"/>
              <a:t>2）、随后ResourceManager分配Container，在合适的NodeManager上启动ApplicationMaster，此时的ApplicationMaster的功能相当于一个ExecutorLaucher，只负责向ResourceManager申请Executor内存；</a:t>
            </a:r>
            <a:endParaRPr lang="zh-CN" altLang="en-US" dirty="0"/>
          </a:p>
          <a:p>
            <a:r>
              <a:rPr lang="zh-CN" altLang="en-US" dirty="0"/>
              <a:t>3）、ResourceManager接到ApplicationMaster的资源申请后会分配Container，然后ApplicationMaster在资源分配指定的NodeManager上启动Executor进程；</a:t>
            </a:r>
            <a:endParaRPr lang="zh-CN" altLang="en-US" dirty="0"/>
          </a:p>
          <a:p>
            <a:r>
              <a:rPr lang="zh-CN" altLang="en-US" dirty="0"/>
              <a:t>4）、Executor进程启动后会向Driver反向注册，Executor全部注册完成后Driver开始执行main函数；</a:t>
            </a:r>
            <a:endParaRPr lang="zh-CN" altLang="en-US" dirty="0"/>
          </a:p>
          <a:p>
            <a:r>
              <a:rPr lang="zh-CN" altLang="en-US" dirty="0"/>
              <a:t>5）、之后执行到Action算子时，触发一个Job，并根据宽依赖开始划分Stage，每个Stage生成对应的TaskSet，之后将Task分发到各个Executor上执行。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扩展阅读：两种模式详细流程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在YARN Cluster模式下，Driver运行在NodeManager Contanier中，此时Driver与AppMaster合为一体，示意图如下：</a:t>
            </a:r>
            <a:endParaRPr lang="zh-CN" altLang="en-US"/>
          </a:p>
        </p:txBody>
      </p:sp>
      <p:pic>
        <p:nvPicPr>
          <p:cNvPr id="11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69160"/>
            <a:ext cx="10135870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.</a:t>
            </a:r>
            <a:r>
              <a:rPr lang="en-US" dirty="0" smtClean="0">
                <a:sym typeface="+mn-ea"/>
              </a:rPr>
              <a:t>5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扩展阅读：两种模式详细流程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具体流程步骤如下：</a:t>
            </a:r>
            <a:endParaRPr lang="zh-CN" altLang="en-US" dirty="0"/>
          </a:p>
          <a:p>
            <a:r>
              <a:rPr lang="zh-CN" altLang="en-US" dirty="0"/>
              <a:t>1）、任务提交后会和ResourceManager通讯申请启动ApplicationMaster;</a:t>
            </a:r>
            <a:endParaRPr lang="zh-CN" altLang="en-US" dirty="0"/>
          </a:p>
          <a:p>
            <a:r>
              <a:rPr lang="zh-CN" altLang="en-US" dirty="0"/>
              <a:t>2）、随后ResourceManager分配Container，在合适的NodeManager上启动ApplicationMaster，此时的ApplicationMaster就是Driver；</a:t>
            </a:r>
            <a:endParaRPr lang="zh-CN" altLang="en-US" dirty="0"/>
          </a:p>
          <a:p>
            <a:r>
              <a:rPr lang="zh-CN" altLang="en-US" dirty="0"/>
              <a:t>3）、Driver启动后向ResourceManager申请Executor内存，ResourceManager接到ApplicationMaster的资源申请后会分配Container,然后在合适的NodeManager上启动Executor进程;</a:t>
            </a:r>
            <a:endParaRPr lang="zh-CN" altLang="en-US" dirty="0"/>
          </a:p>
          <a:p>
            <a:r>
              <a:rPr lang="zh-CN" altLang="en-US" dirty="0"/>
              <a:t>4）、Executor进程启动后会向Driver反向注册;</a:t>
            </a:r>
            <a:endParaRPr lang="zh-CN" altLang="en-US" dirty="0"/>
          </a:p>
          <a:p>
            <a:r>
              <a:rPr lang="zh-CN" altLang="en-US" dirty="0"/>
              <a:t>5）、Executor全部注册完成后Driver开始执行main函数，之后执行到Action算子时，触发一个job，并根据宽依赖开始划分stage，每个stage生成对应的taskSet，之后将task分发到各个Executor上执行;</a:t>
            </a:r>
            <a:endParaRPr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SparkOnYarn</a:t>
            </a:r>
            <a:r>
              <a:rPr lang="zh-CN" altLang="en-US"/>
              <a:t>本质？</a:t>
            </a:r>
            <a:endParaRPr lang="zh-CN" altLang="en-US"/>
          </a:p>
          <a:p>
            <a:pPr marL="0" indent="0">
              <a:buNone/>
            </a:pPr>
            <a:r>
              <a:rPr lang="en-US" altLang="zh-CN" sz="1200"/>
              <a:t>Master</a:t>
            </a:r>
            <a:r>
              <a:rPr lang="zh-CN" altLang="en-US" sz="1200"/>
              <a:t>由</a:t>
            </a:r>
            <a:r>
              <a:rPr lang="en-US" altLang="zh-CN" sz="1200"/>
              <a:t>ResourceManager</a:t>
            </a:r>
            <a:r>
              <a:rPr lang="zh-CN" altLang="en-US" sz="1200"/>
              <a:t>代替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 sz="1200"/>
              <a:t>Worker</a:t>
            </a:r>
            <a:r>
              <a:rPr lang="zh-CN" altLang="en-US" sz="1200"/>
              <a:t>由</a:t>
            </a:r>
            <a:r>
              <a:rPr lang="en-US" altLang="zh-CN" sz="1200"/>
              <a:t>NodeManager</a:t>
            </a:r>
            <a:r>
              <a:rPr lang="zh-CN" altLang="en-US" sz="1200"/>
              <a:t>代替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 sz="1200"/>
              <a:t>Driver</a:t>
            </a:r>
            <a:r>
              <a:rPr lang="zh-CN" altLang="en-US" sz="1200"/>
              <a:t>可以运行在容器内</a:t>
            </a:r>
            <a:r>
              <a:rPr lang="en-US" altLang="zh-CN" sz="1200"/>
              <a:t>(Cluster</a:t>
            </a:r>
            <a:r>
              <a:rPr lang="zh-CN" altLang="en-US" sz="1200"/>
              <a:t>模式</a:t>
            </a:r>
            <a:r>
              <a:rPr lang="en-US" altLang="zh-CN" sz="1200"/>
              <a:t>)</a:t>
            </a:r>
            <a:r>
              <a:rPr lang="zh-CN" altLang="en-US" sz="1200"/>
              <a:t>或客户端进程中</a:t>
            </a:r>
            <a:r>
              <a:rPr lang="en-US" altLang="zh-CN" sz="1200"/>
              <a:t>(Client</a:t>
            </a:r>
            <a:r>
              <a:rPr lang="zh-CN" altLang="en-US" sz="1200"/>
              <a:t>模式</a:t>
            </a:r>
            <a:r>
              <a:rPr lang="en-US" altLang="zh-CN" sz="1200"/>
              <a:t>)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Executor</a:t>
            </a:r>
            <a:r>
              <a:rPr lang="zh-CN" altLang="en-US" sz="1200"/>
              <a:t>全部运行在</a:t>
            </a:r>
            <a:r>
              <a:rPr lang="en-US" altLang="zh-CN" sz="1200"/>
              <a:t>YARN</a:t>
            </a:r>
            <a:r>
              <a:rPr lang="zh-CN" altLang="en-US" sz="1200"/>
              <a:t>提供的容器内</a:t>
            </a:r>
            <a:endParaRPr lang="zh-CN" altLang="en-US" sz="1200"/>
          </a:p>
          <a:p>
            <a:pPr marL="0" indent="0">
              <a:buNone/>
            </a:pPr>
            <a:r>
              <a:rPr lang="en-US" altLang="zh-CN"/>
              <a:t>Why Spark On YARN?</a:t>
            </a:r>
            <a:endParaRPr lang="en-US" altLang="zh-CN"/>
          </a:p>
          <a:p>
            <a:pPr marL="0" indent="0">
              <a:buNone/>
            </a:pPr>
            <a:r>
              <a:rPr lang="zh-CN" altLang="en-US" sz="1200"/>
              <a:t>提高资源利用率</a:t>
            </a:r>
            <a:r>
              <a:rPr lang="en-US" altLang="zh-CN" sz="1200"/>
              <a:t>, </a:t>
            </a:r>
            <a:r>
              <a:rPr lang="zh-CN" altLang="en-US" sz="1200"/>
              <a:t>在已有</a:t>
            </a:r>
            <a:r>
              <a:rPr lang="en-US" altLang="zh-CN" sz="1200"/>
              <a:t>YARN</a:t>
            </a:r>
            <a:r>
              <a:rPr lang="zh-CN" altLang="en-US" sz="1200"/>
              <a:t>的场景下让</a:t>
            </a:r>
            <a:r>
              <a:rPr lang="en-US" altLang="zh-CN" sz="1200"/>
              <a:t>Spark</a:t>
            </a:r>
            <a:r>
              <a:rPr lang="zh-CN" altLang="en-US" sz="1200"/>
              <a:t>收到</a:t>
            </a:r>
            <a:r>
              <a:rPr lang="en-US" altLang="zh-CN" sz="1200"/>
              <a:t>YARN</a:t>
            </a:r>
            <a:r>
              <a:rPr lang="zh-CN" altLang="en-US" sz="1200"/>
              <a:t>的调度可以更好的管控资源提高利用率并方便管理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123180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P</a:t>
            </a:r>
            <a:r>
              <a:rPr lang="zh-CN" altLang="en-US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ySpark库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第六章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框架</a:t>
            </a:r>
            <a:r>
              <a:rPr lang="en-US" altLang="zh-CN" dirty="0" smtClean="0"/>
              <a:t> VS </a:t>
            </a:r>
            <a:r>
              <a:rPr lang="zh-CN" altLang="en-US" dirty="0" smtClean="0"/>
              <a:t>类库</a:t>
            </a:r>
            <a:endParaRPr lang="en-US" dirty="0" smtClean="0"/>
          </a:p>
          <a:p>
            <a:r>
              <a:rPr lang="en-US" dirty="0" smtClean="0"/>
              <a:t>6</a:t>
            </a:r>
            <a:r>
              <a:rPr dirty="0" smtClean="0"/>
              <a:t>.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lang="zh-CN" dirty="0"/>
              <a:t>什么是</a:t>
            </a:r>
            <a:r>
              <a:rPr lang="en-US" altLang="zh-CN" dirty="0"/>
              <a:t>PySpark(</a:t>
            </a:r>
            <a:r>
              <a:rPr lang="zh-CN" altLang="en-US" dirty="0"/>
              <a:t>类库</a:t>
            </a:r>
            <a:r>
              <a:rPr lang="en-US" altLang="zh-CN" dirty="0"/>
              <a:t>)</a:t>
            </a:r>
            <a:endParaRPr dirty="0"/>
          </a:p>
          <a:p>
            <a:r>
              <a:rPr lang="en-US" dirty="0" smtClean="0"/>
              <a:t>6</a:t>
            </a:r>
            <a:r>
              <a:rPr dirty="0" smtClean="0"/>
              <a:t>.</a:t>
            </a:r>
            <a:r>
              <a:rPr lang="en-US" dirty="0" smtClean="0"/>
              <a:t>3 </a:t>
            </a:r>
            <a:r>
              <a:rPr lang="zh-CN" dirty="0" smtClean="0"/>
              <a:t>安装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6.1 </a:t>
            </a:r>
            <a:r>
              <a:t>框架</a:t>
            </a:r>
            <a:r>
              <a:rPr lang="en-US" altLang="zh-CN"/>
              <a:t> VS </a:t>
            </a:r>
            <a:r>
              <a:t>类库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" y="1549400"/>
            <a:ext cx="8284845" cy="428815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6.2 </a:t>
            </a:r>
            <a:r>
              <a:t>什么是</a:t>
            </a:r>
            <a:r>
              <a:rPr lang="en-US" altLang="zh-CN"/>
              <a:t>PySpark</a:t>
            </a:r>
            <a:endParaRPr lang="en-US" altLang="zh-CN"/>
          </a:p>
        </p:txBody>
      </p:sp>
      <p:sp>
        <p:nvSpPr>
          <p:cNvPr id="2" name="文本占位符 1"/>
          <p:cNvSpPr/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我们前面使用过</a:t>
            </a:r>
            <a:r>
              <a:rPr lang="en-US" altLang="zh-CN"/>
              <a:t>bin/pyspark </a:t>
            </a:r>
            <a:r>
              <a:rPr lang="zh-CN" altLang="en-US"/>
              <a:t>程序</a:t>
            </a:r>
            <a:r>
              <a:rPr lang="en-US" altLang="zh-CN"/>
              <a:t>, </a:t>
            </a:r>
            <a:r>
              <a:rPr lang="zh-CN" altLang="en-US"/>
              <a:t>要注意</a:t>
            </a:r>
            <a:r>
              <a:rPr lang="en-US" altLang="zh-CN"/>
              <a:t>, </a:t>
            </a:r>
            <a:r>
              <a:rPr lang="zh-CN" altLang="en-US"/>
              <a:t>这个只是一个</a:t>
            </a:r>
            <a:r>
              <a:rPr lang="zh-CN" altLang="en-US">
                <a:solidFill>
                  <a:srgbClr val="FF0000"/>
                </a:solidFill>
              </a:rPr>
              <a:t>应用程序</a:t>
            </a:r>
            <a:r>
              <a:rPr lang="en-US" altLang="zh-CN"/>
              <a:t>, </a:t>
            </a:r>
            <a:r>
              <a:rPr lang="zh-CN" altLang="en-US"/>
              <a:t>提供一个</a:t>
            </a:r>
            <a:r>
              <a:rPr lang="en-US" altLang="zh-CN"/>
              <a:t>Python</a:t>
            </a:r>
            <a:r>
              <a:rPr lang="zh-CN" altLang="en-US"/>
              <a:t>解释器执行环境来运行</a:t>
            </a:r>
            <a:r>
              <a:rPr lang="en-US" altLang="zh-CN"/>
              <a:t>Spark</a:t>
            </a:r>
            <a:r>
              <a:rPr lang="zh-CN" altLang="en-US"/>
              <a:t>任务</a:t>
            </a:r>
            <a:endParaRPr lang="zh-CN" altLang="en-US"/>
          </a:p>
          <a:p>
            <a:r>
              <a:rPr lang="zh-CN" altLang="en-US"/>
              <a:t>我们</a:t>
            </a:r>
            <a:r>
              <a:rPr lang="zh-CN" altLang="en-US">
                <a:solidFill>
                  <a:srgbClr val="FF0000"/>
                </a:solidFill>
              </a:rPr>
              <a:t>现在说的</a:t>
            </a:r>
            <a:r>
              <a:rPr lang="en-US" altLang="zh-CN">
                <a:solidFill>
                  <a:srgbClr val="FF0000"/>
                </a:solidFill>
              </a:rPr>
              <a:t>PySpark, </a:t>
            </a:r>
            <a:r>
              <a:rPr lang="zh-CN" altLang="en-US">
                <a:solidFill>
                  <a:srgbClr val="FF0000"/>
                </a:solidFill>
              </a:rPr>
              <a:t>指的是</a:t>
            </a:r>
            <a:r>
              <a:rPr lang="en-US" altLang="zh-CN">
                <a:solidFill>
                  <a:srgbClr val="FF0000"/>
                </a:solidFill>
              </a:rPr>
              <a:t>Python</a:t>
            </a:r>
            <a:r>
              <a:rPr lang="zh-CN" altLang="en-US">
                <a:solidFill>
                  <a:srgbClr val="FF0000"/>
                </a:solidFill>
              </a:rPr>
              <a:t>的运行类库</a:t>
            </a:r>
            <a:r>
              <a:rPr lang="en-US" altLang="zh-CN"/>
              <a:t>, </a:t>
            </a:r>
            <a:r>
              <a:rPr lang="zh-CN" altLang="en-US"/>
              <a:t>是可以在</a:t>
            </a:r>
            <a:r>
              <a:rPr lang="en-US" altLang="zh-CN"/>
              <a:t>Python</a:t>
            </a:r>
            <a:r>
              <a:rPr lang="zh-CN" altLang="en-US"/>
              <a:t>代码中</a:t>
            </a:r>
            <a:r>
              <a:rPr lang="en-US" altLang="zh-CN"/>
              <a:t>:import pyspark</a:t>
            </a:r>
            <a:endParaRPr lang="en-US" altLang="zh-CN"/>
          </a:p>
          <a:p>
            <a:r>
              <a:rPr lang="en-US" altLang="zh-CN"/>
              <a:t>PySpark </a:t>
            </a:r>
            <a:r>
              <a:rPr lang="zh-CN" altLang="en-US"/>
              <a:t>是</a:t>
            </a:r>
            <a:r>
              <a:rPr lang="en-US" altLang="zh-CN"/>
              <a:t>Spark</a:t>
            </a:r>
            <a:r>
              <a:rPr lang="zh-CN" altLang="en-US"/>
              <a:t>官方提供的一个</a:t>
            </a:r>
            <a:r>
              <a:rPr lang="en-US" altLang="zh-CN"/>
              <a:t>Python</a:t>
            </a:r>
            <a:r>
              <a:rPr lang="zh-CN" altLang="en-US"/>
              <a:t>类库</a:t>
            </a:r>
            <a:r>
              <a:rPr lang="en-US" altLang="zh-CN"/>
              <a:t>, </a:t>
            </a:r>
            <a:r>
              <a:rPr lang="zh-CN" altLang="en-US"/>
              <a:t>内置了完全的</a:t>
            </a:r>
            <a:r>
              <a:rPr lang="en-US" altLang="zh-CN"/>
              <a:t>Spark API, </a:t>
            </a:r>
            <a:r>
              <a:rPr lang="zh-CN" altLang="en-US"/>
              <a:t>可以通过</a:t>
            </a:r>
            <a:r>
              <a:rPr lang="en-US" altLang="zh-CN"/>
              <a:t>PySpark</a:t>
            </a:r>
            <a:r>
              <a:rPr lang="zh-CN" altLang="en-US"/>
              <a:t>类库来编写</a:t>
            </a:r>
            <a:r>
              <a:rPr lang="en-US" altLang="zh-CN"/>
              <a:t>Spark</a:t>
            </a:r>
            <a:r>
              <a:rPr lang="zh-CN" altLang="en-US"/>
              <a:t>应用程序</a:t>
            </a:r>
            <a:r>
              <a:rPr lang="en-US" altLang="zh-CN"/>
              <a:t>,</a:t>
            </a:r>
            <a:r>
              <a:rPr lang="zh-CN" altLang="en-US"/>
              <a:t>并将其提交到</a:t>
            </a:r>
            <a:r>
              <a:rPr lang="en-US" altLang="zh-CN"/>
              <a:t>Spark</a:t>
            </a:r>
            <a:r>
              <a:rPr lang="zh-CN" altLang="en-US"/>
              <a:t>集群中运行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/>
              <a:t>下图是</a:t>
            </a:r>
            <a:r>
              <a:rPr lang="en-US" altLang="zh-CN"/>
              <a:t>,PySpark</a:t>
            </a:r>
            <a:r>
              <a:rPr lang="zh-CN" altLang="en-US"/>
              <a:t>类库和标准</a:t>
            </a:r>
            <a:r>
              <a:rPr lang="en-US" altLang="zh-CN"/>
              <a:t>Spark</a:t>
            </a:r>
            <a:r>
              <a:rPr lang="zh-CN" altLang="en-US"/>
              <a:t>框架的简单对比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190" y="4039870"/>
            <a:ext cx="7373620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6.3</a:t>
            </a:r>
            <a:r>
              <a:rPr dirty="0" smtClean="0">
                <a:sym typeface="+mn-ea"/>
              </a:rPr>
              <a:t> </a:t>
            </a:r>
            <a:r>
              <a:rPr lang="en-US" altLang="zh-CN" dirty="0" smtClean="0">
                <a:sym typeface="+mn-ea"/>
              </a:rPr>
              <a:t>Anaconda</a:t>
            </a:r>
            <a:r>
              <a:rPr dirty="0" smtClean="0">
                <a:sym typeface="+mn-ea"/>
              </a:rPr>
              <a:t>的安装</a:t>
            </a:r>
            <a:endParaRPr dirty="0" smtClean="0">
              <a:sym typeface="+mn-ea"/>
            </a:endParaRPr>
          </a:p>
        </p:txBody>
      </p:sp>
      <p:sp>
        <p:nvSpPr>
          <p:cNvPr id="5" name="文本占位符 4"/>
          <p:cNvSpPr/>
          <p:nvPr>
            <p:ph type="body" sz="quarter" idx="11"/>
          </p:nvPr>
        </p:nvSpPr>
        <p:spPr/>
        <p:txBody>
          <a:bodyPr/>
          <a:p>
            <a:r>
              <a:rPr lang="en-US" altLang="zh-CN"/>
              <a:t>Anaconda</a:t>
            </a:r>
            <a:r>
              <a:rPr lang="zh-CN" altLang="en-US"/>
              <a:t>是</a:t>
            </a:r>
            <a:r>
              <a:rPr lang="en-US" altLang="zh-CN"/>
              <a:t>Python</a:t>
            </a:r>
            <a:r>
              <a:rPr lang="zh-CN" altLang="en-US"/>
              <a:t>语言的一个发行版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/>
              <a:t>内置了非常多的数据科学相关的</a:t>
            </a:r>
            <a:r>
              <a:rPr lang="en-US" altLang="zh-CN"/>
              <a:t>Python</a:t>
            </a:r>
            <a:r>
              <a:rPr lang="zh-CN" altLang="en-US"/>
              <a:t>类库</a:t>
            </a:r>
            <a:r>
              <a:rPr lang="en-US" altLang="zh-CN"/>
              <a:t>, </a:t>
            </a:r>
            <a:r>
              <a:rPr lang="zh-CN" altLang="en-US"/>
              <a:t>同时可以提供虚拟环境来供不同的程序使用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本次课程基于</a:t>
            </a:r>
            <a:r>
              <a:rPr lang="en-US" altLang="zh-CN"/>
              <a:t>Anaconda3</a:t>
            </a:r>
            <a:r>
              <a:rPr lang="zh-CN" altLang="en-US"/>
              <a:t>来获得</a:t>
            </a:r>
            <a:r>
              <a:rPr lang="en-US" altLang="zh-CN"/>
              <a:t>Python</a:t>
            </a:r>
            <a:r>
              <a:rPr lang="zh-CN" altLang="en-US"/>
              <a:t>运行环境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Anaconda</a:t>
            </a:r>
            <a:r>
              <a:rPr lang="zh-CN" altLang="en-US"/>
              <a:t>的安装参考</a:t>
            </a:r>
            <a:r>
              <a:rPr lang="en-US" altLang="zh-CN"/>
              <a:t>&lt;&lt;spark</a:t>
            </a:r>
            <a:r>
              <a:rPr lang="zh-CN" altLang="en-US"/>
              <a:t>部署文档</a:t>
            </a:r>
            <a:r>
              <a:rPr lang="en-US" altLang="zh-CN"/>
              <a:t>.doc&gt;&gt;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265" y="2712720"/>
            <a:ext cx="6264910" cy="3799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6.4</a:t>
            </a:r>
            <a:r>
              <a:rPr dirty="0" smtClean="0">
                <a:sym typeface="+mn-ea"/>
              </a:rPr>
              <a:t> </a:t>
            </a:r>
            <a:r>
              <a:rPr dirty="0">
                <a:sym typeface="+mn-ea"/>
              </a:rPr>
              <a:t>PySpark</a:t>
            </a:r>
            <a:r>
              <a:rPr dirty="0" smtClean="0">
                <a:sym typeface="+mn-ea"/>
              </a:rPr>
              <a:t>安装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/>
          <p:nvPr>
            <p:ph type="body" sz="quarter" idx="11"/>
          </p:nvPr>
        </p:nvSpPr>
        <p:spPr/>
        <p:txBody>
          <a:bodyPr/>
          <a:p>
            <a:r>
              <a:rPr lang="en-US" altLang="zh-CN"/>
              <a:t>PySpark</a:t>
            </a:r>
            <a:r>
              <a:rPr lang="zh-CN" altLang="en-US"/>
              <a:t>是</a:t>
            </a:r>
            <a:r>
              <a:rPr lang="en-US" altLang="zh-CN"/>
              <a:t>Python</a:t>
            </a:r>
            <a:r>
              <a:rPr lang="zh-CN" altLang="en-US"/>
              <a:t>标准类库</a:t>
            </a:r>
            <a:r>
              <a:rPr lang="en-US" altLang="zh-CN"/>
              <a:t>, </a:t>
            </a:r>
            <a:r>
              <a:rPr lang="zh-CN" altLang="en-US"/>
              <a:t>可以通过</a:t>
            </a:r>
            <a:r>
              <a:rPr lang="en-US" altLang="zh-CN"/>
              <a:t>Python</a:t>
            </a:r>
            <a:r>
              <a:rPr lang="zh-CN" altLang="en-US"/>
              <a:t>自带的</a:t>
            </a:r>
            <a:r>
              <a:rPr lang="en-US" altLang="zh-CN"/>
              <a:t>pip</a:t>
            </a:r>
            <a:r>
              <a:rPr lang="zh-CN" altLang="en-US"/>
              <a:t>程序进行安装</a:t>
            </a:r>
            <a:endParaRPr lang="zh-CN" altLang="en-US"/>
          </a:p>
          <a:p>
            <a:r>
              <a:rPr lang="zh-CN" altLang="en-US"/>
              <a:t>或者</a:t>
            </a:r>
            <a:r>
              <a:rPr lang="en-US" altLang="zh-CN"/>
              <a:t>Anaconda</a:t>
            </a:r>
            <a:r>
              <a:rPr lang="zh-CN" altLang="en-US"/>
              <a:t>的库安装</a:t>
            </a:r>
            <a:r>
              <a:rPr lang="en-US" altLang="zh-CN"/>
              <a:t>(conda)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在合适的虚拟环境下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课程使用</a:t>
            </a:r>
            <a:r>
              <a:rPr lang="en-US" altLang="zh-CN">
                <a:solidFill>
                  <a:srgbClr val="FF0000"/>
                </a:solidFill>
              </a:rPr>
              <a:t>pyspark</a:t>
            </a:r>
            <a:r>
              <a:rPr lang="zh-CN" altLang="en-US">
                <a:solidFill>
                  <a:srgbClr val="FF0000"/>
                </a:solidFill>
              </a:rPr>
              <a:t>这个虚拟环境</a:t>
            </a:r>
            <a:r>
              <a:rPr lang="en-US" altLang="zh-CN">
                <a:solidFill>
                  <a:srgbClr val="FF0000"/>
                </a:solidFill>
              </a:rPr>
              <a:t>), </a:t>
            </a:r>
            <a:r>
              <a:rPr lang="zh-CN" altLang="en-US"/>
              <a:t>执行如下命令即可安装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pip install pyspark -i https://pypi.tuna.tsinghua.edu.cn/simple</a:t>
            </a:r>
            <a:endParaRPr lang="en-US" altLang="zh-CN"/>
          </a:p>
          <a:p>
            <a:r>
              <a:rPr lang="zh-CN" altLang="en-US"/>
              <a:t>或者</a:t>
            </a:r>
            <a:endParaRPr lang="zh-CN" altLang="en-US"/>
          </a:p>
          <a:p>
            <a:r>
              <a:rPr lang="en-US" altLang="zh-CN"/>
              <a:t>conda install pyspark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推荐使用</a:t>
            </a:r>
            <a:r>
              <a:rPr lang="en-US" altLang="zh-CN"/>
              <a:t>pip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PySpark</a:t>
            </a:r>
            <a:r>
              <a:rPr lang="zh-CN" altLang="en-US" dirty="0"/>
              <a:t>是什么</a:t>
            </a:r>
            <a:r>
              <a:rPr lang="en-US" altLang="zh-CN" dirty="0"/>
              <a:t>?</a:t>
            </a:r>
            <a:r>
              <a:rPr lang="zh-CN" altLang="en-US" dirty="0"/>
              <a:t>和</a:t>
            </a:r>
            <a:r>
              <a:rPr lang="en-US" altLang="zh-CN" dirty="0"/>
              <a:t>bin/pyspark </a:t>
            </a:r>
            <a:r>
              <a:rPr lang="zh-CN" altLang="en-US" dirty="0"/>
              <a:t>程序有何区别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200" dirty="0"/>
              <a:t>PySpark</a:t>
            </a:r>
            <a:r>
              <a:rPr lang="zh-CN" altLang="en-US" sz="1200" dirty="0"/>
              <a:t>是一个</a:t>
            </a:r>
            <a:r>
              <a:rPr lang="en-US" altLang="zh-CN" sz="1200" dirty="0"/>
              <a:t>Python</a:t>
            </a:r>
            <a:r>
              <a:rPr lang="zh-CN" altLang="en-US" sz="1200" dirty="0"/>
              <a:t>的类库</a:t>
            </a:r>
            <a:r>
              <a:rPr lang="en-US" altLang="zh-CN" sz="1200" dirty="0"/>
              <a:t>, </a:t>
            </a:r>
            <a:r>
              <a:rPr lang="zh-CN" altLang="en-US" sz="1200" dirty="0"/>
              <a:t>提供</a:t>
            </a:r>
            <a:r>
              <a:rPr lang="en-US" altLang="zh-CN" sz="1200" dirty="0"/>
              <a:t>Spark</a:t>
            </a:r>
            <a:r>
              <a:rPr lang="zh-CN" altLang="en-US" sz="1200" dirty="0"/>
              <a:t>的操作</a:t>
            </a:r>
            <a:r>
              <a:rPr lang="en-US" altLang="zh-CN" sz="1200" dirty="0"/>
              <a:t>API</a:t>
            </a: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bin/pyspark </a:t>
            </a:r>
            <a:r>
              <a:rPr lang="zh-CN" altLang="en-US" sz="1200" dirty="0"/>
              <a:t>是一个交互式的程序</a:t>
            </a:r>
            <a:r>
              <a:rPr lang="en-US" altLang="zh-CN" sz="1200" dirty="0"/>
              <a:t>,</a:t>
            </a:r>
            <a:r>
              <a:rPr lang="zh-CN" altLang="en-US" sz="1200" dirty="0"/>
              <a:t>可以提供交互式编程并执行</a:t>
            </a:r>
            <a:r>
              <a:rPr lang="en-US" altLang="zh-CN" sz="1200" dirty="0"/>
              <a:t>Spark</a:t>
            </a:r>
            <a:r>
              <a:rPr lang="zh-CN" altLang="en-US" sz="1200" dirty="0"/>
              <a:t>计算</a:t>
            </a:r>
            <a:endParaRPr lang="zh-CN" altLang="en-US" sz="1200" dirty="0"/>
          </a:p>
          <a:p>
            <a:pPr marL="0" indent="0">
              <a:buNone/>
            </a:pPr>
            <a:r>
              <a:rPr lang="zh-CN" altLang="en-US" dirty="0"/>
              <a:t>本课程的</a:t>
            </a:r>
            <a:r>
              <a:rPr lang="en-US" altLang="zh-CN" dirty="0"/>
              <a:t>Python</a:t>
            </a:r>
            <a:r>
              <a:rPr lang="zh-CN" altLang="en-US" dirty="0"/>
              <a:t>运行环境由什么来提供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1200" dirty="0"/>
              <a:t>由</a:t>
            </a:r>
            <a:r>
              <a:rPr lang="en-US" altLang="zh-CN" sz="1200" dirty="0"/>
              <a:t>Anaconda</a:t>
            </a:r>
            <a:r>
              <a:rPr lang="zh-CN" altLang="en-US" sz="1200" dirty="0"/>
              <a:t>提供</a:t>
            </a:r>
            <a:r>
              <a:rPr lang="en-US" altLang="zh-CN" sz="1200" dirty="0"/>
              <a:t>,</a:t>
            </a:r>
            <a:r>
              <a:rPr lang="zh-CN" altLang="en-US" sz="1200" dirty="0"/>
              <a:t>并使用虚拟环境</a:t>
            </a:r>
            <a:r>
              <a:rPr lang="en-US" altLang="zh-CN" sz="1200" dirty="0"/>
              <a:t>, </a:t>
            </a:r>
            <a:r>
              <a:rPr lang="zh-CN" altLang="en-US" sz="1200" dirty="0"/>
              <a:t>环境名称叫做</a:t>
            </a:r>
            <a:r>
              <a:rPr lang="en-US" altLang="zh-CN" sz="1200" dirty="0"/>
              <a:t>: pyspark</a:t>
            </a:r>
            <a:endParaRPr lang="en-US" altLang="zh-CN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4938199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本机开发环境搭建</a:t>
            </a:r>
            <a:endParaRPr lang="zh-CN" altLang="en-US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第七章</a:t>
            </a:r>
            <a:endParaRPr lang="zh-CN" altLang="en-US" sz="240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1006475"/>
            <a:ext cx="5973445" cy="4732655"/>
          </a:xfrm>
        </p:spPr>
        <p:txBody>
          <a:bodyPr/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zh-CN" altLang="en-US" dirty="0"/>
              <a:t>1 本机PySpark环境配置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zh-CN" altLang="en-US" dirty="0"/>
              <a:t>2 PyCharm配置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en-US" altLang="zh-CN" dirty="0" smtClean="0"/>
              <a:t>3</a:t>
            </a:r>
            <a:r>
              <a:rPr lang="zh-CN" altLang="en-US" dirty="0"/>
              <a:t> 应用入口：SparkContext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en-US" altLang="zh-CN" dirty="0" smtClean="0"/>
              <a:t>4</a:t>
            </a:r>
            <a:r>
              <a:rPr lang="zh-CN" altLang="en-US" dirty="0"/>
              <a:t> 代码实战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en-US" altLang="zh-CN" dirty="0" smtClean="0"/>
              <a:t>5</a:t>
            </a:r>
            <a:r>
              <a:rPr lang="zh-CN" altLang="en-US" dirty="0"/>
              <a:t> 代码结果解析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en-US" altLang="zh-CN" dirty="0" smtClean="0"/>
              <a:t>6</a:t>
            </a:r>
            <a:r>
              <a:rPr lang="zh-CN" altLang="en-US" dirty="0"/>
              <a:t> 从HDFS读取数据</a:t>
            </a:r>
            <a:endParaRPr lang="zh-CN" altLang="en-US" dirty="0"/>
          </a:p>
          <a:p>
            <a:r>
              <a:rPr lang="en-US" altLang="zh-CN" dirty="0" smtClean="0"/>
              <a:t>7</a:t>
            </a:r>
            <a:r>
              <a:rPr lang="zh-CN" altLang="en-US" dirty="0" smtClean="0"/>
              <a:t>.</a:t>
            </a:r>
            <a:r>
              <a:rPr lang="en-US" altLang="zh-CN" dirty="0" smtClean="0"/>
              <a:t>7</a:t>
            </a:r>
            <a:r>
              <a:rPr lang="zh-CN" altLang="en-US" dirty="0"/>
              <a:t> 提交代码到集群执行</a:t>
            </a:r>
            <a:endParaRPr lang="zh-CN" alt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将课程资料中提供的: hadoop-3.3.0 文件件, 复制到一个地方, 比如E:\softs\hadoop-3.0.0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将文件夹内bin内的hadoop.dll复制到: C:\Windows\System32里面去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配置HADOOP_HOME环境变量指向 hadoop-3.3.0文件夹的路径, 如下图: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7.1</a:t>
            </a:r>
            <a:r>
              <a:rPr lang="zh-CN" altLang="en-US" dirty="0">
                <a:sym typeface="+mn-ea"/>
              </a:rPr>
              <a:t> 本机</a:t>
            </a:r>
            <a:r>
              <a:rPr lang="en-US" altLang="zh-CN" dirty="0">
                <a:sym typeface="+mn-ea"/>
              </a:rPr>
              <a:t>PySpark</a:t>
            </a:r>
            <a:r>
              <a:rPr dirty="0">
                <a:sym typeface="+mn-ea"/>
              </a:rPr>
              <a:t>环境配置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Hadoop DDL(Windows系统) mac系统可以 忽略</a:t>
            </a:r>
            <a:endParaRPr dirty="0">
              <a:sym typeface="+mn-ea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452360" y="3401060"/>
            <a:ext cx="4739640" cy="30340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57860" y="5138420"/>
            <a:ext cx="6334125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配置这些的原因是</a:t>
            </a:r>
            <a:r>
              <a:rPr lang="en-US" altLang="zh-CN" sz="1050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lang="zh-CN" altLang="en-US" sz="105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hadoop设计用于linux运行, 我们写spark的时候 在windows上开发 不可避免的会用到部分hadoop功能</a:t>
            </a:r>
            <a:endParaRPr lang="zh-CN" altLang="en-US" sz="105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为了避免在windows上报错, 我们给windows打补丁.</a:t>
            </a:r>
            <a:endParaRPr lang="zh-CN" altLang="en-US" sz="105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前面我们在部署</a:t>
            </a:r>
            <a:r>
              <a:rPr dirty="0"/>
              <a:t>Spark</a:t>
            </a:r>
            <a:r>
              <a:rPr lang="zh-CN" altLang="en-US" dirty="0"/>
              <a:t>的时候</a:t>
            </a:r>
            <a:r>
              <a:rPr dirty="0"/>
              <a:t>, </a:t>
            </a:r>
            <a:r>
              <a:rPr lang="zh-CN" altLang="en-US" dirty="0"/>
              <a:t>在</a:t>
            </a:r>
            <a:r>
              <a:rPr dirty="0"/>
              <a:t>Linux</a:t>
            </a:r>
            <a:r>
              <a:rPr lang="zh-CN" altLang="en-US" dirty="0"/>
              <a:t>系统上配置了</a:t>
            </a:r>
            <a:r>
              <a:rPr dirty="0"/>
              <a:t>Anaconda</a:t>
            </a:r>
            <a:r>
              <a:rPr lang="zh-CN" altLang="en-US" dirty="0"/>
              <a:t>的</a:t>
            </a:r>
            <a:r>
              <a:rPr dirty="0"/>
              <a:t>Python</a:t>
            </a:r>
            <a:r>
              <a:rPr lang="zh-CN" altLang="en-US" dirty="0"/>
              <a:t>环境</a:t>
            </a:r>
            <a:r>
              <a:rPr dirty="0"/>
              <a:t>, </a:t>
            </a:r>
            <a:r>
              <a:rPr lang="zh-CN" altLang="en-US" dirty="0"/>
              <a:t>供</a:t>
            </a:r>
            <a:r>
              <a:rPr dirty="0"/>
              <a:t>Spark</a:t>
            </a:r>
            <a:r>
              <a:rPr lang="zh-CN" altLang="en-US" dirty="0"/>
              <a:t>集群使用</a:t>
            </a:r>
            <a:r>
              <a:rPr dirty="0"/>
              <a:t>.</a:t>
            </a:r>
            <a:endParaRPr dirty="0"/>
          </a:p>
          <a:p>
            <a:pPr marL="0" indent="0">
              <a:buNone/>
            </a:pPr>
            <a:r>
              <a:rPr lang="zh-CN" altLang="en-US" dirty="0"/>
              <a:t>现在</a:t>
            </a:r>
            <a:r>
              <a:rPr dirty="0"/>
              <a:t>, </a:t>
            </a:r>
            <a:r>
              <a:rPr lang="zh-CN" altLang="en-US" dirty="0"/>
              <a:t>如果我们要在个人电脑上开发</a:t>
            </a:r>
            <a:r>
              <a:rPr dirty="0"/>
              <a:t>Python Spark</a:t>
            </a:r>
            <a:r>
              <a:rPr lang="zh-CN" altLang="en-US" dirty="0"/>
              <a:t>程序</a:t>
            </a:r>
            <a:r>
              <a:rPr dirty="0"/>
              <a:t>, </a:t>
            </a:r>
            <a:r>
              <a:rPr lang="zh-CN" altLang="en-US" dirty="0"/>
              <a:t>也需要配置</a:t>
            </a:r>
            <a:r>
              <a:rPr dirty="0"/>
              <a:t>Python(Anaconda)</a:t>
            </a:r>
            <a:r>
              <a:rPr lang="zh-CN" altLang="en-US" dirty="0"/>
              <a:t>和</a:t>
            </a:r>
            <a:r>
              <a:rPr dirty="0"/>
              <a:t>PySpark</a:t>
            </a:r>
            <a:r>
              <a:rPr lang="zh-CN" altLang="en-US" dirty="0"/>
              <a:t>库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dirty="0"/>
              <a:t>Windows</a:t>
            </a:r>
            <a:r>
              <a:rPr lang="zh-CN" altLang="en-US" dirty="0"/>
              <a:t>上安装</a:t>
            </a:r>
            <a:r>
              <a:rPr dirty="0"/>
              <a:t>Anaconda </a:t>
            </a:r>
            <a:r>
              <a:rPr lang="zh-CN" altLang="en-US" dirty="0"/>
              <a:t>参见</a:t>
            </a:r>
            <a:r>
              <a:rPr dirty="0"/>
              <a:t>:&lt;&lt;spark</a:t>
            </a:r>
            <a:r>
              <a:rPr lang="zh-CN" altLang="en-US" dirty="0"/>
              <a:t>环境部署</a:t>
            </a:r>
            <a:r>
              <a:rPr dirty="0"/>
              <a:t>.doc&gt;&gt;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zh-CN" altLang="en-US" dirty="0"/>
              <a:t>安装</a:t>
            </a:r>
            <a:r>
              <a:rPr dirty="0"/>
              <a:t>PySpark</a:t>
            </a:r>
            <a:r>
              <a:rPr lang="zh-CN" altLang="en-US" dirty="0"/>
              <a:t>库</a:t>
            </a:r>
            <a:r>
              <a:rPr dirty="0"/>
              <a:t>: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7.1</a:t>
            </a:r>
            <a:r>
              <a:rPr lang="zh-CN" altLang="en-US" dirty="0">
                <a:sym typeface="+mn-ea"/>
              </a:rPr>
              <a:t> 本机</a:t>
            </a:r>
            <a:r>
              <a:rPr lang="en-US" altLang="zh-CN" dirty="0">
                <a:sym typeface="+mn-ea"/>
              </a:rPr>
              <a:t>PySpark</a:t>
            </a:r>
            <a:r>
              <a:rPr dirty="0">
                <a:sym typeface="+mn-ea"/>
              </a:rPr>
              <a:t>环境配置</a:t>
            </a:r>
            <a:endParaRPr dirty="0">
              <a:sym typeface="+mn-ea"/>
            </a:endParaRPr>
          </a:p>
          <a:p>
            <a:r>
              <a:rPr lang="en-US" altLang="zh-CN" dirty="0">
                <a:sym typeface="+mn-ea"/>
              </a:rPr>
              <a:t>Anaconda</a:t>
            </a:r>
            <a:r>
              <a:rPr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PySpark</a:t>
            </a:r>
            <a:r>
              <a:rPr dirty="0">
                <a:sym typeface="+mn-ea"/>
              </a:rPr>
              <a:t>安装</a:t>
            </a:r>
            <a:endParaRPr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3847465"/>
            <a:ext cx="6910070" cy="20180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80770" y="5902960"/>
            <a:ext cx="539750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pip install pyhive pyspark jieba -i https://pypi.tuna.tsinghua.edu.cn/simple 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zh-CN" dirty="0" smtClean="0"/>
              <a:t>创</a:t>
            </a:r>
            <a:r>
              <a:rPr lang="zh-CN" altLang="zh-CN" dirty="0"/>
              <a:t>建</a:t>
            </a:r>
            <a:r>
              <a:rPr lang="en-US" altLang="zh-CN" dirty="0"/>
              <a:t>PythonProject</a:t>
            </a:r>
            <a:r>
              <a:rPr lang="zh-CN" altLang="zh-CN" dirty="0"/>
              <a:t>工程需要设置</a:t>
            </a:r>
            <a:r>
              <a:rPr lang="en-US" altLang="zh-CN" dirty="0"/>
              <a:t>Python</a:t>
            </a:r>
            <a:r>
              <a:rPr lang="zh-CN" altLang="zh-CN" dirty="0"/>
              <a:t>解析</a:t>
            </a:r>
            <a:r>
              <a:rPr lang="zh-CN" altLang="zh-CN" dirty="0" smtClean="0"/>
              <a:t>器</a:t>
            </a:r>
            <a:r>
              <a:rPr lang="en-US" altLang="zh-CN" dirty="0" smtClean="0"/>
              <a:t> ,</a:t>
            </a:r>
            <a:r>
              <a:rPr lang="zh-CN" altLang="en-US" dirty="0" smtClean="0"/>
              <a:t>然后点击创建即可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配置本地解释器</a:t>
            </a:r>
            <a:endParaRPr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70" y="2170430"/>
            <a:ext cx="8388350" cy="427101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如果没有找到</a:t>
            </a:r>
            <a:r>
              <a:rPr dirty="0" smtClean="0"/>
              <a:t>conda</a:t>
            </a:r>
            <a:r>
              <a:rPr lang="zh-CN" altLang="en-US" dirty="0" smtClean="0"/>
              <a:t>虚拟环境的解释器</a:t>
            </a:r>
            <a:r>
              <a:rPr dirty="0" smtClean="0"/>
              <a:t>,</a:t>
            </a:r>
            <a:r>
              <a:rPr lang="zh-CN" altLang="en-US" dirty="0" smtClean="0"/>
              <a:t>可以</a:t>
            </a:r>
            <a:r>
              <a:rPr dirty="0" smtClean="0"/>
              <a:t>:</a:t>
            </a:r>
            <a:endParaRPr dirty="0" smtClean="0"/>
          </a:p>
          <a:p>
            <a:pPr marL="0" indent="0">
              <a:buNone/>
            </a:pPr>
            <a:endParaRPr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配置本地解释器</a:t>
            </a:r>
            <a:endParaRPr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78685"/>
            <a:ext cx="3803650" cy="1936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35" y="4115435"/>
            <a:ext cx="3802380" cy="2577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465" y="1981200"/>
            <a:ext cx="403225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刚刚</a:t>
            </a:r>
            <a:r>
              <a:rPr dirty="0" smtClean="0"/>
              <a:t>,</a:t>
            </a:r>
            <a:r>
              <a:rPr lang="zh-CN" altLang="en-US" dirty="0" smtClean="0"/>
              <a:t>配置了本地的</a:t>
            </a:r>
            <a:r>
              <a:rPr dirty="0" smtClean="0"/>
              <a:t>Python(</a:t>
            </a:r>
            <a:r>
              <a:rPr lang="zh-CN" altLang="en-US" dirty="0" smtClean="0"/>
              <a:t>基于</a:t>
            </a:r>
            <a:r>
              <a:rPr dirty="0" smtClean="0"/>
              <a:t>conda</a:t>
            </a:r>
            <a:r>
              <a:rPr lang="zh-CN" altLang="en-US" dirty="0" smtClean="0"/>
              <a:t>虚拟环境</a:t>
            </a:r>
            <a:r>
              <a:rPr dirty="0" smtClean="0"/>
              <a:t>)</a:t>
            </a:r>
            <a:r>
              <a:rPr lang="zh-CN" altLang="en-US" dirty="0" smtClean="0"/>
              <a:t>的解释器</a:t>
            </a:r>
            <a:r>
              <a:rPr dirty="0" smtClean="0"/>
              <a:t>, </a:t>
            </a:r>
            <a:r>
              <a:rPr lang="zh-CN" altLang="en-US" dirty="0" smtClean="0"/>
              <a:t>现在我们来配置</a:t>
            </a:r>
            <a:r>
              <a:rPr dirty="0" smtClean="0"/>
              <a:t>Linux</a:t>
            </a:r>
            <a:r>
              <a:rPr lang="zh-CN" altLang="en-US" dirty="0" smtClean="0"/>
              <a:t>远程的解释器</a:t>
            </a:r>
            <a:r>
              <a:rPr dirty="0" smtClean="0"/>
              <a:t>.</a:t>
            </a:r>
            <a:endParaRPr dirty="0" smtClean="0"/>
          </a:p>
          <a:p>
            <a:pPr marL="0" indent="0">
              <a:buNone/>
            </a:pPr>
            <a:r>
              <a:rPr dirty="0" smtClean="0"/>
              <a:t>PySpark</a:t>
            </a:r>
            <a:r>
              <a:rPr lang="zh-CN" altLang="en-US" dirty="0" smtClean="0">
                <a:solidFill>
                  <a:schemeClr val="accent2"/>
                </a:solidFill>
              </a:rPr>
              <a:t>支持在</a:t>
            </a:r>
            <a:r>
              <a:rPr dirty="0" smtClean="0">
                <a:solidFill>
                  <a:schemeClr val="accent2"/>
                </a:solidFill>
              </a:rPr>
              <a:t>Windows</a:t>
            </a:r>
            <a:r>
              <a:rPr lang="zh-CN" altLang="en-US" dirty="0" smtClean="0"/>
              <a:t>上执行</a:t>
            </a:r>
            <a:r>
              <a:rPr dirty="0" smtClean="0"/>
              <a:t>,</a:t>
            </a:r>
            <a:r>
              <a:rPr lang="zh-CN" altLang="en-US" dirty="0" smtClean="0"/>
              <a:t>但是会有</a:t>
            </a:r>
            <a:r>
              <a:rPr lang="zh-CN" altLang="en-US" dirty="0" smtClean="0">
                <a:solidFill>
                  <a:schemeClr val="accent2"/>
                </a:solidFill>
              </a:rPr>
              <a:t>性能</a:t>
            </a:r>
            <a:r>
              <a:rPr lang="zh-CN" altLang="en-US" dirty="0" smtClean="0"/>
              <a:t>问题以及一些</a:t>
            </a:r>
            <a:r>
              <a:rPr lang="zh-CN" altLang="en-US" dirty="0" smtClean="0">
                <a:solidFill>
                  <a:schemeClr val="accent2"/>
                </a:solidFill>
              </a:rPr>
              <a:t>小</a:t>
            </a:r>
            <a:r>
              <a:rPr dirty="0" smtClean="0">
                <a:solidFill>
                  <a:schemeClr val="accent2"/>
                </a:solidFill>
              </a:rPr>
              <a:t>bug</a:t>
            </a:r>
            <a:r>
              <a:rPr dirty="0" smtClean="0"/>
              <a:t>, </a:t>
            </a:r>
            <a:r>
              <a:rPr lang="zh-CN" altLang="en-US" dirty="0" smtClean="0"/>
              <a:t>在</a:t>
            </a:r>
            <a:r>
              <a:rPr dirty="0" smtClean="0"/>
              <a:t>Linux</a:t>
            </a:r>
            <a:r>
              <a:rPr lang="zh-CN" altLang="en-US" dirty="0" smtClean="0"/>
              <a:t>上执行是</a:t>
            </a:r>
            <a:r>
              <a:rPr lang="zh-CN" altLang="en-US" dirty="0" smtClean="0">
                <a:solidFill>
                  <a:schemeClr val="accent2"/>
                </a:solidFill>
              </a:rPr>
              <a:t>完美和高效</a:t>
            </a:r>
            <a:r>
              <a:rPr lang="zh-CN" altLang="en-US" dirty="0" smtClean="0"/>
              <a:t>的</a:t>
            </a:r>
            <a:r>
              <a:rPr dirty="0" smtClean="0"/>
              <a:t>.</a:t>
            </a:r>
            <a:endParaRPr dirty="0" smtClean="0"/>
          </a:p>
          <a:p>
            <a:pPr marL="0" indent="0">
              <a:buNone/>
            </a:pPr>
            <a:r>
              <a:rPr lang="zh-CN" altLang="en-US" dirty="0" smtClean="0"/>
              <a:t>所以</a:t>
            </a:r>
            <a:r>
              <a:rPr dirty="0" smtClean="0"/>
              <a:t>, </a:t>
            </a:r>
            <a:r>
              <a:rPr lang="zh-CN" altLang="en-US" dirty="0" smtClean="0"/>
              <a:t>我们也可以配置好</a:t>
            </a:r>
            <a:r>
              <a:rPr dirty="0" smtClean="0"/>
              <a:t>Linux</a:t>
            </a:r>
            <a:r>
              <a:rPr lang="zh-CN" altLang="en-US" dirty="0" smtClean="0"/>
              <a:t>上的远程解释器</a:t>
            </a:r>
            <a:r>
              <a:rPr dirty="0" smtClean="0"/>
              <a:t>, </a:t>
            </a:r>
            <a:r>
              <a:rPr lang="zh-CN" altLang="en-US" dirty="0" smtClean="0"/>
              <a:t>来运行</a:t>
            </a:r>
            <a:r>
              <a:rPr dirty="0" smtClean="0"/>
              <a:t>Python Spark</a:t>
            </a:r>
            <a:r>
              <a:rPr lang="zh-CN" altLang="en-US" dirty="0" smtClean="0"/>
              <a:t>代码</a:t>
            </a:r>
            <a:r>
              <a:rPr dirty="0" smtClean="0"/>
              <a:t>.</a:t>
            </a:r>
            <a:endParaRPr dirty="0" smtClean="0"/>
          </a:p>
          <a:p>
            <a:pPr marL="0" indent="0">
              <a:buNone/>
            </a:pPr>
            <a:endParaRPr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配置远程</a:t>
            </a:r>
            <a:r>
              <a:rPr lang="en-US" altLang="zh-CN" dirty="0">
                <a:sym typeface="+mn-ea"/>
              </a:rPr>
              <a:t>SSH Linux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1605"/>
          </a:xfrm>
        </p:spPr>
        <p:txBody>
          <a:bodyPr/>
          <a:lstStyle/>
          <a:p>
            <a:r>
              <a:rPr lang="en-US" altLang="zh-CN" dirty="0" smtClean="0"/>
              <a:t>1) </a:t>
            </a:r>
            <a:r>
              <a:rPr lang="zh-CN" altLang="en-US" dirty="0" smtClean="0"/>
              <a:t>设置远程</a:t>
            </a:r>
            <a:r>
              <a:rPr lang="en-US" altLang="zh-CN" dirty="0" smtClean="0"/>
              <a:t>SSH python pySpark </a:t>
            </a:r>
            <a:r>
              <a:rPr lang="zh-CN" altLang="en-US" dirty="0" smtClean="0"/>
              <a:t>环境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28" y="2316600"/>
            <a:ext cx="3066667" cy="25619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502" y="2316600"/>
            <a:ext cx="7881317" cy="3340777"/>
          </a:xfrm>
          <a:prstGeom prst="rect">
            <a:avLst/>
          </a:prstGeom>
        </p:spPr>
      </p:pic>
      <p:sp>
        <p:nvSpPr>
          <p:cNvPr id="9" name="文本占位符 3"/>
          <p:cNvSpPr>
            <a:spLocks noGrp="1"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配置远程</a:t>
            </a:r>
            <a:r>
              <a:rPr lang="en-US" altLang="zh-CN" dirty="0">
                <a:sym typeface="+mn-ea"/>
              </a:rPr>
              <a:t>SSH Linux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1605"/>
          </a:xfrm>
        </p:spPr>
        <p:txBody>
          <a:bodyPr/>
          <a:lstStyle/>
          <a:p>
            <a:r>
              <a:rPr lang="en-US" altLang="zh-CN" dirty="0" smtClean="0"/>
              <a:t>2) </a:t>
            </a:r>
            <a:r>
              <a:rPr lang="zh-CN" altLang="en-US" dirty="0" smtClean="0"/>
              <a:t>添加新的远程连接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61" y="2316600"/>
            <a:ext cx="5379544" cy="36032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2" y="2316600"/>
            <a:ext cx="5347331" cy="3603220"/>
          </a:xfrm>
          <a:prstGeom prst="rect">
            <a:avLst/>
          </a:prstGeom>
        </p:spPr>
      </p:pic>
      <p:sp>
        <p:nvSpPr>
          <p:cNvPr id="6" name="文本占位符 3"/>
          <p:cNvSpPr>
            <a:spLocks noGrp="1"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配置远程</a:t>
            </a:r>
            <a:r>
              <a:rPr lang="en-US" altLang="zh-CN" dirty="0">
                <a:sym typeface="+mn-ea"/>
              </a:rPr>
              <a:t>SSH Linux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1605"/>
          </a:xfrm>
        </p:spPr>
        <p:txBody>
          <a:bodyPr/>
          <a:lstStyle/>
          <a:p>
            <a:r>
              <a:rPr lang="en-US" altLang="zh-CN" dirty="0" smtClean="0"/>
              <a:t>3) </a:t>
            </a:r>
            <a:r>
              <a:rPr lang="zh-CN" altLang="en-US" dirty="0"/>
              <a:t>设</a:t>
            </a:r>
            <a:r>
              <a:rPr lang="zh-CN" altLang="en-US" dirty="0" smtClean="0"/>
              <a:t>置虚拟机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环境路径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363" y="2316600"/>
            <a:ext cx="4806418" cy="3284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994" y="2444261"/>
            <a:ext cx="6195104" cy="3921369"/>
          </a:xfrm>
          <a:prstGeom prst="rect">
            <a:avLst/>
          </a:prstGeom>
        </p:spPr>
      </p:pic>
      <p:sp>
        <p:nvSpPr>
          <p:cNvPr id="7" name="文本占位符 3"/>
          <p:cNvSpPr>
            <a:spLocks noGrp="1"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+mn-ea"/>
              </a:rPr>
              <a:t>7.2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PyCharm</a:t>
            </a:r>
            <a:r>
              <a:rPr dirty="0">
                <a:sym typeface="+mn-ea"/>
              </a:rPr>
              <a:t>配置</a:t>
            </a:r>
            <a:r>
              <a:rPr lang="en-US" altLang="zh-CN" dirty="0">
                <a:sym typeface="+mn-ea"/>
              </a:rPr>
              <a:t>Python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配置远程</a:t>
            </a:r>
            <a:r>
              <a:rPr lang="en-US" altLang="zh-CN" dirty="0">
                <a:sym typeface="+mn-ea"/>
              </a:rPr>
              <a:t>SSH Linux</a:t>
            </a:r>
            <a:r>
              <a:rPr dirty="0">
                <a:sym typeface="+mn-ea"/>
              </a:rPr>
              <a:t>解释器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Spark Application程序入口为：</a:t>
            </a:r>
            <a:r>
              <a:rPr lang="zh-CN" altLang="en-US">
                <a:solidFill>
                  <a:schemeClr val="accent2"/>
                </a:solidFill>
              </a:rPr>
              <a:t>SparkContext</a:t>
            </a:r>
            <a:r>
              <a:rPr lang="zh-CN" altLang="en-US"/>
              <a:t>，任何一个应用</a:t>
            </a:r>
            <a:r>
              <a:rPr lang="zh-CN" altLang="en-US">
                <a:solidFill>
                  <a:schemeClr val="accent2"/>
                </a:solidFill>
              </a:rPr>
              <a:t>首先需要构建SparkContext</a:t>
            </a:r>
            <a:r>
              <a:rPr lang="zh-CN" altLang="en-US"/>
              <a:t>对象，如下两步构建：</a:t>
            </a:r>
            <a:endParaRPr lang="zh-CN" altLang="en-US"/>
          </a:p>
          <a:p>
            <a:r>
              <a:rPr lang="zh-CN" altLang="en-US"/>
              <a:t>第一步、创建SparkConf对象</a:t>
            </a:r>
            <a:endParaRPr lang="zh-CN" altLang="en-US"/>
          </a:p>
          <a:p>
            <a:pPr lvl="1"/>
            <a:r>
              <a:rPr lang="zh-CN" altLang="en-US"/>
              <a:t>设置Spark Application基本信息，比如应用的名称AppName和应用运行Master</a:t>
            </a:r>
            <a:endParaRPr lang="zh-CN" altLang="en-US"/>
          </a:p>
          <a:p>
            <a:r>
              <a:rPr lang="zh-CN" altLang="en-US"/>
              <a:t>第二步、基于SparkConf对象，创建SparkContext对象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文档：</a:t>
            </a:r>
            <a:r>
              <a:rPr lang="zh-CN" altLang="en-US" b="1"/>
              <a:t>http://spark.apache.org/docs/3.1.2/rdd-programming-guide.html</a:t>
            </a:r>
            <a:endParaRPr lang="zh-CN" altLang="en-US" b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7</a:t>
            </a:r>
            <a:r>
              <a:rPr dirty="0" smtClean="0">
                <a:sym typeface="+mn-ea"/>
              </a:rPr>
              <a:t>.3 </a:t>
            </a:r>
            <a:r>
              <a:rPr dirty="0">
                <a:sym typeface="+mn-ea"/>
              </a:rPr>
              <a:t>应用入口：SparkContext</a:t>
            </a:r>
            <a:endParaRPr dirty="0">
              <a:sym typeface="+mn-ea"/>
            </a:endParaRPr>
          </a:p>
        </p:txBody>
      </p:sp>
      <p:pic>
        <p:nvPicPr>
          <p:cNvPr id="151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3850005"/>
            <a:ext cx="9769475" cy="252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本地准备文件word.txt</a:t>
            </a:r>
            <a:endParaRPr lang="zh-CN" altLang="en-US"/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hello you Spark Flink</a:t>
            </a:r>
            <a:endParaRPr lang="zh-CN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hello me hello she Spark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/>
              <a:t>PySpark代码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>
                <a:solidFill>
                  <a:schemeClr val="accent2"/>
                </a:solidFill>
              </a:rPr>
              <a:t>这里大家主要学习如何构建</a:t>
            </a:r>
            <a:r>
              <a:rPr>
                <a:solidFill>
                  <a:schemeClr val="accent2"/>
                </a:solidFill>
              </a:rPr>
              <a:t>SparkContext</a:t>
            </a:r>
            <a:r>
              <a:rPr lang="zh-CN" altLang="en-US">
                <a:solidFill>
                  <a:schemeClr val="accent2"/>
                </a:solidFill>
              </a:rPr>
              <a:t>对象</a:t>
            </a:r>
            <a:endParaRPr lang="zh-C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accent2"/>
                </a:solidFill>
              </a:rPr>
              <a:t>WordCount API</a:t>
            </a:r>
            <a:r>
              <a:rPr lang="zh-CN" altLang="en-US">
                <a:solidFill>
                  <a:schemeClr val="accent2"/>
                </a:solidFill>
              </a:rPr>
              <a:t>在</a:t>
            </a:r>
            <a:r>
              <a:rPr>
                <a:solidFill>
                  <a:schemeClr val="accent2"/>
                </a:solidFill>
              </a:rPr>
              <a:t>RDD</a:t>
            </a:r>
            <a:r>
              <a:rPr lang="zh-CN" altLang="en-US">
                <a:solidFill>
                  <a:schemeClr val="accent2"/>
                </a:solidFill>
              </a:rPr>
              <a:t>阶段会详解</a:t>
            </a:r>
            <a:endParaRPr lang="zh-C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.4</a:t>
            </a:r>
            <a:r>
              <a:rPr lang="en-US" altLang="zh-CN" dirty="0" smtClean="0">
                <a:sym typeface="+mn-ea"/>
              </a:rPr>
              <a:t> </a:t>
            </a:r>
            <a:r>
              <a:rPr dirty="0">
                <a:sym typeface="+mn-ea"/>
              </a:rPr>
              <a:t>WordCount代码实战</a:t>
            </a:r>
            <a:endParaRPr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541" y="1065530"/>
            <a:ext cx="6918569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from pyspark import SparkContext, SparkConf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import os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 这里可以选择本地PySpark环境执行Spark代码，也可以使用虚拟机中PySpark环境，通过os可以配置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os.environ['SPARK_HOME'] = '/export/servers/spark'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 PYSPARK_PYTHON = "/root/anaconda3/envs/pyspark_env/bin/python"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 当存在多个版本时，不指定很可能会导致出错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 os.environ["PYSPARK_PYTHON"] = PYSPARK_PYTHON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# os.environ["PYSPARK_DRIVER_PYTHON"] = PYSPARK_PYTHON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if __name__ == '__main__':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print('PySpark First Program')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TODO: 当应用运行在集群上的时候，MAIN函数就是Driver Program，必须创建SparkContext对象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创建SparkConf对象，设置应用的配置信息，比如应用名称和应用运行模式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conf = SparkConf().setAppName("miniProject").setMaster("local[*]")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TODO: 构建SparkContext上下文实例对象，读取数据和调度Job执行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sc = SparkContext(conf=conf)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第一步、读取本地数据 封装到RDD集合，认为列表List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wordsRDD = sc.textFile("file:///export/pyfolder1/pyspark-chapter01_3.8/data/word.txt")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第二步、处理数据 调用RDD中函数，认为调用列表中的函数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a. 每行数据分割为单词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flatMapRDD = wordsRDD.flatMap(lambda line: line.split(" "))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 b. 转换为二元组，表示每个单词出现一次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mapRDD = flatMapRDD.map(lambda x: (x, 1))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c. 按照Key分组聚合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resultRDD = mapRDD.reduceByKey(lambda a, b: a + b)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 第三步、输出数据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res_rdd_col2 = resultRDD.collect()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输出到控制台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for line in res_rdd_col2: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    print(line)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输出到本地文件中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resultRDD.saveAsTextFile("file:///export/pyfolder1/pyspark-chapter01_3.8/data/output1/")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print('停止 PySpark SparkSession 对象')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# 关闭SparkContext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   sc.stop()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原理分析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7</a:t>
            </a:r>
            <a:r>
              <a:rPr dirty="0" smtClean="0">
                <a:sym typeface="+mn-ea"/>
              </a:rPr>
              <a:t>.4</a:t>
            </a:r>
            <a:r>
              <a:rPr lang="en-US" altLang="zh-CN" dirty="0" smtClean="0">
                <a:sym typeface="+mn-ea"/>
              </a:rPr>
              <a:t> </a:t>
            </a:r>
            <a:r>
              <a:rPr dirty="0">
                <a:sym typeface="+mn-ea"/>
              </a:rPr>
              <a:t>WordCount代码实战</a:t>
            </a:r>
            <a:endParaRPr dirty="0">
              <a:sym typeface="+mn-ea"/>
            </a:endParaRPr>
          </a:p>
        </p:txBody>
      </p:sp>
      <p:pic>
        <p:nvPicPr>
          <p:cNvPr id="156" name="图片 16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770" y="2195195"/>
            <a:ext cx="8976360" cy="4356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.4</a:t>
            </a:r>
            <a:r>
              <a:rPr lang="en-US" altLang="zh-CN" dirty="0" smtClean="0">
                <a:sym typeface="+mn-ea"/>
              </a:rPr>
              <a:t> </a:t>
            </a:r>
            <a:r>
              <a:rPr dirty="0">
                <a:sym typeface="+mn-ea"/>
              </a:rPr>
              <a:t>WordCount代码实战</a:t>
            </a:r>
            <a:endParaRPr dirty="0">
              <a:sym typeface="+mn-ea"/>
            </a:endParaRPr>
          </a:p>
        </p:txBody>
      </p:sp>
      <p:sp>
        <p:nvSpPr>
          <p:cNvPr id="6" name="文本占位符 5"/>
          <p:cNvSpPr/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切换到远程</a:t>
            </a:r>
            <a:r>
              <a:t>SSH </a:t>
            </a:r>
            <a:r>
              <a:rPr lang="zh-CN" altLang="en-US"/>
              <a:t>解释器执行</a:t>
            </a:r>
            <a:r>
              <a:t>(</a:t>
            </a:r>
            <a:r>
              <a:rPr lang="zh-CN" altLang="en-US"/>
              <a:t>在</a:t>
            </a:r>
            <a:r>
              <a:t>Linux</a:t>
            </a:r>
            <a:r>
              <a:rPr lang="zh-CN" altLang="en-US"/>
              <a:t>系统上执行</a:t>
            </a:r>
            <a:r>
              <a:t>)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zh-CN" altLang="en-US"/>
              <a:t>要注意</a:t>
            </a:r>
            <a:r>
              <a:t>, </a:t>
            </a:r>
            <a:r>
              <a:rPr lang="zh-CN" altLang="en-US"/>
              <a:t>远程解释器</a:t>
            </a:r>
            <a:r>
              <a:t>,</a:t>
            </a:r>
            <a:r>
              <a:rPr lang="zh-CN" altLang="en-US"/>
              <a:t>本质上是在服务器上执行</a:t>
            </a:r>
            <a:r>
              <a:t>, </a:t>
            </a:r>
            <a:r>
              <a:rPr lang="zh-CN" altLang="en-US"/>
              <a:t>那么读取的文件</a:t>
            </a:r>
            <a:r>
              <a:t>,</a:t>
            </a:r>
            <a:r>
              <a:rPr lang="zh-CN" altLang="en-US"/>
              <a:t>也应该是服务器上的文件路径</a:t>
            </a:r>
            <a:r>
              <a:t>.</a:t>
            </a: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执行结果如下：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.5 </a:t>
            </a:r>
            <a:r>
              <a:rPr dirty="0">
                <a:sym typeface="+mn-ea"/>
              </a:rPr>
              <a:t>代码结果解析</a:t>
            </a:r>
            <a:endParaRPr dirty="0">
              <a:sym typeface="+mn-ea"/>
            </a:endParaRPr>
          </a:p>
        </p:txBody>
      </p:sp>
      <p:pic>
        <p:nvPicPr>
          <p:cNvPr id="155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235" y="2311400"/>
            <a:ext cx="9700260" cy="316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上传数据到HDFS中：</a:t>
            </a:r>
            <a:endParaRPr lang="zh-CN" altLang="en-US"/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hdfs dfs -put word.txt /</a:t>
            </a:r>
            <a:r>
              <a:rPr b="1">
                <a:solidFill>
                  <a:srgbClr val="FF0000"/>
                </a:solidFill>
              </a:rPr>
              <a:t>input</a:t>
            </a:r>
            <a:r>
              <a:rPr lang="zh-CN" altLang="en-US" b="1">
                <a:solidFill>
                  <a:srgbClr val="FF0000"/>
                </a:solidFill>
              </a:rPr>
              <a:t>/words.txt</a:t>
            </a:r>
            <a:endParaRPr lang="zh-CN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</a:rPr>
              <a:t>hdfs dfs -ls /</a:t>
            </a:r>
            <a:r>
              <a:rPr b="1">
                <a:solidFill>
                  <a:srgbClr val="FF0000"/>
                </a:solidFill>
              </a:rPr>
              <a:t>input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.6 </a:t>
            </a:r>
            <a:r>
              <a:rPr dirty="0">
                <a:sym typeface="+mn-ea"/>
              </a:rPr>
              <a:t>从HDFS读取数据</a:t>
            </a:r>
            <a:endParaRPr dirty="0">
              <a:sym typeface="+mn-ea"/>
            </a:endParaRPr>
          </a:p>
        </p:txBody>
      </p:sp>
      <p:pic>
        <p:nvPicPr>
          <p:cNvPr id="157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200" y="1957705"/>
            <a:ext cx="6939915" cy="9867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占位符 1"/>
          <p:cNvSpPr>
            <a:spLocks noGrp="1"/>
          </p:cNvSpPr>
          <p:nvPr/>
        </p:nvSpPr>
        <p:spPr>
          <a:xfrm>
            <a:off x="824865" y="3233420"/>
            <a:ext cx="10749915" cy="138811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  <a:buChar char="l"/>
            </a:pPr>
            <a:r>
              <a:rPr lang="zh-CN" altLang="en-US" dirty="0"/>
              <a:t>需要调整的代码：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# 第一步、读取本地数据 封装到RDD集合，认为列表List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wordsRDD = sc.textFile("hdfs://node1</a:t>
            </a:r>
            <a:r>
              <a:rPr lang="zh-CN" altLang="en-US" dirty="0" smtClean="0"/>
              <a:t>:</a:t>
            </a:r>
            <a:r>
              <a:rPr lang="en-US" altLang="zh-CN" dirty="0" smtClean="0"/>
              <a:t>8020</a:t>
            </a:r>
            <a:r>
              <a:rPr lang="zh-CN" altLang="en-US" dirty="0" smtClean="0"/>
              <a:t>/</a:t>
            </a:r>
            <a:r>
              <a:rPr lang="zh-CN" altLang="en-US" dirty="0"/>
              <a:t>pydata/")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# 输出到本地文件中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resultRDD.saveAsTextFile("hdfs://node1</a:t>
            </a:r>
            <a:r>
              <a:rPr lang="zh-CN" altLang="en-US" dirty="0" smtClean="0"/>
              <a:t>:</a:t>
            </a:r>
            <a:r>
              <a:rPr lang="en-US" altLang="zh-CN" dirty="0" smtClean="0"/>
              <a:t>8020</a:t>
            </a:r>
            <a:r>
              <a:rPr lang="zh-CN" altLang="en-US" dirty="0" smtClean="0"/>
              <a:t>/</a:t>
            </a:r>
            <a:r>
              <a:rPr lang="zh-CN" altLang="en-US" dirty="0"/>
              <a:t>pydata/output1/")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print('停止 PySpark SparkSession 对象')</a:t>
            </a:r>
            <a:endParaRPr lang="zh-CN" altLang="en-US" dirty="0"/>
          </a:p>
        </p:txBody>
      </p:sp>
      <p:pic>
        <p:nvPicPr>
          <p:cNvPr id="158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85" y="3569018"/>
            <a:ext cx="5688330" cy="18561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24865" y="6311265"/>
            <a:ext cx="9779000" cy="3371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hdfs dfs -cat /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output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/output1/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*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4373"/>
            <a:ext cx="10749598" cy="421957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400"/>
              <a:t>现在将代码提交到</a:t>
            </a:r>
            <a:r>
              <a:rPr sz="1400"/>
              <a:t>YARN</a:t>
            </a:r>
            <a:r>
              <a:rPr lang="zh-CN" altLang="en-US" sz="1400"/>
              <a:t>集群进行测试</a:t>
            </a:r>
            <a:r>
              <a:rPr sz="1400"/>
              <a:t>.</a:t>
            </a:r>
            <a:endParaRPr sz="1400"/>
          </a:p>
          <a:p>
            <a:pPr marL="0" indent="0">
              <a:lnSpc>
                <a:spcPct val="100000"/>
              </a:lnSpc>
              <a:buNone/>
            </a:pPr>
            <a:endParaRPr sz="1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/>
              <a:t>提交集群对代码</a:t>
            </a:r>
            <a:r>
              <a:rPr sz="1400"/>
              <a:t>:</a:t>
            </a:r>
            <a:endParaRPr sz="1400"/>
          </a:p>
          <a:p>
            <a:pPr marL="0" indent="0">
              <a:lnSpc>
                <a:spcPct val="100000"/>
              </a:lnSpc>
              <a:buNone/>
            </a:pPr>
            <a:r>
              <a:rPr sz="1400">
                <a:solidFill>
                  <a:schemeClr val="accent2"/>
                </a:solidFill>
              </a:rPr>
              <a:t>setMaster</a:t>
            </a:r>
            <a:r>
              <a:rPr lang="zh-CN" altLang="en-US" sz="1400">
                <a:solidFill>
                  <a:schemeClr val="accent2"/>
                </a:solidFill>
              </a:rPr>
              <a:t>部分进行删除</a:t>
            </a:r>
            <a:endParaRPr lang="zh-CN" altLang="en-US" sz="140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40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>
                <a:solidFill>
                  <a:schemeClr val="accent2"/>
                </a:solidFill>
              </a:rPr>
              <a:t>因为提交到集群可以通过客户端工具的参数指定</a:t>
            </a:r>
            <a:r>
              <a:rPr sz="1400">
                <a:solidFill>
                  <a:schemeClr val="accent2"/>
                </a:solidFill>
              </a:rPr>
              <a:t>master, </a:t>
            </a:r>
            <a:r>
              <a:rPr lang="zh-CN" altLang="en-US" sz="1400">
                <a:solidFill>
                  <a:schemeClr val="accent2"/>
                </a:solidFill>
              </a:rPr>
              <a:t>比如</a:t>
            </a:r>
            <a:r>
              <a:rPr sz="1400">
                <a:solidFill>
                  <a:schemeClr val="accent2"/>
                </a:solidFill>
              </a:rPr>
              <a:t>spark-submit</a:t>
            </a:r>
            <a:r>
              <a:rPr lang="zh-CN" altLang="en-US" sz="1400">
                <a:solidFill>
                  <a:schemeClr val="accent2"/>
                </a:solidFill>
              </a:rPr>
              <a:t>工具</a:t>
            </a:r>
            <a:r>
              <a:rPr sz="1400">
                <a:solidFill>
                  <a:schemeClr val="accent2"/>
                </a:solidFill>
              </a:rPr>
              <a:t>.</a:t>
            </a:r>
            <a:endParaRPr sz="140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>
                <a:solidFill>
                  <a:schemeClr val="accent2"/>
                </a:solidFill>
              </a:rPr>
              <a:t>所以</a:t>
            </a:r>
            <a:r>
              <a:rPr sz="1400">
                <a:solidFill>
                  <a:schemeClr val="accent2"/>
                </a:solidFill>
              </a:rPr>
              <a:t>,</a:t>
            </a:r>
            <a:r>
              <a:rPr lang="zh-CN" altLang="en-US" sz="1400">
                <a:solidFill>
                  <a:schemeClr val="accent2"/>
                </a:solidFill>
              </a:rPr>
              <a:t>我们不在代码中固定</a:t>
            </a:r>
            <a:r>
              <a:rPr sz="1400">
                <a:solidFill>
                  <a:schemeClr val="accent2"/>
                </a:solidFill>
              </a:rPr>
              <a:t>master</a:t>
            </a:r>
            <a:r>
              <a:rPr lang="zh-CN" altLang="en-US" sz="1400">
                <a:solidFill>
                  <a:schemeClr val="accent2"/>
                </a:solidFill>
              </a:rPr>
              <a:t>的设置</a:t>
            </a:r>
            <a:r>
              <a:rPr sz="1400">
                <a:solidFill>
                  <a:schemeClr val="accent2"/>
                </a:solidFill>
              </a:rPr>
              <a:t>, </a:t>
            </a:r>
            <a:r>
              <a:rPr lang="zh-CN" altLang="en-US" sz="1400">
                <a:solidFill>
                  <a:schemeClr val="accent2"/>
                </a:solidFill>
              </a:rPr>
              <a:t>不然客户端工具参数无效</a:t>
            </a:r>
            <a:r>
              <a:rPr sz="1400">
                <a:solidFill>
                  <a:schemeClr val="accent2"/>
                </a:solidFill>
              </a:rPr>
              <a:t>, </a:t>
            </a:r>
            <a:r>
              <a:rPr lang="zh-CN" altLang="en-US" sz="1400">
                <a:solidFill>
                  <a:schemeClr val="accent2"/>
                </a:solidFill>
              </a:rPr>
              <a:t>代码的优先级是最高的</a:t>
            </a:r>
            <a:r>
              <a:rPr sz="1400">
                <a:solidFill>
                  <a:schemeClr val="accent2"/>
                </a:solidFill>
              </a:rPr>
              <a:t>.</a:t>
            </a:r>
            <a:endParaRPr sz="140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1400">
              <a:solidFill>
                <a:schemeClr val="accent2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</a:t>
            </a:r>
            <a:r>
              <a:rPr lang="en-US" altLang="zh-CN" dirty="0">
                <a:sym typeface="+mn-ea"/>
              </a:rPr>
              <a:t>7</a:t>
            </a:r>
            <a:r>
              <a:rPr dirty="0">
                <a:sym typeface="+mn-ea"/>
              </a:rPr>
              <a:t> 提交代码到集群执行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35973"/>
            <a:ext cx="10749598" cy="4219575"/>
          </a:xfrm>
        </p:spPr>
        <p:txBody>
          <a:bodyPr/>
          <a:lstStyle/>
          <a:p>
            <a:r>
              <a:rPr lang="zh-CN" altLang="en-US"/>
              <a:t>PySpark程序将Python代码以及数据部分上传到centos集群node1机器上，执行spark-submit就可以执行该任务。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</a:t>
            </a:r>
            <a:r>
              <a:rPr lang="en-US" altLang="zh-CN" dirty="0">
                <a:sym typeface="+mn-ea"/>
              </a:rPr>
              <a:t>7</a:t>
            </a:r>
            <a:r>
              <a:rPr dirty="0">
                <a:sym typeface="+mn-ea"/>
              </a:rPr>
              <a:t> 提交代码到集群执行</a:t>
            </a:r>
            <a:endParaRPr dirty="0">
              <a:sym typeface="+mn-ea"/>
            </a:endParaRPr>
          </a:p>
        </p:txBody>
      </p:sp>
      <p:sp>
        <p:nvSpPr>
          <p:cNvPr id="5" name="文本占位符 1"/>
          <p:cNvSpPr>
            <a:spLocks noGrp="1"/>
          </p:cNvSpPr>
          <p:nvPr/>
        </p:nvSpPr>
        <p:spPr>
          <a:xfrm>
            <a:off x="710565" y="2232660"/>
            <a:ext cx="10749915" cy="12096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bin/spark-submit --master local[2] --name wordcount01 /export/pyfolder1/pyspark-chapter01_3.8/main/_03FirstPySparkSubmit.py file:///export/pyfolder1/pyspark-chapter01_3.8/data/word.txt</a:t>
            </a:r>
            <a:endParaRPr lang="zh-CN" altLang="en-US"/>
          </a:p>
        </p:txBody>
      </p:sp>
      <p:pic>
        <p:nvPicPr>
          <p:cNvPr id="159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3649980"/>
            <a:ext cx="8804275" cy="132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48" y="5513705"/>
            <a:ext cx="5688965" cy="11391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占位符 1"/>
          <p:cNvSpPr>
            <a:spLocks noGrp="1"/>
          </p:cNvSpPr>
          <p:nvPr/>
        </p:nvSpPr>
        <p:spPr>
          <a:xfrm>
            <a:off x="721360" y="4973320"/>
            <a:ext cx="10749915" cy="12096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结果如下：</a:t>
            </a:r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6</a:t>
            </a:r>
            <a:r>
              <a:rPr dirty="0" smtClean="0">
                <a:sym typeface="+mn-ea"/>
              </a:rPr>
              <a:t>.</a:t>
            </a:r>
            <a:r>
              <a:rPr lang="en-US" altLang="zh-CN" dirty="0">
                <a:sym typeface="+mn-ea"/>
              </a:rPr>
              <a:t>7</a:t>
            </a:r>
            <a:r>
              <a:rPr dirty="0">
                <a:sym typeface="+mn-ea"/>
              </a:rPr>
              <a:t> 提交代码到集群执行</a:t>
            </a:r>
            <a:endParaRPr dirty="0">
              <a:sym typeface="+mn-ea"/>
            </a:endParaRPr>
          </a:p>
        </p:txBody>
      </p:sp>
      <p:sp>
        <p:nvSpPr>
          <p:cNvPr id="6" name="文本占位符 1"/>
          <p:cNvSpPr>
            <a:spLocks noGrp="1"/>
          </p:cNvSpPr>
          <p:nvPr/>
        </p:nvSpPr>
        <p:spPr>
          <a:xfrm>
            <a:off x="721360" y="1519555"/>
            <a:ext cx="10749915" cy="12096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600"/>
              <a:t>截图如下：</a:t>
            </a:r>
            <a:endParaRPr lang="zh-CN" alt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600"/>
              <a:t>上述的4040随着SparkContext停止就不能访问，但是由于spark配置的时候使用了历史日志服务器，因此可以通过http://192.168.88.161:18080/访问spark的historyserver观看任务执行情况：</a:t>
            </a:r>
            <a:endParaRPr lang="zh-CN" altLang="en-US" sz="1600"/>
          </a:p>
        </p:txBody>
      </p:sp>
      <p:pic>
        <p:nvPicPr>
          <p:cNvPr id="161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2526030"/>
            <a:ext cx="10481945" cy="257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215" y="3636010"/>
            <a:ext cx="6812280" cy="3036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047740" cy="451104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Python</a:t>
            </a:r>
            <a:r>
              <a:rPr lang="zh-CN" altLang="en-US"/>
              <a:t>语言开发</a:t>
            </a:r>
            <a:r>
              <a:rPr lang="en-US" altLang="zh-CN"/>
              <a:t>Spark</a:t>
            </a:r>
            <a:r>
              <a:rPr lang="zh-CN" altLang="en-US"/>
              <a:t>程序步骤？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主要是获取</a:t>
            </a:r>
            <a:r>
              <a:rPr lang="en-US" altLang="zh-CN" sz="1400" b="1">
                <a:solidFill>
                  <a:schemeClr val="accent2"/>
                </a:solidFill>
                <a:effectLst/>
              </a:rPr>
              <a:t>SparkContext</a:t>
            </a:r>
            <a:r>
              <a:rPr lang="zh-CN" altLang="en-US" sz="1400"/>
              <a:t>对象</a:t>
            </a:r>
            <a:r>
              <a:rPr lang="en-US" altLang="zh-CN" sz="1400"/>
              <a:t>,</a:t>
            </a:r>
            <a:r>
              <a:rPr lang="zh-CN" altLang="en-US" sz="1400"/>
              <a:t>基于</a:t>
            </a:r>
            <a:r>
              <a:rPr lang="en-US" altLang="zh-CN" sz="1400"/>
              <a:t>SparkContext</a:t>
            </a:r>
            <a:r>
              <a:rPr lang="zh-CN" altLang="en-US" sz="1400"/>
              <a:t>对象作为执行环境入口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/>
              <a:t>如何提交</a:t>
            </a:r>
            <a:r>
              <a:rPr lang="en-US" altLang="zh-CN"/>
              <a:t>Spark</a:t>
            </a:r>
            <a:r>
              <a:rPr lang="zh-CN" altLang="en-US"/>
              <a:t>应用？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将程序代码上传到服务器上</a:t>
            </a:r>
            <a:r>
              <a:rPr lang="en-US" altLang="zh-CN" sz="1400"/>
              <a:t>, </a:t>
            </a:r>
            <a:r>
              <a:rPr lang="zh-CN" altLang="en-US" sz="1400"/>
              <a:t>通过</a:t>
            </a:r>
            <a:r>
              <a:rPr lang="en-US" altLang="zh-CN" sz="1400" b="1">
                <a:solidFill>
                  <a:schemeClr val="accent2"/>
                </a:solidFill>
              </a:rPr>
              <a:t>spark-submit</a:t>
            </a:r>
            <a:r>
              <a:rPr lang="zh-CN" altLang="en-US" sz="1400"/>
              <a:t>客户端工具进行提交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5008880" y="2699703"/>
            <a:ext cx="6725920" cy="548322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zh-CN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分布式代码执行分析</a:t>
            </a:r>
            <a:endParaRPr lang="zh-CN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第八章</a:t>
            </a:r>
            <a:endParaRPr lang="zh-CN" altLang="en-US" sz="2400" dirty="0" smtClean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8.1 Spark</a:t>
            </a:r>
            <a:r>
              <a:rPr lang="zh-CN" altLang="en-US" dirty="0"/>
              <a:t>集群角色回顾</a:t>
            </a:r>
            <a:r>
              <a:rPr lang="en-US" altLang="zh-CN" dirty="0"/>
              <a:t>(YARN)</a:t>
            </a:r>
            <a:endParaRPr lang="en-US" altLang="zh-CN" dirty="0"/>
          </a:p>
          <a:p>
            <a:r>
              <a:rPr lang="en-US" altLang="zh-CN" dirty="0"/>
              <a:t>8.2 </a:t>
            </a:r>
            <a:r>
              <a:rPr lang="zh-CN" altLang="en-US" dirty="0"/>
              <a:t>分布式代码执行分析</a:t>
            </a:r>
            <a:endParaRPr lang="zh-CN" altLang="en-US" dirty="0"/>
          </a:p>
          <a:p>
            <a:r>
              <a:rPr lang="en-US" altLang="zh-CN" dirty="0"/>
              <a:t>8.3 Python On Spark </a:t>
            </a:r>
            <a:r>
              <a:rPr lang="zh-CN" altLang="en-US" dirty="0"/>
              <a:t>执行原理</a:t>
            </a:r>
            <a:endParaRPr lang="zh-CN" alt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8</a:t>
            </a:r>
            <a:r>
              <a:rPr dirty="0" smtClean="0">
                <a:sym typeface="+mn-ea"/>
              </a:rPr>
              <a:t>.1 </a:t>
            </a:r>
            <a:r>
              <a:rPr dirty="0">
                <a:sym typeface="+mn-ea"/>
              </a:rPr>
              <a:t>Spark 集群角色回顾</a:t>
            </a:r>
            <a:r>
              <a:rPr lang="en-US" altLang="zh-CN" dirty="0">
                <a:sym typeface="+mn-ea"/>
              </a:rPr>
              <a:t>(</a:t>
            </a:r>
            <a:r>
              <a:rPr dirty="0">
                <a:sym typeface="+mn-ea"/>
              </a:rPr>
              <a:t>以</a:t>
            </a:r>
            <a:r>
              <a:rPr lang="en-US" altLang="zh-CN" dirty="0">
                <a:sym typeface="+mn-ea"/>
              </a:rPr>
              <a:t>YARN</a:t>
            </a:r>
            <a:r>
              <a:rPr dirty="0">
                <a:sym typeface="+mn-ea"/>
              </a:rPr>
              <a:t>为例</a:t>
            </a:r>
            <a:r>
              <a:rPr lang="en-US" altLang="zh-CN" dirty="0">
                <a:sym typeface="+mn-ea"/>
              </a:rPr>
              <a:t>)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当Spark Application运行在集群上时，主要有四个部分组成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如</a:t>
            </a:r>
            <a:r>
              <a:rPr lang="zh-CN" altLang="en-US" dirty="0"/>
              <a:t>下示意图：</a:t>
            </a:r>
            <a:endParaRPr lang="zh-CN" altLang="en-US" dirty="0"/>
          </a:p>
        </p:txBody>
      </p:sp>
      <p:pic>
        <p:nvPicPr>
          <p:cNvPr id="1026" name="Picture 2" descr="https://timgsa.baidu.com/timg?image&amp;quality=80&amp;size=b9999_10000&amp;sec=1558031697246&amp;di=4ef7ad01eedb8ada5c7ccde04406b3a9&amp;imgtype=0&amp;src=http%3A%2F%2Fimg.ctolib.com%2FuploadImg%2F20180911%2F20180911170308_68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1"/>
          <a:stretch>
            <a:fillRect/>
          </a:stretch>
        </p:blipFill>
        <p:spPr>
          <a:xfrm>
            <a:off x="777826" y="2464436"/>
            <a:ext cx="6001043" cy="4267778"/>
          </a:xfrm>
          <a:prstGeom prst="rect">
            <a:avLst/>
          </a:prstGeom>
          <a:noFill/>
        </p:spPr>
      </p:pic>
      <p:sp>
        <p:nvSpPr>
          <p:cNvPr id="5" name="文本占位符 3"/>
          <p:cNvSpPr>
            <a:spLocks noGrp="1"/>
          </p:cNvSpPr>
          <p:nvPr/>
        </p:nvSpPr>
        <p:spPr>
          <a:xfrm>
            <a:off x="7225030" y="1501775"/>
            <a:ext cx="4526915" cy="460692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）、Master(ResourceManager)：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集群大管家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,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整个集群的资源管理和分配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）、Worker(NodeManager)：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单个机器的管家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负责在单个服务器上提供运行容器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管理当前机器的资源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140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3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）、Driver：</a:t>
            </a:r>
            <a:r>
              <a:rPr lang="zh-CN" altLang="en-US" sz="14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单个</a:t>
            </a:r>
            <a:r>
              <a:rPr lang="en-US" altLang="zh-CN" sz="14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Spark</a:t>
            </a:r>
            <a:r>
              <a:rPr lang="zh-CN" altLang="en-US" sz="14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任务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的管理者</a:t>
            </a: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,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管理</a:t>
            </a: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Executor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的任务执行和任务分解分配</a:t>
            </a: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, 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类似</a:t>
            </a: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YARN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的</a:t>
            </a:r>
            <a:r>
              <a:rPr lang="en-US" altLang="zh-CN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ApplicationMaster</a:t>
            </a:r>
            <a:r>
              <a:rPr lang="zh-CN" altLang="en-US" sz="14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4）、Executor：具体干活的进程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, Spark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的工作任务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(Task)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都由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Executor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来负责执行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pitchFamily="18" charset="-122"/>
              </a:rPr>
              <a:t>.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8.2 </a:t>
            </a:r>
            <a:r>
              <a:rPr dirty="0" smtClean="0">
                <a:sym typeface="+mn-ea"/>
              </a:rPr>
              <a:t>分布式代码执行分析</a:t>
            </a:r>
            <a:endParaRPr dirty="0" smtClean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Spark Application应用程序运行时，无论client还是cluster部署模式DeployMode，当Driver Program和Executors启动完成以后，就要开始执行应用程序中MAIN函数的代码，以词频统计WordCount程序为例剖析讲解。</a:t>
            </a:r>
            <a:endParaRPr lang="zh-CN" altLang="en-US"/>
          </a:p>
        </p:txBody>
      </p:sp>
      <p:pic>
        <p:nvPicPr>
          <p:cNvPr id="185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2527300"/>
            <a:ext cx="4660900" cy="4050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8.2 </a:t>
            </a:r>
            <a:r>
              <a:rPr smtClean="0">
                <a:sym typeface="+mn-ea"/>
              </a:rPr>
              <a:t>分布式代码执行分析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 第一、构建SparkContex对象和关闭SparkContext资源，都是在Driver Program中执行，上图中①和③都是，如下图所示：</a:t>
            </a:r>
            <a:endParaRPr lang="zh-CN" altLang="en-US" dirty="0"/>
          </a:p>
        </p:txBody>
      </p:sp>
      <p:pic>
        <p:nvPicPr>
          <p:cNvPr id="121" name="图片 12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2530475"/>
            <a:ext cx="8105140" cy="39166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8.2 </a:t>
            </a:r>
            <a:r>
              <a:rPr smtClean="0">
                <a:sym typeface="+mn-ea"/>
              </a:rPr>
              <a:t>分布式代码执行分析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 第二、上图中②的加载数据【A】、处理数据【B】和输出数据【C】代码，都在Executors上执行，从WEB UI监控页面可以看到此Job（RDD#action触发一个Job）对应DAG图，如下所示：</a:t>
            </a:r>
            <a:endParaRPr lang="zh-CN" altLang="en-US"/>
          </a:p>
        </p:txBody>
      </p:sp>
      <p:pic>
        <p:nvPicPr>
          <p:cNvPr id="123" name="图片 14"/>
          <p:cNvPicPr>
            <a:picLocks noChangeAspect="1"/>
          </p:cNvPicPr>
          <p:nvPr/>
        </p:nvPicPr>
        <p:blipFill>
          <a:blip r:embed="rId1"/>
          <a:srcRect t="432" b="1297"/>
          <a:stretch>
            <a:fillRect/>
          </a:stretch>
        </p:blipFill>
        <p:spPr>
          <a:xfrm>
            <a:off x="3077210" y="2493645"/>
            <a:ext cx="4448810" cy="4119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8.2 </a:t>
            </a:r>
            <a:r>
              <a:rPr smtClean="0">
                <a:sym typeface="+mn-ea"/>
              </a:rPr>
              <a:t>分布式代码执行分析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所以对于刚刚的</a:t>
            </a:r>
            <a:r>
              <a:rPr lang="en-US" altLang="zh-CN"/>
              <a:t>WordCount</a:t>
            </a:r>
            <a:r>
              <a:rPr lang="zh-CN" altLang="en-US"/>
              <a:t>代码</a:t>
            </a:r>
            <a:r>
              <a:rPr lang="en-US" altLang="zh-CN"/>
              <a:t>,</a:t>
            </a:r>
            <a:r>
              <a:rPr lang="zh-CN" altLang="en-US"/>
              <a:t>简单分析后得知</a:t>
            </a:r>
            <a:r>
              <a:rPr lang="en-US" altLang="zh-CN"/>
              <a:t>: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SparkContext</a:t>
            </a:r>
            <a:r>
              <a:rPr lang="zh-CN" altLang="en-US"/>
              <a:t>对象的构建</a:t>
            </a:r>
            <a:r>
              <a:rPr lang="en-US" altLang="zh-CN"/>
              <a:t> </a:t>
            </a:r>
            <a:r>
              <a:rPr lang="zh-CN" altLang="en-US"/>
              <a:t>以及</a:t>
            </a:r>
            <a:r>
              <a:rPr lang="en-US" altLang="zh-CN"/>
              <a:t> Spark</a:t>
            </a:r>
            <a:r>
              <a:rPr lang="zh-CN" altLang="en-US"/>
              <a:t>程序的退出</a:t>
            </a:r>
            <a:r>
              <a:rPr lang="en-US" altLang="zh-CN"/>
              <a:t>, </a:t>
            </a:r>
            <a:r>
              <a:rPr lang="zh-CN" altLang="en-US"/>
              <a:t>由</a:t>
            </a:r>
            <a:r>
              <a:rPr lang="en-US" altLang="zh-CN"/>
              <a:t> Driver </a:t>
            </a:r>
            <a:r>
              <a:rPr lang="zh-CN" altLang="en-US"/>
              <a:t>负责执行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具体的数据处理步骤</a:t>
            </a:r>
            <a:r>
              <a:rPr lang="en-US" altLang="zh-CN"/>
              <a:t>, </a:t>
            </a:r>
            <a:r>
              <a:rPr lang="zh-CN" altLang="en-US"/>
              <a:t>由</a:t>
            </a:r>
            <a:r>
              <a:rPr lang="en-US" altLang="zh-CN"/>
              <a:t>Executor</a:t>
            </a:r>
            <a:r>
              <a:rPr lang="zh-CN" altLang="en-US"/>
              <a:t>在执行</a:t>
            </a:r>
            <a:r>
              <a:rPr lang="en-US" altLang="zh-CN"/>
              <a:t>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>
              <a:buFont typeface="Wingdings" panose="05000000000000000000" charset="0"/>
            </a:pPr>
            <a:r>
              <a:rPr lang="zh-CN" altLang="en-US"/>
              <a:t>其实简单来说就是</a:t>
            </a:r>
            <a:r>
              <a:rPr lang="en-US" altLang="zh-CN"/>
              <a:t>: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非数据处理的部分由</a:t>
            </a:r>
            <a:r>
              <a:rPr lang="en-US" altLang="zh-CN"/>
              <a:t>Driver</a:t>
            </a:r>
            <a:r>
              <a:rPr lang="zh-CN" altLang="en-US"/>
              <a:t>工作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数据处理的部分</a:t>
            </a:r>
            <a:r>
              <a:rPr lang="en-US" altLang="zh-CN"/>
              <a:t>(</a:t>
            </a:r>
            <a:r>
              <a:rPr lang="zh-CN" altLang="en-US"/>
              <a:t>干活</a:t>
            </a:r>
            <a:r>
              <a:rPr lang="en-US" altLang="zh-CN"/>
              <a:t>)</a:t>
            </a:r>
            <a:r>
              <a:rPr lang="zh-CN" altLang="en-US"/>
              <a:t>由</a:t>
            </a:r>
            <a:r>
              <a:rPr lang="en-US" altLang="zh-CN"/>
              <a:t>Executor</a:t>
            </a:r>
            <a:r>
              <a:rPr lang="zh-CN" altLang="en-US"/>
              <a:t>工作</a:t>
            </a:r>
            <a:endParaRPr lang="zh-CN" altLang="en-US"/>
          </a:p>
          <a:p>
            <a:pPr>
              <a:buFont typeface="Wingdings" panose="05000000000000000000" charset="0"/>
            </a:pPr>
            <a:endParaRPr lang="zh-CN" altLang="en-US"/>
          </a:p>
          <a:p>
            <a:pPr>
              <a:buFont typeface="Wingdings" panose="05000000000000000000" charset="0"/>
            </a:pPr>
            <a:endParaRPr lang="zh-CN" altLang="en-US"/>
          </a:p>
          <a:p>
            <a:pPr>
              <a:buFont typeface="Wingdings" panose="05000000000000000000" charset="0"/>
            </a:pPr>
            <a:r>
              <a:rPr lang="zh-CN" altLang="en-US"/>
              <a:t>要知道</a:t>
            </a:r>
            <a:r>
              <a:rPr lang="en-US" altLang="zh-CN"/>
              <a:t>: Executor</a:t>
            </a:r>
            <a:r>
              <a:rPr lang="zh-CN" altLang="en-US"/>
              <a:t>不仅仅是一个</a:t>
            </a:r>
            <a:r>
              <a:rPr lang="en-US" altLang="zh-CN"/>
              <a:t>, </a:t>
            </a:r>
            <a:r>
              <a:rPr lang="zh-CN" altLang="en-US"/>
              <a:t>视集群规模</a:t>
            </a:r>
            <a:r>
              <a:rPr lang="en-US" altLang="zh-CN"/>
              <a:t>,Executor</a:t>
            </a:r>
            <a:r>
              <a:rPr lang="zh-CN" altLang="en-US"/>
              <a:t>的数量可以是很多的</a:t>
            </a:r>
            <a:r>
              <a:rPr lang="en-US" altLang="zh-CN"/>
              <a:t>.</a:t>
            </a:r>
            <a:endParaRPr lang="en-US" altLang="zh-CN"/>
          </a:p>
          <a:p>
            <a:pPr>
              <a:buFont typeface="Wingdings" panose="05000000000000000000" charset="0"/>
            </a:pPr>
            <a:r>
              <a:rPr lang="zh-CN" altLang="en-US"/>
              <a:t>那么在这里一定要有一个概念</a:t>
            </a:r>
            <a:r>
              <a:rPr lang="en-US" altLang="zh-CN"/>
              <a:t>: </a:t>
            </a:r>
            <a:r>
              <a:rPr lang="zh-CN" altLang="en-US"/>
              <a:t>代码中的</a:t>
            </a:r>
            <a:r>
              <a:rPr lang="zh-CN" altLang="en-US" b="1">
                <a:solidFill>
                  <a:schemeClr val="accent2"/>
                </a:solidFill>
              </a:rPr>
              <a:t>数据处理部分</a:t>
            </a:r>
            <a:r>
              <a:rPr lang="en-US" altLang="zh-CN" b="1">
                <a:solidFill>
                  <a:schemeClr val="accent2"/>
                </a:solidFill>
              </a:rPr>
              <a:t>,</a:t>
            </a:r>
            <a:r>
              <a:rPr lang="zh-CN" altLang="en-US" b="1">
                <a:solidFill>
                  <a:schemeClr val="accent2"/>
                </a:solidFill>
              </a:rPr>
              <a:t>是由非常多的服务器</a:t>
            </a:r>
            <a:r>
              <a:rPr lang="en-US" altLang="zh-CN" b="1">
                <a:solidFill>
                  <a:schemeClr val="accent2"/>
                </a:solidFill>
              </a:rPr>
              <a:t>(Executor)</a:t>
            </a:r>
            <a:r>
              <a:rPr lang="zh-CN" altLang="en-US" b="1">
                <a:solidFill>
                  <a:schemeClr val="accent2"/>
                </a:solidFill>
              </a:rPr>
              <a:t>执行的</a:t>
            </a:r>
            <a:r>
              <a:rPr lang="en-US" altLang="zh-CN" b="1">
                <a:solidFill>
                  <a:schemeClr val="accent2"/>
                </a:solidFill>
              </a:rPr>
              <a:t>.</a:t>
            </a:r>
            <a:endParaRPr lang="en-US" altLang="zh-CN"/>
          </a:p>
          <a:p>
            <a:pPr>
              <a:buFont typeface="Wingdings" panose="05000000000000000000" charset="0"/>
            </a:pPr>
            <a:r>
              <a:rPr lang="zh-CN" altLang="en-US"/>
              <a:t>这也是</a:t>
            </a:r>
            <a:r>
              <a:rPr lang="zh-CN" altLang="en-US" b="1">
                <a:solidFill>
                  <a:schemeClr val="accent2"/>
                </a:solidFill>
              </a:rPr>
              <a:t>分布式代码执行</a:t>
            </a:r>
            <a:r>
              <a:rPr lang="zh-CN" altLang="en-US"/>
              <a:t>的概念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8.3 Python On Spark </a:t>
            </a:r>
            <a:r>
              <a:rPr>
                <a:sym typeface="+mn-ea"/>
              </a:rPr>
              <a:t>执行原理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PySpark宗旨是在不破坏Spark已有的运行时架构，在Spark架构外层包装一层Python API，借助Py4j实现Python和Java的交互，进而实现通过Python编写Spark应用程序，其运行时架构如下图所示。</a:t>
            </a:r>
            <a:endParaRPr lang="zh-CN" altLang="en-US"/>
          </a:p>
        </p:txBody>
      </p:sp>
      <p:pic>
        <p:nvPicPr>
          <p:cNvPr id="3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245" y="2737485"/>
            <a:ext cx="9021445" cy="16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8.3 Python On Spark </a:t>
            </a:r>
            <a:r>
              <a:rPr>
                <a:sym typeface="+mn-ea"/>
              </a:rPr>
              <a:t>执行原理</a:t>
            </a:r>
            <a:endParaRPr lang="zh-CN" altLang="en-US"/>
          </a:p>
        </p:txBody>
      </p:sp>
      <p:pic>
        <p:nvPicPr>
          <p:cNvPr id="3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325" y="1500505"/>
            <a:ext cx="7940040" cy="49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>
                <a:sym typeface="+mn-ea"/>
              </a:rPr>
              <a:t>[扩展阅读]Python的OS模块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88670" y="1646555"/>
            <a:ext cx="11101705" cy="920750"/>
          </a:xfrm>
        </p:spPr>
        <p:txBody>
          <a:bodyPr/>
          <a:lstStyle/>
          <a:p>
            <a:r>
              <a:rPr lang="en-US" altLang="zh-CN"/>
              <a:t>os</a:t>
            </a:r>
            <a:r>
              <a:rPr lang="zh-CN" altLang="en-US"/>
              <a:t>模块的用途很多</a:t>
            </a:r>
            <a:r>
              <a:rPr lang="en-US" altLang="zh-CN"/>
              <a:t>,</a:t>
            </a:r>
            <a:r>
              <a:rPr lang="zh-CN" altLang="en-US"/>
              <a:t>主要有</a:t>
            </a:r>
            <a:r>
              <a:rPr lang="en-US" altLang="zh-CN"/>
              <a:t>2</a:t>
            </a:r>
            <a:r>
              <a:rPr lang="zh-CN" altLang="en-US"/>
              <a:t>种用途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获取系统的各种环境变量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在代码中临时指定环境变量</a:t>
            </a:r>
            <a:r>
              <a:rPr lang="en-US" altLang="zh-CN"/>
              <a:t>, </a:t>
            </a:r>
            <a:r>
              <a:rPr lang="zh-CN" altLang="en-US"/>
              <a:t>如</a:t>
            </a:r>
            <a:endParaRPr lang="zh-CN" altLang="en-US"/>
          </a:p>
          <a:p>
            <a:r>
              <a:rPr lang="en-US" altLang="zh-CN"/>
              <a:t>import os</a:t>
            </a:r>
            <a:endParaRPr lang="en-US" altLang="zh-CN"/>
          </a:p>
          <a:p>
            <a:r>
              <a:rPr lang="en-US" altLang="zh-CN"/>
              <a:t>os.environ[‘JAVA_HOME’] = /xxx/xxx/xxx</a:t>
            </a:r>
            <a:endParaRPr lang="en-US" altLang="zh-CN"/>
          </a:p>
          <a:p>
            <a:r>
              <a:rPr lang="zh-CN" altLang="en-US"/>
              <a:t>既可以在当前</a:t>
            </a:r>
            <a:r>
              <a:rPr lang="en-US" altLang="zh-CN"/>
              <a:t>Python</a:t>
            </a:r>
            <a:r>
              <a:rPr lang="zh-CN" altLang="en-US"/>
              <a:t>代码中临时修改环境变量</a:t>
            </a:r>
            <a:endParaRPr lang="zh-CN" altLang="en-US"/>
          </a:p>
        </p:txBody>
      </p:sp>
      <p:pic>
        <p:nvPicPr>
          <p:cNvPr id="53" name="图片 7"/>
          <p:cNvPicPr>
            <a:picLocks noChangeAspect="1"/>
          </p:cNvPicPr>
          <p:nvPr/>
        </p:nvPicPr>
        <p:blipFill>
          <a:blip r:embed="rId1"/>
          <a:srcRect r="28495"/>
          <a:stretch>
            <a:fillRect/>
          </a:stretch>
        </p:blipFill>
        <p:spPr>
          <a:xfrm>
            <a:off x="904875" y="2756535"/>
            <a:ext cx="654748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分布式代码执行的重要特征是什么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buNone/>
            </a:pPr>
            <a:r>
              <a:rPr lang="zh-CN" altLang="en-US" sz="1200"/>
              <a:t>代码在集群上运行</a:t>
            </a:r>
            <a:r>
              <a:rPr lang="en-US" altLang="zh-CN" sz="1200"/>
              <a:t>, </a:t>
            </a:r>
            <a:r>
              <a:rPr lang="zh-CN" altLang="en-US" sz="1200"/>
              <a:t>是被分布式运行的</a:t>
            </a:r>
            <a:r>
              <a:rPr lang="en-US" altLang="zh-CN" sz="1200"/>
              <a:t>.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/>
              <a:t>在</a:t>
            </a:r>
            <a:r>
              <a:rPr lang="en-US" altLang="zh-CN" sz="1200"/>
              <a:t>Spark</a:t>
            </a:r>
            <a:r>
              <a:rPr lang="zh-CN" altLang="en-US" sz="1200"/>
              <a:t>中</a:t>
            </a:r>
            <a:r>
              <a:rPr lang="en-US" altLang="zh-CN" sz="1200"/>
              <a:t>, </a:t>
            </a:r>
            <a:r>
              <a:rPr lang="zh-CN" altLang="en-US" sz="1200"/>
              <a:t>非任务处理部分由</a:t>
            </a:r>
            <a:r>
              <a:rPr lang="en-US" altLang="zh-CN" sz="1200"/>
              <a:t>Driver</a:t>
            </a:r>
            <a:r>
              <a:rPr lang="zh-CN" altLang="en-US" sz="1200"/>
              <a:t>执行</a:t>
            </a:r>
            <a:r>
              <a:rPr lang="en-US" altLang="zh-CN" sz="1200"/>
              <a:t>(</a:t>
            </a:r>
            <a:r>
              <a:rPr lang="zh-CN" altLang="en-US" sz="1200"/>
              <a:t>非</a:t>
            </a:r>
            <a:r>
              <a:rPr lang="en-US" altLang="zh-CN" sz="1200"/>
              <a:t>RDD</a:t>
            </a:r>
            <a:r>
              <a:rPr lang="zh-CN" altLang="en-US" sz="1200"/>
              <a:t>代码</a:t>
            </a:r>
            <a:r>
              <a:rPr lang="en-US" altLang="zh-CN" sz="1200"/>
              <a:t>)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任务处理部分由</a:t>
            </a:r>
            <a:r>
              <a:rPr lang="en-US" altLang="zh-CN" sz="1200"/>
              <a:t>Executor</a:t>
            </a:r>
            <a:r>
              <a:rPr lang="zh-CN" altLang="en-US" sz="1200"/>
              <a:t>执行</a:t>
            </a:r>
            <a:r>
              <a:rPr lang="en-US" altLang="zh-CN" sz="1200"/>
              <a:t>(RDD</a:t>
            </a:r>
            <a:r>
              <a:rPr lang="zh-CN" altLang="en-US" sz="1200"/>
              <a:t>代码</a:t>
            </a:r>
            <a:r>
              <a:rPr lang="en-US" altLang="zh-CN" sz="1200"/>
              <a:t>).</a:t>
            </a:r>
            <a:endParaRPr lang="en-US" altLang="zh-CN" sz="1200"/>
          </a:p>
          <a:p>
            <a:pPr marL="0" indent="0">
              <a:buNone/>
            </a:pPr>
            <a:r>
              <a:rPr lang="en-US" altLang="zh-CN" sz="1200"/>
              <a:t>Executor</a:t>
            </a:r>
            <a:r>
              <a:rPr lang="zh-CN" altLang="en-US" sz="1200"/>
              <a:t>的数量可以很多</a:t>
            </a:r>
            <a:r>
              <a:rPr lang="en-US" altLang="zh-CN" sz="1200"/>
              <a:t>,</a:t>
            </a:r>
            <a:r>
              <a:rPr lang="zh-CN" altLang="en-US" sz="1200"/>
              <a:t>所以任务的计算是分布式在运行的</a:t>
            </a:r>
            <a:r>
              <a:rPr lang="en-US" altLang="zh-CN" sz="1200"/>
              <a:t>.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/>
              <a:t>简述</a:t>
            </a:r>
            <a:r>
              <a:rPr lang="en-US" altLang="zh-CN"/>
              <a:t>PySpark</a:t>
            </a:r>
            <a:r>
              <a:rPr lang="zh-CN" altLang="en-US"/>
              <a:t>的架构体系</a:t>
            </a:r>
            <a:endParaRPr lang="zh-CN" altLang="en-US"/>
          </a:p>
          <a:p>
            <a:pPr marL="0" indent="0">
              <a:buNone/>
            </a:pPr>
            <a:r>
              <a:rPr lang="en-US" altLang="zh-CN" sz="1200"/>
              <a:t>Python On Spark Driver</a:t>
            </a:r>
            <a:r>
              <a:rPr lang="zh-CN" altLang="en-US" sz="1200"/>
              <a:t>端由</a:t>
            </a:r>
            <a:r>
              <a:rPr lang="en-US" altLang="zh-CN" sz="1200"/>
              <a:t>JVM</a:t>
            </a:r>
            <a:r>
              <a:rPr lang="zh-CN" altLang="en-US" sz="1200"/>
              <a:t>执行</a:t>
            </a:r>
            <a:r>
              <a:rPr lang="en-US" altLang="zh-CN" sz="1200"/>
              <a:t>, Executor</a:t>
            </a:r>
            <a:r>
              <a:rPr lang="zh-CN" altLang="en-US" sz="1200"/>
              <a:t>端由</a:t>
            </a:r>
            <a:r>
              <a:rPr lang="en-US" altLang="zh-CN" sz="1200"/>
              <a:t>JVM</a:t>
            </a:r>
            <a:r>
              <a:rPr lang="zh-CN" altLang="en-US" sz="1200"/>
              <a:t>做命令转发</a:t>
            </a:r>
            <a:r>
              <a:rPr lang="en-US" altLang="zh-CN" sz="1200"/>
              <a:t>, </a:t>
            </a:r>
            <a:r>
              <a:rPr lang="zh-CN" altLang="en-US" sz="1200"/>
              <a:t>底层由</a:t>
            </a:r>
            <a:r>
              <a:rPr lang="en-US" altLang="zh-CN" sz="1200"/>
              <a:t>Python</a:t>
            </a:r>
            <a:r>
              <a:rPr lang="zh-CN" altLang="en-US" sz="1200"/>
              <a:t>解释器进行工作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PyCharm</a:t>
            </a:r>
            <a:r>
              <a:rPr lang="zh-CN" altLang="en-US" dirty="0"/>
              <a:t>中编写完成</a:t>
            </a:r>
            <a:r>
              <a:rPr lang="en-US" altLang="zh-CN" dirty="0"/>
              <a:t>WordCount</a:t>
            </a:r>
            <a:r>
              <a:rPr lang="zh-CN" altLang="en-US" dirty="0"/>
              <a:t>案例</a:t>
            </a:r>
            <a:r>
              <a:rPr lang="en-US" altLang="zh-CN" dirty="0"/>
              <a:t>,</a:t>
            </a:r>
            <a:r>
              <a:rPr lang="zh-CN" altLang="en-US" dirty="0"/>
              <a:t>并以</a:t>
            </a:r>
            <a:r>
              <a:rPr lang="en-US" altLang="zh-CN" dirty="0"/>
              <a:t>Local</a:t>
            </a:r>
            <a:r>
              <a:rPr lang="zh-CN" altLang="en-US" dirty="0"/>
              <a:t>模式执行成功</a:t>
            </a:r>
            <a:endParaRPr lang="zh-CN" altLang="en-US" dirty="0"/>
          </a:p>
          <a:p>
            <a:r>
              <a:rPr lang="zh-CN" altLang="en-US" dirty="0"/>
              <a:t>将</a:t>
            </a:r>
            <a:r>
              <a:rPr lang="en-US" altLang="zh-CN" dirty="0"/>
              <a:t>WordCount</a:t>
            </a:r>
            <a:r>
              <a:rPr lang="zh-CN" altLang="en-US" dirty="0"/>
              <a:t>案例提交到集群中以</a:t>
            </a:r>
            <a:r>
              <a:rPr lang="en-US" altLang="zh-CN" dirty="0"/>
              <a:t>YARN</a:t>
            </a:r>
            <a:r>
              <a:rPr lang="zh-CN" altLang="en-US" dirty="0"/>
              <a:t>模式执行</a:t>
            </a:r>
            <a:endParaRPr lang="zh-CN" altLang="en-US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1.xml><?xml version="1.0" encoding="utf-8"?>
<p:tagLst xmlns:p="http://schemas.openxmlformats.org/presentationml/2006/main">
  <p:tag name="KSO_WM_UNIT_PLACING_PICTURE_USER_VIEWPORT" val="{&quot;height&quot;:7850,&quot;width&quot;:13090}"/>
</p:tagLst>
</file>

<file path=ppt/tags/tag312.xml><?xml version="1.0" encoding="utf-8"?>
<p:tagLst xmlns:p="http://schemas.openxmlformats.org/presentationml/2006/main">
  <p:tag name="KSO_WM_UNIT_TABLE_BEAUTIFY" val="smartTable{61a42ae5-b290-4d68-aca2-14ceab52dad0}"/>
  <p:tag name="TABLE_ENDDRAG_ORIGIN_RECT" val="564*272"/>
  <p:tag name="TABLE_ENDDRAG_RECT" val="271*171*564*272"/>
</p:tagLst>
</file>

<file path=ppt/tags/tag313.xml><?xml version="1.0" encoding="utf-8"?>
<p:tagLst xmlns:p="http://schemas.openxmlformats.org/presentationml/2006/main">
  <p:tag name="KSO_WM_UNIT_PLACING_PICTURE_USER_VIEWPORT" val="{&quot;height&quot;:2638,&quot;width&quot;:8960}"/>
</p:tagLst>
</file>

<file path=ppt/tags/tag314.xml><?xml version="1.0" encoding="utf-8"?>
<p:tagLst xmlns:p="http://schemas.openxmlformats.org/presentationml/2006/main">
  <p:tag name="KSO_WM_UNIT_PLACING_PICTURE_USER_VIEWPORT" val="{&quot;height&quot;:3158.0188976377954,&quot;width&quot;:6963.03937007874}"/>
</p:tagLst>
</file>

<file path=ppt/tags/tag315.xml><?xml version="1.0" encoding="utf-8"?>
<p:tagLst xmlns:p="http://schemas.openxmlformats.org/presentationml/2006/main">
  <p:tag name="KSO_WM_UNIT_PLACING_PICTURE_USER_VIEWPORT" val="{&quot;height&quot;:5505,&quot;width&quot;:14925}"/>
</p:tagLst>
</file>

<file path=ppt/tags/tag316.xml><?xml version="1.0" encoding="utf-8"?>
<p:tagLst xmlns:p="http://schemas.openxmlformats.org/presentationml/2006/main">
  <p:tag name="KSO_WM_UNIT_TABLE_BEAUTIFY" val="smartTable{d464b0f5-4837-452b-abe5-49f20e841a08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_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22459</Words>
  <Application>WPS 演示</Application>
  <PresentationFormat>宽屏</PresentationFormat>
  <Paragraphs>1148</Paragraphs>
  <Slides>127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35</vt:i4>
      </vt:variant>
      <vt:variant>
        <vt:lpstr>幻灯片标题</vt:lpstr>
      </vt:variant>
      <vt:variant>
        <vt:i4>127</vt:i4>
      </vt:variant>
    </vt:vector>
  </HeadingPairs>
  <TitlesOfParts>
    <vt:vector size="183" baseType="lpstr">
      <vt:lpstr>Arial</vt:lpstr>
      <vt:lpstr>宋体</vt:lpstr>
      <vt:lpstr>Wingdings</vt:lpstr>
      <vt:lpstr>Calibri</vt:lpstr>
      <vt:lpstr>黑体</vt:lpstr>
      <vt:lpstr>Sitka Heading</vt:lpstr>
      <vt:lpstr>Alibaba PuHuiTi R</vt:lpstr>
      <vt:lpstr>Segoe UI</vt:lpstr>
      <vt:lpstr>微软雅黑</vt:lpstr>
      <vt:lpstr>Verdana</vt:lpstr>
      <vt:lpstr>阿里巴巴普惠体</vt:lpstr>
      <vt:lpstr>Wingdings</vt:lpstr>
      <vt:lpstr>华文楷体</vt:lpstr>
      <vt:lpstr>Alibaba PuHuiTi M</vt:lpstr>
      <vt:lpstr>Segoe UI Light</vt:lpstr>
      <vt:lpstr>微软雅黑 Light</vt:lpstr>
      <vt:lpstr>Calibri</vt:lpstr>
      <vt:lpstr>等线</vt:lpstr>
      <vt:lpstr>Alibaba PuHuiTi B</vt:lpstr>
      <vt:lpstr>阿里巴巴普惠体 Medium</vt:lpstr>
      <vt:lpstr>Arial Unicode MS</vt:lpstr>
      <vt:lpstr>封面2</vt:lpstr>
      <vt:lpstr>目录</vt:lpstr>
      <vt:lpstr>2_目录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1_章节页版式（一级+二级标题）</vt:lpstr>
      <vt:lpstr>1_目录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13_正文设计方案</vt:lpstr>
      <vt:lpstr>14_正文设计方案</vt:lpstr>
      <vt:lpstr>15_正文设计方案</vt:lpstr>
      <vt:lpstr>16_正文设计方案</vt:lpstr>
      <vt:lpstr>17_正文设计方案</vt:lpstr>
      <vt:lpstr>2_章节页版式（一级+二级标题）</vt:lpstr>
      <vt:lpstr>3_目录</vt:lpstr>
      <vt:lpstr>18_正文设计方案</vt:lpstr>
      <vt:lpstr>4天快速入门PySpark</vt:lpstr>
      <vt:lpstr>PowerPoint 演示文稿</vt:lpstr>
      <vt:lpstr>PowerPoint 演示文稿</vt:lpstr>
      <vt:lpstr>Spark基础入门</vt:lpstr>
      <vt:lpstr>PowerPoint 演示文稿</vt:lpstr>
      <vt:lpstr>PowerPoint 演示文稿</vt:lpstr>
      <vt:lpstr>Spark 框架概述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Spark环境搭建-Local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环境搭建-Standalone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环境搭建-Standalone HA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环境搭建-Spark on YARN 重点掌握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PySpark库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本机开发环境搭建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分布式代码执行分析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2348</cp:revision>
  <dcterms:created xsi:type="dcterms:W3CDTF">2020-03-31T02:23:00Z</dcterms:created>
  <dcterms:modified xsi:type="dcterms:W3CDTF">2021-12-28T10:51:31Z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EB301631A7B446C8A504D74B1DA3704E</vt:lpwstr>
  </property>
</Properties>
</file>