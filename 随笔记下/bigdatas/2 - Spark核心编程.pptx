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3" r:id="rId4"/>
    <p:sldMasterId id="2147483655" r:id="rId5"/>
    <p:sldMasterId id="2147483657" r:id="rId6"/>
    <p:sldMasterId id="2147483659" r:id="rId7"/>
    <p:sldMasterId id="2147483674" r:id="rId8"/>
    <p:sldMasterId id="2147483676" r:id="rId9"/>
    <p:sldMasterId id="2147483678" r:id="rId10"/>
    <p:sldMasterId id="2147483680" r:id="rId11"/>
    <p:sldMasterId id="2147483695" r:id="rId12"/>
    <p:sldMasterId id="2147483710" r:id="rId13"/>
    <p:sldMasterId id="2147483727" r:id="rId14"/>
    <p:sldMasterId id="2147483744" r:id="rId15"/>
    <p:sldMasterId id="2147483759" r:id="rId16"/>
    <p:sldMasterId id="2147483774" r:id="rId17"/>
    <p:sldMasterId id="2147483789" r:id="rId18"/>
    <p:sldMasterId id="2147483804" r:id="rId19"/>
    <p:sldMasterId id="2147483819" r:id="rId20"/>
    <p:sldMasterId id="2147483834" r:id="rId21"/>
    <p:sldMasterId id="2147483849" r:id="rId22"/>
    <p:sldMasterId id="2147483864" r:id="rId23"/>
    <p:sldMasterId id="2147483879" r:id="rId24"/>
    <p:sldMasterId id="2147483894" r:id="rId25"/>
    <p:sldMasterId id="2147483909" r:id="rId26"/>
    <p:sldMasterId id="2147483924" r:id="rId27"/>
    <p:sldMasterId id="2147483939" r:id="rId28"/>
    <p:sldMasterId id="2147483954" r:id="rId29"/>
  </p:sldMasterIdLst>
  <p:notesMasterIdLst>
    <p:notesMasterId r:id="rId34"/>
  </p:notesMasterIdLst>
  <p:handoutMasterIdLst>
    <p:handoutMasterId r:id="rId187"/>
  </p:handoutMasterIdLst>
  <p:sldIdLst>
    <p:sldId id="462" r:id="rId30"/>
    <p:sldId id="464" r:id="rId31"/>
    <p:sldId id="463" r:id="rId32"/>
    <p:sldId id="700" r:id="rId33"/>
    <p:sldId id="696" r:id="rId35"/>
    <p:sldId id="467" r:id="rId36"/>
    <p:sldId id="591" r:id="rId37"/>
    <p:sldId id="1683" r:id="rId38"/>
    <p:sldId id="1692" r:id="rId39"/>
    <p:sldId id="1684" r:id="rId40"/>
    <p:sldId id="1685" r:id="rId41"/>
    <p:sldId id="1693" r:id="rId42"/>
    <p:sldId id="1976" r:id="rId43"/>
    <p:sldId id="1977" r:id="rId44"/>
    <p:sldId id="1979" r:id="rId45"/>
    <p:sldId id="1980" r:id="rId46"/>
    <p:sldId id="1981" r:id="rId47"/>
    <p:sldId id="702" r:id="rId48"/>
    <p:sldId id="1651" r:id="rId49"/>
    <p:sldId id="1676" r:id="rId50"/>
    <p:sldId id="1699" r:id="rId51"/>
    <p:sldId id="1704" r:id="rId52"/>
    <p:sldId id="1982" r:id="rId53"/>
    <p:sldId id="2028" r:id="rId54"/>
    <p:sldId id="1983" r:id="rId55"/>
    <p:sldId id="1984" r:id="rId56"/>
    <p:sldId id="1985" r:id="rId57"/>
    <p:sldId id="1700" r:id="rId58"/>
    <p:sldId id="1986" r:id="rId59"/>
    <p:sldId id="1987" r:id="rId60"/>
    <p:sldId id="1988" r:id="rId61"/>
    <p:sldId id="1989" r:id="rId62"/>
    <p:sldId id="1990" r:id="rId63"/>
    <p:sldId id="1991" r:id="rId64"/>
    <p:sldId id="1997" r:id="rId65"/>
    <p:sldId id="1992" r:id="rId66"/>
    <p:sldId id="1993" r:id="rId67"/>
    <p:sldId id="1994" r:id="rId68"/>
    <p:sldId id="1996" r:id="rId69"/>
    <p:sldId id="2041" r:id="rId70"/>
    <p:sldId id="1999" r:id="rId71"/>
    <p:sldId id="2000" r:id="rId72"/>
    <p:sldId id="2001" r:id="rId73"/>
    <p:sldId id="2002" r:id="rId74"/>
    <p:sldId id="2003" r:id="rId75"/>
    <p:sldId id="2012" r:id="rId76"/>
    <p:sldId id="2013" r:id="rId77"/>
    <p:sldId id="2014" r:id="rId78"/>
    <p:sldId id="2006" r:id="rId79"/>
    <p:sldId id="2015" r:id="rId80"/>
    <p:sldId id="2016" r:id="rId81"/>
    <p:sldId id="2017" r:id="rId82"/>
    <p:sldId id="2018" r:id="rId83"/>
    <p:sldId id="2025" r:id="rId84"/>
    <p:sldId id="2026" r:id="rId85"/>
    <p:sldId id="2019" r:id="rId86"/>
    <p:sldId id="2020" r:id="rId87"/>
    <p:sldId id="2021" r:id="rId88"/>
    <p:sldId id="2022" r:id="rId89"/>
    <p:sldId id="2023" r:id="rId90"/>
    <p:sldId id="2024" r:id="rId91"/>
    <p:sldId id="2027" r:id="rId92"/>
    <p:sldId id="2036" r:id="rId93"/>
    <p:sldId id="2029" r:id="rId94"/>
    <p:sldId id="2030" r:id="rId95"/>
    <p:sldId id="2037" r:id="rId96"/>
    <p:sldId id="2031" r:id="rId97"/>
    <p:sldId id="2032" r:id="rId98"/>
    <p:sldId id="2033" r:id="rId99"/>
    <p:sldId id="2034" r:id="rId100"/>
    <p:sldId id="2038" r:id="rId101"/>
    <p:sldId id="2039" r:id="rId102"/>
    <p:sldId id="1678" r:id="rId103"/>
    <p:sldId id="2042" r:id="rId104"/>
    <p:sldId id="1653" r:id="rId105"/>
    <p:sldId id="1670" r:id="rId106"/>
    <p:sldId id="1797" r:id="rId107"/>
    <p:sldId id="2043" r:id="rId108"/>
    <p:sldId id="2044" r:id="rId109"/>
    <p:sldId id="2045" r:id="rId110"/>
    <p:sldId id="2046" r:id="rId111"/>
    <p:sldId id="2049" r:id="rId112"/>
    <p:sldId id="2050" r:id="rId113"/>
    <p:sldId id="2047" r:id="rId114"/>
    <p:sldId id="2048" r:id="rId115"/>
    <p:sldId id="1672" r:id="rId116"/>
    <p:sldId id="1655" r:id="rId117"/>
    <p:sldId id="1664" r:id="rId118"/>
    <p:sldId id="1856" r:id="rId119"/>
    <p:sldId id="2051" r:id="rId120"/>
    <p:sldId id="2052" r:id="rId121"/>
    <p:sldId id="2053" r:id="rId122"/>
    <p:sldId id="2054" r:id="rId123"/>
    <p:sldId id="2055" r:id="rId124"/>
    <p:sldId id="2056" r:id="rId125"/>
    <p:sldId id="2095" r:id="rId126"/>
    <p:sldId id="1666" r:id="rId127"/>
    <p:sldId id="1656" r:id="rId128"/>
    <p:sldId id="1661" r:id="rId129"/>
    <p:sldId id="2057" r:id="rId130"/>
    <p:sldId id="2058" r:id="rId131"/>
    <p:sldId id="2059" r:id="rId132"/>
    <p:sldId id="2060" r:id="rId133"/>
    <p:sldId id="2061" r:id="rId134"/>
    <p:sldId id="2063" r:id="rId135"/>
    <p:sldId id="2062" r:id="rId136"/>
    <p:sldId id="2064" r:id="rId137"/>
    <p:sldId id="2065" r:id="rId138"/>
    <p:sldId id="2066" r:id="rId139"/>
    <p:sldId id="2067" r:id="rId140"/>
    <p:sldId id="2068" r:id="rId141"/>
    <p:sldId id="2069" r:id="rId142"/>
    <p:sldId id="1663" r:id="rId143"/>
    <p:sldId id="1657" r:id="rId144"/>
    <p:sldId id="1658" r:id="rId145"/>
    <p:sldId id="2070" r:id="rId146"/>
    <p:sldId id="2071" r:id="rId147"/>
    <p:sldId id="2072" r:id="rId148"/>
    <p:sldId id="2080" r:id="rId149"/>
    <p:sldId id="2073" r:id="rId150"/>
    <p:sldId id="2081" r:id="rId151"/>
    <p:sldId id="2074" r:id="rId152"/>
    <p:sldId id="2082" r:id="rId153"/>
    <p:sldId id="2083" r:id="rId154"/>
    <p:sldId id="2075" r:id="rId155"/>
    <p:sldId id="2076" r:id="rId156"/>
    <p:sldId id="2084" r:id="rId157"/>
    <p:sldId id="2085" r:id="rId158"/>
    <p:sldId id="2077" r:id="rId159"/>
    <p:sldId id="2078" r:id="rId160"/>
    <p:sldId id="2079" r:id="rId161"/>
    <p:sldId id="2093" r:id="rId162"/>
    <p:sldId id="2086" r:id="rId163"/>
    <p:sldId id="2087" r:id="rId164"/>
    <p:sldId id="2089" r:id="rId165"/>
    <p:sldId id="2090" r:id="rId166"/>
    <p:sldId id="2091" r:id="rId167"/>
    <p:sldId id="1903" r:id="rId168"/>
    <p:sldId id="1932" r:id="rId169"/>
    <p:sldId id="1936" r:id="rId170"/>
    <p:sldId id="1937" r:id="rId171"/>
    <p:sldId id="1938" r:id="rId172"/>
    <p:sldId id="1933" r:id="rId173"/>
    <p:sldId id="1939" r:id="rId174"/>
    <p:sldId id="1940" r:id="rId175"/>
    <p:sldId id="1934" r:id="rId176"/>
    <p:sldId id="1941" r:id="rId177"/>
    <p:sldId id="1942" r:id="rId178"/>
    <p:sldId id="1943" r:id="rId179"/>
    <p:sldId id="1944" r:id="rId180"/>
    <p:sldId id="1935" r:id="rId181"/>
    <p:sldId id="1945" r:id="rId182"/>
    <p:sldId id="1660" r:id="rId183"/>
    <p:sldId id="1682" r:id="rId184"/>
    <p:sldId id="574" r:id="rId185"/>
    <p:sldId id="264" r:id="rId18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第八章 Spark 内核调度&#10;" id="{9E42C9E2-D62A-4A1E-BD6E-8382CE4D134A}">
          <p14:sldIdLst/>
        </p14:section>
        <p14:section name="目录" id="{FFAA22FD-EA13-46A3-B6F1-35DE60C9AAE1}">
          <p14:sldIdLst>
            <p14:sldId id="462"/>
            <p14:sldId id="464"/>
            <p14:sldId id="463"/>
          </p14:sldIdLst>
        </p14:section>
        <p14:section name="学习目标" id="{CF20E9E5-33F3-4188-AF8A-028452DFC1C7}">
          <p14:sldIdLst/>
        </p14:section>
        <p14:section name="第一章 RDD详解" id="{D7BF5688-DD00-42AE-8FF7-1B0D134D687C}">
          <p14:sldIdLst>
            <p14:sldId id="700"/>
            <p14:sldId id="696"/>
            <p14:sldId id="467"/>
            <p14:sldId id="591"/>
            <p14:sldId id="1683"/>
            <p14:sldId id="1692"/>
            <p14:sldId id="1684"/>
            <p14:sldId id="1685"/>
            <p14:sldId id="1693"/>
            <p14:sldId id="1976"/>
            <p14:sldId id="1977"/>
            <p14:sldId id="1979"/>
            <p14:sldId id="1980"/>
            <p14:sldId id="1981"/>
            <p14:sldId id="702"/>
          </p14:sldIdLst>
        </p14:section>
        <p14:section name="第二章 RDD编程入门" id="{E0C6B531-75E5-4CBE-935E-12C99BC9C6C0}">
          <p14:sldIdLst>
            <p14:sldId id="1651"/>
            <p14:sldId id="1676"/>
            <p14:sldId id="1699"/>
            <p14:sldId id="1704"/>
            <p14:sldId id="1982"/>
            <p14:sldId id="2028"/>
            <p14:sldId id="1983"/>
            <p14:sldId id="1984"/>
            <p14:sldId id="1985"/>
            <p14:sldId id="1700"/>
            <p14:sldId id="1986"/>
            <p14:sldId id="1987"/>
            <p14:sldId id="1988"/>
            <p14:sldId id="1989"/>
            <p14:sldId id="1990"/>
            <p14:sldId id="1991"/>
            <p14:sldId id="1997"/>
            <p14:sldId id="1992"/>
            <p14:sldId id="1993"/>
            <p14:sldId id="1994"/>
            <p14:sldId id="1996"/>
            <p14:sldId id="2041"/>
            <p14:sldId id="1999"/>
            <p14:sldId id="2000"/>
            <p14:sldId id="2001"/>
            <p14:sldId id="2002"/>
            <p14:sldId id="2003"/>
            <p14:sldId id="2012"/>
            <p14:sldId id="2013"/>
            <p14:sldId id="2014"/>
            <p14:sldId id="2006"/>
            <p14:sldId id="2015"/>
            <p14:sldId id="2016"/>
            <p14:sldId id="2017"/>
            <p14:sldId id="2018"/>
            <p14:sldId id="2025"/>
            <p14:sldId id="2026"/>
            <p14:sldId id="2019"/>
            <p14:sldId id="2020"/>
            <p14:sldId id="2021"/>
            <p14:sldId id="2022"/>
            <p14:sldId id="2023"/>
            <p14:sldId id="2024"/>
            <p14:sldId id="2027"/>
            <p14:sldId id="2036"/>
            <p14:sldId id="2029"/>
            <p14:sldId id="2030"/>
            <p14:sldId id="2037"/>
            <p14:sldId id="2031"/>
            <p14:sldId id="2032"/>
            <p14:sldId id="2033"/>
            <p14:sldId id="2034"/>
            <p14:sldId id="2038"/>
            <p14:sldId id="2039"/>
            <p14:sldId id="1678"/>
            <p14:sldId id="2042"/>
          </p14:sldIdLst>
        </p14:section>
        <p14:section name="第三章 RDD的持久化" id="{5A019D58-52A6-4961-8CCD-EEB55370A20A}">
          <p14:sldIdLst>
            <p14:sldId id="1653"/>
            <p14:sldId id="1670"/>
            <p14:sldId id="1797"/>
            <p14:sldId id="2043"/>
            <p14:sldId id="2044"/>
            <p14:sldId id="2045"/>
            <p14:sldId id="2046"/>
            <p14:sldId id="2049"/>
            <p14:sldId id="2050"/>
            <p14:sldId id="2047"/>
            <p14:sldId id="2048"/>
            <p14:sldId id="1672"/>
          </p14:sldIdLst>
        </p14:section>
        <p14:section name="第四章 Spark案例练习" id="{BD598BFA-BD0F-4A1E-98C0-672F07AF24F8}">
          <p14:sldIdLst>
            <p14:sldId id="1655"/>
            <p14:sldId id="1664"/>
            <p14:sldId id="1856"/>
            <p14:sldId id="2051"/>
            <p14:sldId id="2052"/>
            <p14:sldId id="2053"/>
            <p14:sldId id="2054"/>
            <p14:sldId id="2055"/>
            <p14:sldId id="2056"/>
            <p14:sldId id="2095"/>
            <p14:sldId id="1666"/>
          </p14:sldIdLst>
        </p14:section>
        <p14:section name="第五章 共享变量" id="{F530FE4A-2942-4DB6-80EB-98A835E1D7B8}">
          <p14:sldIdLst>
            <p14:sldId id="1656"/>
            <p14:sldId id="1661"/>
            <p14:sldId id="2057"/>
            <p14:sldId id="2058"/>
            <p14:sldId id="2059"/>
            <p14:sldId id="2060"/>
            <p14:sldId id="2061"/>
            <p14:sldId id="2063"/>
            <p14:sldId id="2062"/>
            <p14:sldId id="2064"/>
            <p14:sldId id="2065"/>
            <p14:sldId id="2066"/>
            <p14:sldId id="2067"/>
            <p14:sldId id="2068"/>
            <p14:sldId id="2069"/>
            <p14:sldId id="1663"/>
            <p14:sldId id="1657"/>
            <p14:sldId id="1658"/>
            <p14:sldId id="2070"/>
            <p14:sldId id="2071"/>
            <p14:sldId id="2072"/>
            <p14:sldId id="2080"/>
            <p14:sldId id="2073"/>
            <p14:sldId id="2074"/>
            <p14:sldId id="2082"/>
            <p14:sldId id="2083"/>
            <p14:sldId id="2075"/>
            <p14:sldId id="2076"/>
            <p14:sldId id="2084"/>
            <p14:sldId id="2085"/>
            <p14:sldId id="2077"/>
            <p14:sldId id="2078"/>
            <p14:sldId id="2079"/>
            <p14:sldId id="2093"/>
            <p14:sldId id="2086"/>
            <p14:sldId id="2087"/>
            <p14:sldId id="2089"/>
            <p14:sldId id="2091"/>
            <p14:sldId id="1903"/>
            <p14:sldId id="1936"/>
            <p14:sldId id="1937"/>
            <p14:sldId id="1938"/>
            <p14:sldId id="1933"/>
            <p14:sldId id="1939"/>
            <p14:sldId id="1940"/>
            <p14:sldId id="1934"/>
            <p14:sldId id="1942"/>
            <p14:sldId id="1943"/>
            <p14:sldId id="1944"/>
            <p14:sldId id="1935"/>
            <p14:sldId id="1945"/>
            <p14:sldId id="2081"/>
            <p14:sldId id="2090"/>
            <p14:sldId id="1932"/>
            <p14:sldId id="1941"/>
            <p14:sldId id="1660"/>
          </p14:sldIdLst>
        </p14:section>
        <p14:section name="知识点总结" id="{5E4A904C-BBBF-4999-91A2-6301C1C2110B}">
          <p14:sldIdLst>
            <p14:sldId id="1682"/>
          </p14:sldIdLst>
        </p14:section>
        <p14:section name="作业" id="{7ECA68DA-0164-432B-A35E-B8C96986E813}">
          <p14:sldIdLst>
            <p14:sldId id="574"/>
            <p14:sldId id="264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NGJIAN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581F"/>
    <a:srgbClr val="557F39"/>
    <a:srgbClr val="579BD0"/>
    <a:srgbClr val="AD2B26"/>
    <a:srgbClr val="49504F"/>
    <a:srgbClr val="B70006"/>
    <a:srgbClr val="FFFFE4"/>
    <a:srgbClr val="919191"/>
    <a:srgbClr val="33333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50" autoAdjust="0"/>
    <p:restoredTop sz="95306" autoAdjust="0"/>
  </p:normalViewPr>
  <p:slideViewPr>
    <p:cSldViewPr snapToGrid="0">
      <p:cViewPr varScale="1">
        <p:scale>
          <a:sx n="109" d="100"/>
          <a:sy n="109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69.xml"/><Relationship Id="rId98" Type="http://schemas.openxmlformats.org/officeDocument/2006/relationships/slide" Target="slides/slide68.xml"/><Relationship Id="rId97" Type="http://schemas.openxmlformats.org/officeDocument/2006/relationships/slide" Target="slides/slide67.xml"/><Relationship Id="rId96" Type="http://schemas.openxmlformats.org/officeDocument/2006/relationships/slide" Target="slides/slide66.xml"/><Relationship Id="rId95" Type="http://schemas.openxmlformats.org/officeDocument/2006/relationships/slide" Target="slides/slide65.xml"/><Relationship Id="rId94" Type="http://schemas.openxmlformats.org/officeDocument/2006/relationships/slide" Target="slides/slide64.xml"/><Relationship Id="rId93" Type="http://schemas.openxmlformats.org/officeDocument/2006/relationships/slide" Target="slides/slide63.xml"/><Relationship Id="rId92" Type="http://schemas.openxmlformats.org/officeDocument/2006/relationships/slide" Target="slides/slide62.xml"/><Relationship Id="rId91" Type="http://schemas.openxmlformats.org/officeDocument/2006/relationships/slide" Target="slides/slide61.xml"/><Relationship Id="rId90" Type="http://schemas.openxmlformats.org/officeDocument/2006/relationships/slide" Target="slides/slide60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59.xml"/><Relationship Id="rId88" Type="http://schemas.openxmlformats.org/officeDocument/2006/relationships/slide" Target="slides/slide58.xml"/><Relationship Id="rId87" Type="http://schemas.openxmlformats.org/officeDocument/2006/relationships/slide" Target="slides/slide57.xml"/><Relationship Id="rId86" Type="http://schemas.openxmlformats.org/officeDocument/2006/relationships/slide" Target="slides/slide56.xml"/><Relationship Id="rId85" Type="http://schemas.openxmlformats.org/officeDocument/2006/relationships/slide" Target="slides/slide55.xml"/><Relationship Id="rId84" Type="http://schemas.openxmlformats.org/officeDocument/2006/relationships/slide" Target="slides/slide54.xml"/><Relationship Id="rId83" Type="http://schemas.openxmlformats.org/officeDocument/2006/relationships/slide" Target="slides/slide53.xml"/><Relationship Id="rId82" Type="http://schemas.openxmlformats.org/officeDocument/2006/relationships/slide" Target="slides/slide52.xml"/><Relationship Id="rId81" Type="http://schemas.openxmlformats.org/officeDocument/2006/relationships/slide" Target="slides/slide51.xml"/><Relationship Id="rId80" Type="http://schemas.openxmlformats.org/officeDocument/2006/relationships/slide" Target="slides/slide50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49.xml"/><Relationship Id="rId78" Type="http://schemas.openxmlformats.org/officeDocument/2006/relationships/slide" Target="slides/slide48.xml"/><Relationship Id="rId77" Type="http://schemas.openxmlformats.org/officeDocument/2006/relationships/slide" Target="slides/slide47.xml"/><Relationship Id="rId76" Type="http://schemas.openxmlformats.org/officeDocument/2006/relationships/slide" Target="slides/slide46.xml"/><Relationship Id="rId75" Type="http://schemas.openxmlformats.org/officeDocument/2006/relationships/slide" Target="slides/slide45.xml"/><Relationship Id="rId74" Type="http://schemas.openxmlformats.org/officeDocument/2006/relationships/slide" Target="slides/slide44.xml"/><Relationship Id="rId73" Type="http://schemas.openxmlformats.org/officeDocument/2006/relationships/slide" Target="slides/slide43.xml"/><Relationship Id="rId72" Type="http://schemas.openxmlformats.org/officeDocument/2006/relationships/slide" Target="slides/slide42.xml"/><Relationship Id="rId71" Type="http://schemas.openxmlformats.org/officeDocument/2006/relationships/slide" Target="slides/slide41.xml"/><Relationship Id="rId70" Type="http://schemas.openxmlformats.org/officeDocument/2006/relationships/slide" Target="slides/slide40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39.xml"/><Relationship Id="rId68" Type="http://schemas.openxmlformats.org/officeDocument/2006/relationships/slide" Target="slides/slide38.xml"/><Relationship Id="rId67" Type="http://schemas.openxmlformats.org/officeDocument/2006/relationships/slide" Target="slides/slide37.xml"/><Relationship Id="rId66" Type="http://schemas.openxmlformats.org/officeDocument/2006/relationships/slide" Target="slides/slide36.xml"/><Relationship Id="rId65" Type="http://schemas.openxmlformats.org/officeDocument/2006/relationships/slide" Target="slides/slide35.xml"/><Relationship Id="rId64" Type="http://schemas.openxmlformats.org/officeDocument/2006/relationships/slide" Target="slides/slide34.xml"/><Relationship Id="rId63" Type="http://schemas.openxmlformats.org/officeDocument/2006/relationships/slide" Target="slides/slide33.xml"/><Relationship Id="rId62" Type="http://schemas.openxmlformats.org/officeDocument/2006/relationships/slide" Target="slides/slide32.xml"/><Relationship Id="rId61" Type="http://schemas.openxmlformats.org/officeDocument/2006/relationships/slide" Target="slides/slide31.xml"/><Relationship Id="rId60" Type="http://schemas.openxmlformats.org/officeDocument/2006/relationships/slide" Target="slides/slide30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29.xml"/><Relationship Id="rId58" Type="http://schemas.openxmlformats.org/officeDocument/2006/relationships/slide" Target="slides/slide28.xml"/><Relationship Id="rId57" Type="http://schemas.openxmlformats.org/officeDocument/2006/relationships/slide" Target="slides/slide27.xml"/><Relationship Id="rId56" Type="http://schemas.openxmlformats.org/officeDocument/2006/relationships/slide" Target="slides/slide26.xml"/><Relationship Id="rId55" Type="http://schemas.openxmlformats.org/officeDocument/2006/relationships/slide" Target="slides/slide25.xml"/><Relationship Id="rId54" Type="http://schemas.openxmlformats.org/officeDocument/2006/relationships/slide" Target="slides/slide24.xml"/><Relationship Id="rId53" Type="http://schemas.openxmlformats.org/officeDocument/2006/relationships/slide" Target="slides/slide23.xml"/><Relationship Id="rId52" Type="http://schemas.openxmlformats.org/officeDocument/2006/relationships/slide" Target="slides/slide22.xml"/><Relationship Id="rId51" Type="http://schemas.openxmlformats.org/officeDocument/2006/relationships/slide" Target="slides/slide21.xml"/><Relationship Id="rId50" Type="http://schemas.openxmlformats.org/officeDocument/2006/relationships/slide" Target="slides/slide20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19.xml"/><Relationship Id="rId48" Type="http://schemas.openxmlformats.org/officeDocument/2006/relationships/slide" Target="slides/slide18.xml"/><Relationship Id="rId47" Type="http://schemas.openxmlformats.org/officeDocument/2006/relationships/slide" Target="slides/slide17.xml"/><Relationship Id="rId46" Type="http://schemas.openxmlformats.org/officeDocument/2006/relationships/slide" Target="slides/slide16.xml"/><Relationship Id="rId45" Type="http://schemas.openxmlformats.org/officeDocument/2006/relationships/slide" Target="slides/slide15.xml"/><Relationship Id="rId44" Type="http://schemas.openxmlformats.org/officeDocument/2006/relationships/slide" Target="slides/slide14.xml"/><Relationship Id="rId43" Type="http://schemas.openxmlformats.org/officeDocument/2006/relationships/slide" Target="slides/slide13.xml"/><Relationship Id="rId42" Type="http://schemas.openxmlformats.org/officeDocument/2006/relationships/slide" Target="slides/slide12.xml"/><Relationship Id="rId41" Type="http://schemas.openxmlformats.org/officeDocument/2006/relationships/slide" Target="slides/slide11.xml"/><Relationship Id="rId40" Type="http://schemas.openxmlformats.org/officeDocument/2006/relationships/slide" Target="slides/slide10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9.xml"/><Relationship Id="rId38" Type="http://schemas.openxmlformats.org/officeDocument/2006/relationships/slide" Target="slides/slide8.xml"/><Relationship Id="rId37" Type="http://schemas.openxmlformats.org/officeDocument/2006/relationships/slide" Target="slides/slide7.xml"/><Relationship Id="rId36" Type="http://schemas.openxmlformats.org/officeDocument/2006/relationships/slide" Target="slides/slide6.xml"/><Relationship Id="rId35" Type="http://schemas.openxmlformats.org/officeDocument/2006/relationships/slide" Target="slides/slide5.xml"/><Relationship Id="rId34" Type="http://schemas.openxmlformats.org/officeDocument/2006/relationships/notesMaster" Target="notesMasters/notesMaster1.xml"/><Relationship Id="rId33" Type="http://schemas.openxmlformats.org/officeDocument/2006/relationships/slide" Target="slides/slide4.xml"/><Relationship Id="rId32" Type="http://schemas.openxmlformats.org/officeDocument/2006/relationships/slide" Target="slides/slide3.xml"/><Relationship Id="rId31" Type="http://schemas.openxmlformats.org/officeDocument/2006/relationships/slide" Target="slides/slide2.xml"/><Relationship Id="rId30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1" Type="http://schemas.openxmlformats.org/officeDocument/2006/relationships/commentAuthors" Target="commentAuthors.xml"/><Relationship Id="rId190" Type="http://schemas.openxmlformats.org/officeDocument/2006/relationships/tableStyles" Target="tableStyles.xml"/><Relationship Id="rId19" Type="http://schemas.openxmlformats.org/officeDocument/2006/relationships/slideMaster" Target="slideMasters/slideMaster18.xml"/><Relationship Id="rId189" Type="http://schemas.openxmlformats.org/officeDocument/2006/relationships/viewProps" Target="viewProps.xml"/><Relationship Id="rId188" Type="http://schemas.openxmlformats.org/officeDocument/2006/relationships/presProps" Target="presProps.xml"/><Relationship Id="rId187" Type="http://schemas.openxmlformats.org/officeDocument/2006/relationships/handoutMaster" Target="handoutMasters/handoutMaster1.xml"/><Relationship Id="rId186" Type="http://schemas.openxmlformats.org/officeDocument/2006/relationships/slide" Target="slides/slide156.xml"/><Relationship Id="rId185" Type="http://schemas.openxmlformats.org/officeDocument/2006/relationships/slide" Target="slides/slide155.xml"/><Relationship Id="rId184" Type="http://schemas.openxmlformats.org/officeDocument/2006/relationships/slide" Target="slides/slide154.xml"/><Relationship Id="rId183" Type="http://schemas.openxmlformats.org/officeDocument/2006/relationships/slide" Target="slides/slide153.xml"/><Relationship Id="rId182" Type="http://schemas.openxmlformats.org/officeDocument/2006/relationships/slide" Target="slides/slide152.xml"/><Relationship Id="rId181" Type="http://schemas.openxmlformats.org/officeDocument/2006/relationships/slide" Target="slides/slide151.xml"/><Relationship Id="rId180" Type="http://schemas.openxmlformats.org/officeDocument/2006/relationships/slide" Target="slides/slide150.xml"/><Relationship Id="rId18" Type="http://schemas.openxmlformats.org/officeDocument/2006/relationships/slideMaster" Target="slideMasters/slideMaster17.xml"/><Relationship Id="rId179" Type="http://schemas.openxmlformats.org/officeDocument/2006/relationships/slide" Target="slides/slide149.xml"/><Relationship Id="rId178" Type="http://schemas.openxmlformats.org/officeDocument/2006/relationships/slide" Target="slides/slide148.xml"/><Relationship Id="rId177" Type="http://schemas.openxmlformats.org/officeDocument/2006/relationships/slide" Target="slides/slide147.xml"/><Relationship Id="rId176" Type="http://schemas.openxmlformats.org/officeDocument/2006/relationships/slide" Target="slides/slide146.xml"/><Relationship Id="rId175" Type="http://schemas.openxmlformats.org/officeDocument/2006/relationships/slide" Target="slides/slide145.xml"/><Relationship Id="rId174" Type="http://schemas.openxmlformats.org/officeDocument/2006/relationships/slide" Target="slides/slide144.xml"/><Relationship Id="rId173" Type="http://schemas.openxmlformats.org/officeDocument/2006/relationships/slide" Target="slides/slide143.xml"/><Relationship Id="rId172" Type="http://schemas.openxmlformats.org/officeDocument/2006/relationships/slide" Target="slides/slide142.xml"/><Relationship Id="rId171" Type="http://schemas.openxmlformats.org/officeDocument/2006/relationships/slide" Target="slides/slide141.xml"/><Relationship Id="rId170" Type="http://schemas.openxmlformats.org/officeDocument/2006/relationships/slide" Target="slides/slide140.xml"/><Relationship Id="rId17" Type="http://schemas.openxmlformats.org/officeDocument/2006/relationships/slideMaster" Target="slideMasters/slideMaster16.xml"/><Relationship Id="rId169" Type="http://schemas.openxmlformats.org/officeDocument/2006/relationships/slide" Target="slides/slide139.xml"/><Relationship Id="rId168" Type="http://schemas.openxmlformats.org/officeDocument/2006/relationships/slide" Target="slides/slide138.xml"/><Relationship Id="rId167" Type="http://schemas.openxmlformats.org/officeDocument/2006/relationships/slide" Target="slides/slide137.xml"/><Relationship Id="rId166" Type="http://schemas.openxmlformats.org/officeDocument/2006/relationships/slide" Target="slides/slide136.xml"/><Relationship Id="rId165" Type="http://schemas.openxmlformats.org/officeDocument/2006/relationships/slide" Target="slides/slide135.xml"/><Relationship Id="rId164" Type="http://schemas.openxmlformats.org/officeDocument/2006/relationships/slide" Target="slides/slide134.xml"/><Relationship Id="rId163" Type="http://schemas.openxmlformats.org/officeDocument/2006/relationships/slide" Target="slides/slide133.xml"/><Relationship Id="rId162" Type="http://schemas.openxmlformats.org/officeDocument/2006/relationships/slide" Target="slides/slide132.xml"/><Relationship Id="rId161" Type="http://schemas.openxmlformats.org/officeDocument/2006/relationships/slide" Target="slides/slide131.xml"/><Relationship Id="rId160" Type="http://schemas.openxmlformats.org/officeDocument/2006/relationships/slide" Target="slides/slide130.xml"/><Relationship Id="rId16" Type="http://schemas.openxmlformats.org/officeDocument/2006/relationships/slideMaster" Target="slideMasters/slideMaster15.xml"/><Relationship Id="rId159" Type="http://schemas.openxmlformats.org/officeDocument/2006/relationships/slide" Target="slides/slide129.xml"/><Relationship Id="rId158" Type="http://schemas.openxmlformats.org/officeDocument/2006/relationships/slide" Target="slides/slide128.xml"/><Relationship Id="rId157" Type="http://schemas.openxmlformats.org/officeDocument/2006/relationships/slide" Target="slides/slide127.xml"/><Relationship Id="rId156" Type="http://schemas.openxmlformats.org/officeDocument/2006/relationships/slide" Target="slides/slide126.xml"/><Relationship Id="rId155" Type="http://schemas.openxmlformats.org/officeDocument/2006/relationships/slide" Target="slides/slide125.xml"/><Relationship Id="rId154" Type="http://schemas.openxmlformats.org/officeDocument/2006/relationships/slide" Target="slides/slide124.xml"/><Relationship Id="rId153" Type="http://schemas.openxmlformats.org/officeDocument/2006/relationships/slide" Target="slides/slide123.xml"/><Relationship Id="rId152" Type="http://schemas.openxmlformats.org/officeDocument/2006/relationships/slide" Target="slides/slide122.xml"/><Relationship Id="rId151" Type="http://schemas.openxmlformats.org/officeDocument/2006/relationships/slide" Target="slides/slide121.xml"/><Relationship Id="rId150" Type="http://schemas.openxmlformats.org/officeDocument/2006/relationships/slide" Target="slides/slide120.xml"/><Relationship Id="rId15" Type="http://schemas.openxmlformats.org/officeDocument/2006/relationships/slideMaster" Target="slideMasters/slideMaster14.xml"/><Relationship Id="rId149" Type="http://schemas.openxmlformats.org/officeDocument/2006/relationships/slide" Target="slides/slide119.xml"/><Relationship Id="rId148" Type="http://schemas.openxmlformats.org/officeDocument/2006/relationships/slide" Target="slides/slide118.xml"/><Relationship Id="rId147" Type="http://schemas.openxmlformats.org/officeDocument/2006/relationships/slide" Target="slides/slide117.xml"/><Relationship Id="rId146" Type="http://schemas.openxmlformats.org/officeDocument/2006/relationships/slide" Target="slides/slide116.xml"/><Relationship Id="rId145" Type="http://schemas.openxmlformats.org/officeDocument/2006/relationships/slide" Target="slides/slide115.xml"/><Relationship Id="rId144" Type="http://schemas.openxmlformats.org/officeDocument/2006/relationships/slide" Target="slides/slide114.xml"/><Relationship Id="rId143" Type="http://schemas.openxmlformats.org/officeDocument/2006/relationships/slide" Target="slides/slide113.xml"/><Relationship Id="rId142" Type="http://schemas.openxmlformats.org/officeDocument/2006/relationships/slide" Target="slides/slide112.xml"/><Relationship Id="rId141" Type="http://schemas.openxmlformats.org/officeDocument/2006/relationships/slide" Target="slides/slide111.xml"/><Relationship Id="rId140" Type="http://schemas.openxmlformats.org/officeDocument/2006/relationships/slide" Target="slides/slide110.xml"/><Relationship Id="rId14" Type="http://schemas.openxmlformats.org/officeDocument/2006/relationships/slideMaster" Target="slideMasters/slideMaster13.xml"/><Relationship Id="rId139" Type="http://schemas.openxmlformats.org/officeDocument/2006/relationships/slide" Target="slides/slide109.xml"/><Relationship Id="rId138" Type="http://schemas.openxmlformats.org/officeDocument/2006/relationships/slide" Target="slides/slide108.xml"/><Relationship Id="rId137" Type="http://schemas.openxmlformats.org/officeDocument/2006/relationships/slide" Target="slides/slide107.xml"/><Relationship Id="rId136" Type="http://schemas.openxmlformats.org/officeDocument/2006/relationships/slide" Target="slides/slide106.xml"/><Relationship Id="rId135" Type="http://schemas.openxmlformats.org/officeDocument/2006/relationships/slide" Target="slides/slide105.xml"/><Relationship Id="rId134" Type="http://schemas.openxmlformats.org/officeDocument/2006/relationships/slide" Target="slides/slide104.xml"/><Relationship Id="rId133" Type="http://schemas.openxmlformats.org/officeDocument/2006/relationships/slide" Target="slides/slide103.xml"/><Relationship Id="rId132" Type="http://schemas.openxmlformats.org/officeDocument/2006/relationships/slide" Target="slides/slide102.xml"/><Relationship Id="rId131" Type="http://schemas.openxmlformats.org/officeDocument/2006/relationships/slide" Target="slides/slide101.xml"/><Relationship Id="rId130" Type="http://schemas.openxmlformats.org/officeDocument/2006/relationships/slide" Target="slides/slide100.xml"/><Relationship Id="rId13" Type="http://schemas.openxmlformats.org/officeDocument/2006/relationships/slideMaster" Target="slideMasters/slideMaster12.xml"/><Relationship Id="rId129" Type="http://schemas.openxmlformats.org/officeDocument/2006/relationships/slide" Target="slides/slide99.xml"/><Relationship Id="rId128" Type="http://schemas.openxmlformats.org/officeDocument/2006/relationships/slide" Target="slides/slide98.xml"/><Relationship Id="rId127" Type="http://schemas.openxmlformats.org/officeDocument/2006/relationships/slide" Target="slides/slide97.xml"/><Relationship Id="rId126" Type="http://schemas.openxmlformats.org/officeDocument/2006/relationships/slide" Target="slides/slide96.xml"/><Relationship Id="rId125" Type="http://schemas.openxmlformats.org/officeDocument/2006/relationships/slide" Target="slides/slide95.xml"/><Relationship Id="rId124" Type="http://schemas.openxmlformats.org/officeDocument/2006/relationships/slide" Target="slides/slide94.xml"/><Relationship Id="rId123" Type="http://schemas.openxmlformats.org/officeDocument/2006/relationships/slide" Target="slides/slide93.xml"/><Relationship Id="rId122" Type="http://schemas.openxmlformats.org/officeDocument/2006/relationships/slide" Target="slides/slide92.xml"/><Relationship Id="rId121" Type="http://schemas.openxmlformats.org/officeDocument/2006/relationships/slide" Target="slides/slide91.xml"/><Relationship Id="rId120" Type="http://schemas.openxmlformats.org/officeDocument/2006/relationships/slide" Target="slides/slide90.xml"/><Relationship Id="rId12" Type="http://schemas.openxmlformats.org/officeDocument/2006/relationships/slideMaster" Target="slideMasters/slideMaster11.xml"/><Relationship Id="rId119" Type="http://schemas.openxmlformats.org/officeDocument/2006/relationships/slide" Target="slides/slide89.xml"/><Relationship Id="rId118" Type="http://schemas.openxmlformats.org/officeDocument/2006/relationships/slide" Target="slides/slide88.xml"/><Relationship Id="rId117" Type="http://schemas.openxmlformats.org/officeDocument/2006/relationships/slide" Target="slides/slide87.xml"/><Relationship Id="rId116" Type="http://schemas.openxmlformats.org/officeDocument/2006/relationships/slide" Target="slides/slide86.xml"/><Relationship Id="rId115" Type="http://schemas.openxmlformats.org/officeDocument/2006/relationships/slide" Target="slides/slide85.xml"/><Relationship Id="rId114" Type="http://schemas.openxmlformats.org/officeDocument/2006/relationships/slide" Target="slides/slide84.xml"/><Relationship Id="rId113" Type="http://schemas.openxmlformats.org/officeDocument/2006/relationships/slide" Target="slides/slide83.xml"/><Relationship Id="rId112" Type="http://schemas.openxmlformats.org/officeDocument/2006/relationships/slide" Target="slides/slide82.xml"/><Relationship Id="rId111" Type="http://schemas.openxmlformats.org/officeDocument/2006/relationships/slide" Target="slides/slide81.xml"/><Relationship Id="rId110" Type="http://schemas.openxmlformats.org/officeDocument/2006/relationships/slide" Target="slides/slide80.xml"/><Relationship Id="rId11" Type="http://schemas.openxmlformats.org/officeDocument/2006/relationships/slideMaster" Target="slideMasters/slideMaster10.xml"/><Relationship Id="rId109" Type="http://schemas.openxmlformats.org/officeDocument/2006/relationships/slide" Target="slides/slide79.xml"/><Relationship Id="rId108" Type="http://schemas.openxmlformats.org/officeDocument/2006/relationships/slide" Target="slides/slide78.xml"/><Relationship Id="rId107" Type="http://schemas.openxmlformats.org/officeDocument/2006/relationships/slide" Target="slides/slide77.xml"/><Relationship Id="rId106" Type="http://schemas.openxmlformats.org/officeDocument/2006/relationships/slide" Target="slides/slide76.xml"/><Relationship Id="rId105" Type="http://schemas.openxmlformats.org/officeDocument/2006/relationships/slide" Target="slides/slide75.xml"/><Relationship Id="rId104" Type="http://schemas.openxmlformats.org/officeDocument/2006/relationships/slide" Target="slides/slide74.xml"/><Relationship Id="rId103" Type="http://schemas.openxmlformats.org/officeDocument/2006/relationships/slide" Target="slides/slide73.xml"/><Relationship Id="rId102" Type="http://schemas.openxmlformats.org/officeDocument/2006/relationships/slide" Target="slides/slide72.xml"/><Relationship Id="rId101" Type="http://schemas.openxmlformats.org/officeDocument/2006/relationships/slide" Target="slides/slide71.xml"/><Relationship Id="rId100" Type="http://schemas.openxmlformats.org/officeDocument/2006/relationships/slide" Target="slides/slide7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4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5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6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6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7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7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8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8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9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9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0.xml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0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1.xml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1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2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2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3.xml"/></Relationships>
</file>

<file path=ppt/slideLayouts/_rels/slideLayout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3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4.xml"/></Relationships>
</file>

<file path=ppt/slideLayouts/_rels/slideLayout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4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5.xml"/></Relationships>
</file>

<file path=ppt/slideLayouts/_rels/slideLayout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5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6.xml"/></Relationships>
</file>

<file path=ppt/slideLayouts/_rels/slideLayout2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6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7.xml"/></Relationships>
</file>

<file path=ppt/slideLayouts/_rels/slideLayout2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7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8.xml"/></Relationships>
</file>

<file path=ppt/slideLayouts/_rels/slideLayout2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8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6" Type="http://schemas.openxmlformats.org/officeDocument/2006/relationships/theme" Target="../theme/theme6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2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3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6" Type="http://schemas.openxmlformats.org/officeDocument/2006/relationships/theme" Target="../theme/theme10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9.xml"/><Relationship Id="rId16" Type="http://schemas.openxmlformats.org/officeDocument/2006/relationships/theme" Target="../theme/theme11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38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0.xml"/><Relationship Id="rId8" Type="http://schemas.openxmlformats.org/officeDocument/2006/relationships/slideLayout" Target="../slideLayouts/slideLayout59.xml"/><Relationship Id="rId7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3.xml"/><Relationship Id="rId18" Type="http://schemas.openxmlformats.org/officeDocument/2006/relationships/theme" Target="../theme/theme12.xml"/><Relationship Id="rId17" Type="http://schemas.openxmlformats.org/officeDocument/2006/relationships/image" Target="../media/image4.png"/><Relationship Id="rId16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1.xml"/><Relationship Id="rId1" Type="http://schemas.openxmlformats.org/officeDocument/2006/relationships/slideLayout" Target="../slideLayouts/slideLayout5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2.xml"/><Relationship Id="rId4" Type="http://schemas.openxmlformats.org/officeDocument/2006/relationships/slideLayout" Target="../slideLayouts/slideLayout71.xml"/><Relationship Id="rId3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9.xml"/><Relationship Id="rId18" Type="http://schemas.openxmlformats.org/officeDocument/2006/relationships/theme" Target="../theme/theme13.xml"/><Relationship Id="rId17" Type="http://schemas.openxmlformats.org/officeDocument/2006/relationships/image" Target="../media/image4.png"/><Relationship Id="rId16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7.xml"/><Relationship Id="rId1" Type="http://schemas.openxmlformats.org/officeDocument/2006/relationships/slideLayout" Target="../slideLayouts/slideLayout68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2.xml"/><Relationship Id="rId8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0.xml"/><Relationship Id="rId6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6.xml"/><Relationship Id="rId2" Type="http://schemas.openxmlformats.org/officeDocument/2006/relationships/slideLayout" Target="../slideLayouts/slideLayout85.xml"/><Relationship Id="rId16" Type="http://schemas.openxmlformats.org/officeDocument/2006/relationships/theme" Target="../theme/theme14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3.xml"/><Relationship Id="rId1" Type="http://schemas.openxmlformats.org/officeDocument/2006/relationships/slideLayout" Target="../slideLayouts/slideLayout84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6.xml"/><Relationship Id="rId8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104.xml"/><Relationship Id="rId6" Type="http://schemas.openxmlformats.org/officeDocument/2006/relationships/slideLayout" Target="../slideLayouts/slideLayout103.xml"/><Relationship Id="rId5" Type="http://schemas.openxmlformats.org/officeDocument/2006/relationships/slideLayout" Target="../slideLayouts/slideLayout102.xml"/><Relationship Id="rId4" Type="http://schemas.openxmlformats.org/officeDocument/2006/relationships/slideLayout" Target="../slideLayouts/slideLayout101.xml"/><Relationship Id="rId3" Type="http://schemas.openxmlformats.org/officeDocument/2006/relationships/slideLayout" Target="../slideLayouts/slideLayout100.xml"/><Relationship Id="rId2" Type="http://schemas.openxmlformats.org/officeDocument/2006/relationships/slideLayout" Target="../slideLayouts/slideLayout99.xml"/><Relationship Id="rId16" Type="http://schemas.openxmlformats.org/officeDocument/2006/relationships/theme" Target="../theme/theme15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111.xml"/><Relationship Id="rId13" Type="http://schemas.openxmlformats.org/officeDocument/2006/relationships/slideLayout" Target="../slideLayouts/slideLayout110.xml"/><Relationship Id="rId12" Type="http://schemas.openxmlformats.org/officeDocument/2006/relationships/slideLayout" Target="../slideLayouts/slideLayout109.xml"/><Relationship Id="rId11" Type="http://schemas.openxmlformats.org/officeDocument/2006/relationships/slideLayout" Target="../slideLayouts/slideLayout108.xml"/><Relationship Id="rId10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98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0.xml"/><Relationship Id="rId8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13.xml"/><Relationship Id="rId16" Type="http://schemas.openxmlformats.org/officeDocument/2006/relationships/theme" Target="../theme/theme16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125.xml"/><Relationship Id="rId13" Type="http://schemas.openxmlformats.org/officeDocument/2006/relationships/slideLayout" Target="../slideLayouts/slideLayout124.xml"/><Relationship Id="rId12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1.xml"/><Relationship Id="rId1" Type="http://schemas.openxmlformats.org/officeDocument/2006/relationships/slideLayout" Target="../slideLayouts/slideLayout112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4.xml"/><Relationship Id="rId8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132.xml"/><Relationship Id="rId6" Type="http://schemas.openxmlformats.org/officeDocument/2006/relationships/slideLayout" Target="../slideLayouts/slideLayout131.xml"/><Relationship Id="rId5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28.xml"/><Relationship Id="rId2" Type="http://schemas.openxmlformats.org/officeDocument/2006/relationships/slideLayout" Target="../slideLayouts/slideLayout127.xml"/><Relationship Id="rId16" Type="http://schemas.openxmlformats.org/officeDocument/2006/relationships/theme" Target="../theme/theme17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139.xml"/><Relationship Id="rId13" Type="http://schemas.openxmlformats.org/officeDocument/2006/relationships/slideLayout" Target="../slideLayouts/slideLayout138.xml"/><Relationship Id="rId12" Type="http://schemas.openxmlformats.org/officeDocument/2006/relationships/slideLayout" Target="../slideLayouts/slideLayout137.xml"/><Relationship Id="rId11" Type="http://schemas.openxmlformats.org/officeDocument/2006/relationships/slideLayout" Target="../slideLayouts/slideLayout136.xml"/><Relationship Id="rId10" Type="http://schemas.openxmlformats.org/officeDocument/2006/relationships/slideLayout" Target="../slideLayouts/slideLayout135.xml"/><Relationship Id="rId1" Type="http://schemas.openxmlformats.org/officeDocument/2006/relationships/slideLayout" Target="../slideLayouts/slideLayout126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8.xml"/><Relationship Id="rId8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46.xml"/><Relationship Id="rId6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144.xml"/><Relationship Id="rId4" Type="http://schemas.openxmlformats.org/officeDocument/2006/relationships/slideLayout" Target="../slideLayouts/slideLayout143.xml"/><Relationship Id="rId3" Type="http://schemas.openxmlformats.org/officeDocument/2006/relationships/slideLayout" Target="../slideLayouts/slideLayout142.xml"/><Relationship Id="rId2" Type="http://schemas.openxmlformats.org/officeDocument/2006/relationships/slideLayout" Target="../slideLayouts/slideLayout141.xml"/><Relationship Id="rId16" Type="http://schemas.openxmlformats.org/officeDocument/2006/relationships/theme" Target="../theme/theme18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153.xml"/><Relationship Id="rId13" Type="http://schemas.openxmlformats.org/officeDocument/2006/relationships/slideLayout" Target="../slideLayouts/slideLayout152.xml"/><Relationship Id="rId12" Type="http://schemas.openxmlformats.org/officeDocument/2006/relationships/slideLayout" Target="../slideLayouts/slideLayout151.xml"/><Relationship Id="rId11" Type="http://schemas.openxmlformats.org/officeDocument/2006/relationships/slideLayout" Target="../slideLayouts/slideLayout150.xml"/><Relationship Id="rId10" Type="http://schemas.openxmlformats.org/officeDocument/2006/relationships/slideLayout" Target="../slideLayouts/slideLayout149.xml"/><Relationship Id="rId1" Type="http://schemas.openxmlformats.org/officeDocument/2006/relationships/slideLayout" Target="../slideLayouts/slideLayout140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59.xml"/><Relationship Id="rId5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6.xml"/><Relationship Id="rId2" Type="http://schemas.openxmlformats.org/officeDocument/2006/relationships/slideLayout" Target="../slideLayouts/slideLayout155.xml"/><Relationship Id="rId16" Type="http://schemas.openxmlformats.org/officeDocument/2006/relationships/theme" Target="../theme/theme19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167.xml"/><Relationship Id="rId13" Type="http://schemas.openxmlformats.org/officeDocument/2006/relationships/slideLayout" Target="../slideLayouts/slideLayout166.xml"/><Relationship Id="rId12" Type="http://schemas.openxmlformats.org/officeDocument/2006/relationships/slideLayout" Target="../slideLayouts/slideLayout165.xml"/><Relationship Id="rId11" Type="http://schemas.openxmlformats.org/officeDocument/2006/relationships/slideLayout" Target="../slideLayouts/slideLayout164.xml"/><Relationship Id="rId10" Type="http://schemas.openxmlformats.org/officeDocument/2006/relationships/slideLayout" Target="../slideLayouts/slideLayout163.xml"/><Relationship Id="rId1" Type="http://schemas.openxmlformats.org/officeDocument/2006/relationships/slideLayout" Target="../slideLayouts/slideLayout154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6.xml"/><Relationship Id="rId8" Type="http://schemas.openxmlformats.org/officeDocument/2006/relationships/slideLayout" Target="../slideLayouts/slideLayout175.xml"/><Relationship Id="rId7" Type="http://schemas.openxmlformats.org/officeDocument/2006/relationships/slideLayout" Target="../slideLayouts/slideLayout174.xml"/><Relationship Id="rId6" Type="http://schemas.openxmlformats.org/officeDocument/2006/relationships/slideLayout" Target="../slideLayouts/slideLayout173.xml"/><Relationship Id="rId5" Type="http://schemas.openxmlformats.org/officeDocument/2006/relationships/slideLayout" Target="../slideLayouts/slideLayout172.xml"/><Relationship Id="rId4" Type="http://schemas.openxmlformats.org/officeDocument/2006/relationships/slideLayout" Target="../slideLayouts/slideLayout171.xml"/><Relationship Id="rId3" Type="http://schemas.openxmlformats.org/officeDocument/2006/relationships/slideLayout" Target="../slideLayouts/slideLayout170.xml"/><Relationship Id="rId2" Type="http://schemas.openxmlformats.org/officeDocument/2006/relationships/slideLayout" Target="../slideLayouts/slideLayout169.xml"/><Relationship Id="rId16" Type="http://schemas.openxmlformats.org/officeDocument/2006/relationships/theme" Target="../theme/theme20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181.xml"/><Relationship Id="rId13" Type="http://schemas.openxmlformats.org/officeDocument/2006/relationships/slideLayout" Target="../slideLayouts/slideLayout180.xml"/><Relationship Id="rId12" Type="http://schemas.openxmlformats.org/officeDocument/2006/relationships/slideLayout" Target="../slideLayouts/slideLayout179.xml"/><Relationship Id="rId11" Type="http://schemas.openxmlformats.org/officeDocument/2006/relationships/slideLayout" Target="../slideLayouts/slideLayout178.xml"/><Relationship Id="rId10" Type="http://schemas.openxmlformats.org/officeDocument/2006/relationships/slideLayout" Target="../slideLayouts/slideLayout177.xml"/><Relationship Id="rId1" Type="http://schemas.openxmlformats.org/officeDocument/2006/relationships/slideLayout" Target="../slideLayouts/slideLayout168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0.xml"/><Relationship Id="rId8" Type="http://schemas.openxmlformats.org/officeDocument/2006/relationships/slideLayout" Target="../slideLayouts/slideLayout189.xml"/><Relationship Id="rId7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87.xml"/><Relationship Id="rId5" Type="http://schemas.openxmlformats.org/officeDocument/2006/relationships/slideLayout" Target="../slideLayouts/slideLayout186.xml"/><Relationship Id="rId4" Type="http://schemas.openxmlformats.org/officeDocument/2006/relationships/slideLayout" Target="../slideLayouts/slideLayout185.xml"/><Relationship Id="rId3" Type="http://schemas.openxmlformats.org/officeDocument/2006/relationships/slideLayout" Target="../slideLayouts/slideLayout184.xml"/><Relationship Id="rId2" Type="http://schemas.openxmlformats.org/officeDocument/2006/relationships/slideLayout" Target="../slideLayouts/slideLayout183.xml"/><Relationship Id="rId16" Type="http://schemas.openxmlformats.org/officeDocument/2006/relationships/theme" Target="../theme/theme21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195.xml"/><Relationship Id="rId13" Type="http://schemas.openxmlformats.org/officeDocument/2006/relationships/slideLayout" Target="../slideLayouts/slideLayout194.xml"/><Relationship Id="rId12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2.xml"/><Relationship Id="rId10" Type="http://schemas.openxmlformats.org/officeDocument/2006/relationships/slideLayout" Target="../slideLayouts/slideLayout191.xml"/><Relationship Id="rId1" Type="http://schemas.openxmlformats.org/officeDocument/2006/relationships/slideLayout" Target="../slideLayouts/slideLayout182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4.xml"/><Relationship Id="rId8" Type="http://schemas.openxmlformats.org/officeDocument/2006/relationships/slideLayout" Target="../slideLayouts/slideLayout203.xml"/><Relationship Id="rId7" Type="http://schemas.openxmlformats.org/officeDocument/2006/relationships/slideLayout" Target="../slideLayouts/slideLayout202.xml"/><Relationship Id="rId6" Type="http://schemas.openxmlformats.org/officeDocument/2006/relationships/slideLayout" Target="../slideLayouts/slideLayout201.xml"/><Relationship Id="rId5" Type="http://schemas.openxmlformats.org/officeDocument/2006/relationships/slideLayout" Target="../slideLayouts/slideLayout200.xml"/><Relationship Id="rId4" Type="http://schemas.openxmlformats.org/officeDocument/2006/relationships/slideLayout" Target="../slideLayouts/slideLayout199.xml"/><Relationship Id="rId3" Type="http://schemas.openxmlformats.org/officeDocument/2006/relationships/slideLayout" Target="../slideLayouts/slideLayout198.xml"/><Relationship Id="rId2" Type="http://schemas.openxmlformats.org/officeDocument/2006/relationships/slideLayout" Target="../slideLayouts/slideLayout197.xml"/><Relationship Id="rId16" Type="http://schemas.openxmlformats.org/officeDocument/2006/relationships/theme" Target="../theme/theme22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209.xml"/><Relationship Id="rId13" Type="http://schemas.openxmlformats.org/officeDocument/2006/relationships/slideLayout" Target="../slideLayouts/slideLayout208.xml"/><Relationship Id="rId12" Type="http://schemas.openxmlformats.org/officeDocument/2006/relationships/slideLayout" Target="../slideLayouts/slideLayout207.xml"/><Relationship Id="rId11" Type="http://schemas.openxmlformats.org/officeDocument/2006/relationships/slideLayout" Target="../slideLayouts/slideLayout206.xml"/><Relationship Id="rId10" Type="http://schemas.openxmlformats.org/officeDocument/2006/relationships/slideLayout" Target="../slideLayouts/slideLayout205.xml"/><Relationship Id="rId1" Type="http://schemas.openxmlformats.org/officeDocument/2006/relationships/slideLayout" Target="../slideLayouts/slideLayout196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8.xml"/><Relationship Id="rId8" Type="http://schemas.openxmlformats.org/officeDocument/2006/relationships/slideLayout" Target="../slideLayouts/slideLayout217.xml"/><Relationship Id="rId7" Type="http://schemas.openxmlformats.org/officeDocument/2006/relationships/slideLayout" Target="../slideLayouts/slideLayout216.xml"/><Relationship Id="rId6" Type="http://schemas.openxmlformats.org/officeDocument/2006/relationships/slideLayout" Target="../slideLayouts/slideLayout215.xml"/><Relationship Id="rId5" Type="http://schemas.openxmlformats.org/officeDocument/2006/relationships/slideLayout" Target="../slideLayouts/slideLayout214.xml"/><Relationship Id="rId4" Type="http://schemas.openxmlformats.org/officeDocument/2006/relationships/slideLayout" Target="../slideLayouts/slideLayout213.xml"/><Relationship Id="rId3" Type="http://schemas.openxmlformats.org/officeDocument/2006/relationships/slideLayout" Target="../slideLayouts/slideLayout212.xml"/><Relationship Id="rId2" Type="http://schemas.openxmlformats.org/officeDocument/2006/relationships/slideLayout" Target="../slideLayouts/slideLayout211.xml"/><Relationship Id="rId16" Type="http://schemas.openxmlformats.org/officeDocument/2006/relationships/theme" Target="../theme/theme23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223.xml"/><Relationship Id="rId13" Type="http://schemas.openxmlformats.org/officeDocument/2006/relationships/slideLayout" Target="../slideLayouts/slideLayout222.xml"/><Relationship Id="rId12" Type="http://schemas.openxmlformats.org/officeDocument/2006/relationships/slideLayout" Target="../slideLayouts/slideLayout221.xml"/><Relationship Id="rId11" Type="http://schemas.openxmlformats.org/officeDocument/2006/relationships/slideLayout" Target="../slideLayouts/slideLayout220.xml"/><Relationship Id="rId10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210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2.xml"/><Relationship Id="rId8" Type="http://schemas.openxmlformats.org/officeDocument/2006/relationships/slideLayout" Target="../slideLayouts/slideLayout231.xml"/><Relationship Id="rId7" Type="http://schemas.openxmlformats.org/officeDocument/2006/relationships/slideLayout" Target="../slideLayouts/slideLayout230.xml"/><Relationship Id="rId6" Type="http://schemas.openxmlformats.org/officeDocument/2006/relationships/slideLayout" Target="../slideLayouts/slideLayout229.xml"/><Relationship Id="rId5" Type="http://schemas.openxmlformats.org/officeDocument/2006/relationships/slideLayout" Target="../slideLayouts/slideLayout228.xml"/><Relationship Id="rId4" Type="http://schemas.openxmlformats.org/officeDocument/2006/relationships/slideLayout" Target="../slideLayouts/slideLayout227.xml"/><Relationship Id="rId3" Type="http://schemas.openxmlformats.org/officeDocument/2006/relationships/slideLayout" Target="../slideLayouts/slideLayout226.xml"/><Relationship Id="rId2" Type="http://schemas.openxmlformats.org/officeDocument/2006/relationships/slideLayout" Target="../slideLayouts/slideLayout225.xml"/><Relationship Id="rId16" Type="http://schemas.openxmlformats.org/officeDocument/2006/relationships/theme" Target="../theme/theme24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237.xml"/><Relationship Id="rId13" Type="http://schemas.openxmlformats.org/officeDocument/2006/relationships/slideLayout" Target="../slideLayouts/slideLayout236.xml"/><Relationship Id="rId12" Type="http://schemas.openxmlformats.org/officeDocument/2006/relationships/slideLayout" Target="../slideLayouts/slideLayout235.xml"/><Relationship Id="rId11" Type="http://schemas.openxmlformats.org/officeDocument/2006/relationships/slideLayout" Target="../slideLayouts/slideLayout234.xml"/><Relationship Id="rId10" Type="http://schemas.openxmlformats.org/officeDocument/2006/relationships/slideLayout" Target="../slideLayouts/slideLayout233.xml"/><Relationship Id="rId1" Type="http://schemas.openxmlformats.org/officeDocument/2006/relationships/slideLayout" Target="../slideLayouts/slideLayout224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6.xml"/><Relationship Id="rId8" Type="http://schemas.openxmlformats.org/officeDocument/2006/relationships/slideLayout" Target="../slideLayouts/slideLayout245.xml"/><Relationship Id="rId7" Type="http://schemas.openxmlformats.org/officeDocument/2006/relationships/slideLayout" Target="../slideLayouts/slideLayout244.xml"/><Relationship Id="rId6" Type="http://schemas.openxmlformats.org/officeDocument/2006/relationships/slideLayout" Target="../slideLayouts/slideLayout243.xml"/><Relationship Id="rId5" Type="http://schemas.openxmlformats.org/officeDocument/2006/relationships/slideLayout" Target="../slideLayouts/slideLayout242.xml"/><Relationship Id="rId4" Type="http://schemas.openxmlformats.org/officeDocument/2006/relationships/slideLayout" Target="../slideLayouts/slideLayout241.xml"/><Relationship Id="rId3" Type="http://schemas.openxmlformats.org/officeDocument/2006/relationships/slideLayout" Target="../slideLayouts/slideLayout240.xml"/><Relationship Id="rId2" Type="http://schemas.openxmlformats.org/officeDocument/2006/relationships/slideLayout" Target="../slideLayouts/slideLayout239.xml"/><Relationship Id="rId16" Type="http://schemas.openxmlformats.org/officeDocument/2006/relationships/theme" Target="../theme/theme25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251.xml"/><Relationship Id="rId13" Type="http://schemas.openxmlformats.org/officeDocument/2006/relationships/slideLayout" Target="../slideLayouts/slideLayout250.xml"/><Relationship Id="rId12" Type="http://schemas.openxmlformats.org/officeDocument/2006/relationships/slideLayout" Target="../slideLayouts/slideLayout249.xml"/><Relationship Id="rId11" Type="http://schemas.openxmlformats.org/officeDocument/2006/relationships/slideLayout" Target="../slideLayouts/slideLayout248.xml"/><Relationship Id="rId10" Type="http://schemas.openxmlformats.org/officeDocument/2006/relationships/slideLayout" Target="../slideLayouts/slideLayout247.xml"/><Relationship Id="rId1" Type="http://schemas.openxmlformats.org/officeDocument/2006/relationships/slideLayout" Target="../slideLayouts/slideLayout238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0.xml"/><Relationship Id="rId8" Type="http://schemas.openxmlformats.org/officeDocument/2006/relationships/slideLayout" Target="../slideLayouts/slideLayout259.xml"/><Relationship Id="rId7" Type="http://schemas.openxmlformats.org/officeDocument/2006/relationships/slideLayout" Target="../slideLayouts/slideLayout258.xml"/><Relationship Id="rId6" Type="http://schemas.openxmlformats.org/officeDocument/2006/relationships/slideLayout" Target="../slideLayouts/slideLayout257.xml"/><Relationship Id="rId5" Type="http://schemas.openxmlformats.org/officeDocument/2006/relationships/slideLayout" Target="../slideLayouts/slideLayout256.xml"/><Relationship Id="rId4" Type="http://schemas.openxmlformats.org/officeDocument/2006/relationships/slideLayout" Target="../slideLayouts/slideLayout255.xml"/><Relationship Id="rId3" Type="http://schemas.openxmlformats.org/officeDocument/2006/relationships/slideLayout" Target="../slideLayouts/slideLayout254.xml"/><Relationship Id="rId2" Type="http://schemas.openxmlformats.org/officeDocument/2006/relationships/slideLayout" Target="../slideLayouts/slideLayout253.xml"/><Relationship Id="rId16" Type="http://schemas.openxmlformats.org/officeDocument/2006/relationships/theme" Target="../theme/theme26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265.xml"/><Relationship Id="rId13" Type="http://schemas.openxmlformats.org/officeDocument/2006/relationships/slideLayout" Target="../slideLayouts/slideLayout264.xml"/><Relationship Id="rId12" Type="http://schemas.openxmlformats.org/officeDocument/2006/relationships/slideLayout" Target="../slideLayouts/slideLayout263.xml"/><Relationship Id="rId11" Type="http://schemas.openxmlformats.org/officeDocument/2006/relationships/slideLayout" Target="../slideLayouts/slideLayout262.xml"/><Relationship Id="rId10" Type="http://schemas.openxmlformats.org/officeDocument/2006/relationships/slideLayout" Target="../slideLayouts/slideLayout261.xml"/><Relationship Id="rId1" Type="http://schemas.openxmlformats.org/officeDocument/2006/relationships/slideLayout" Target="../slideLayouts/slideLayout252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4.xml"/><Relationship Id="rId8" Type="http://schemas.openxmlformats.org/officeDocument/2006/relationships/slideLayout" Target="../slideLayouts/slideLayout273.xml"/><Relationship Id="rId7" Type="http://schemas.openxmlformats.org/officeDocument/2006/relationships/slideLayout" Target="../slideLayouts/slideLayout272.xml"/><Relationship Id="rId6" Type="http://schemas.openxmlformats.org/officeDocument/2006/relationships/slideLayout" Target="../slideLayouts/slideLayout271.xml"/><Relationship Id="rId5" Type="http://schemas.openxmlformats.org/officeDocument/2006/relationships/slideLayout" Target="../slideLayouts/slideLayout270.xml"/><Relationship Id="rId4" Type="http://schemas.openxmlformats.org/officeDocument/2006/relationships/slideLayout" Target="../slideLayouts/slideLayout269.xml"/><Relationship Id="rId3" Type="http://schemas.openxmlformats.org/officeDocument/2006/relationships/slideLayout" Target="../slideLayouts/slideLayout268.xml"/><Relationship Id="rId2" Type="http://schemas.openxmlformats.org/officeDocument/2006/relationships/slideLayout" Target="../slideLayouts/slideLayout267.xml"/><Relationship Id="rId16" Type="http://schemas.openxmlformats.org/officeDocument/2006/relationships/theme" Target="../theme/theme27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279.xml"/><Relationship Id="rId13" Type="http://schemas.openxmlformats.org/officeDocument/2006/relationships/slideLayout" Target="../slideLayouts/slideLayout278.xml"/><Relationship Id="rId12" Type="http://schemas.openxmlformats.org/officeDocument/2006/relationships/slideLayout" Target="../slideLayouts/slideLayout277.xml"/><Relationship Id="rId11" Type="http://schemas.openxmlformats.org/officeDocument/2006/relationships/slideLayout" Target="../slideLayouts/slideLayout276.xml"/><Relationship Id="rId10" Type="http://schemas.openxmlformats.org/officeDocument/2006/relationships/slideLayout" Target="../slideLayouts/slideLayout275.xml"/><Relationship Id="rId1" Type="http://schemas.openxmlformats.org/officeDocument/2006/relationships/slideLayout" Target="../slideLayouts/slideLayout266.xml"/></Relationships>
</file>

<file path=ppt/slideMasters/_rels/slideMaster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8.xml"/><Relationship Id="rId8" Type="http://schemas.openxmlformats.org/officeDocument/2006/relationships/slideLayout" Target="../slideLayouts/slideLayout287.xml"/><Relationship Id="rId7" Type="http://schemas.openxmlformats.org/officeDocument/2006/relationships/slideLayout" Target="../slideLayouts/slideLayout286.xml"/><Relationship Id="rId6" Type="http://schemas.openxmlformats.org/officeDocument/2006/relationships/slideLayout" Target="../slideLayouts/slideLayout285.xml"/><Relationship Id="rId5" Type="http://schemas.openxmlformats.org/officeDocument/2006/relationships/slideLayout" Target="../slideLayouts/slideLayout284.xml"/><Relationship Id="rId4" Type="http://schemas.openxmlformats.org/officeDocument/2006/relationships/slideLayout" Target="../slideLayouts/slideLayout283.xml"/><Relationship Id="rId3" Type="http://schemas.openxmlformats.org/officeDocument/2006/relationships/slideLayout" Target="../slideLayouts/slideLayout282.xml"/><Relationship Id="rId2" Type="http://schemas.openxmlformats.org/officeDocument/2006/relationships/slideLayout" Target="../slideLayouts/slideLayout281.xml"/><Relationship Id="rId16" Type="http://schemas.openxmlformats.org/officeDocument/2006/relationships/theme" Target="../theme/theme28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293.xml"/><Relationship Id="rId13" Type="http://schemas.openxmlformats.org/officeDocument/2006/relationships/slideLayout" Target="../slideLayouts/slideLayout292.xml"/><Relationship Id="rId12" Type="http://schemas.openxmlformats.org/officeDocument/2006/relationships/slideLayout" Target="../slideLayouts/slideLayout291.xml"/><Relationship Id="rId11" Type="http://schemas.openxmlformats.org/officeDocument/2006/relationships/slideLayout" Target="../slideLayouts/slideLayout290.xml"/><Relationship Id="rId10" Type="http://schemas.openxmlformats.org/officeDocument/2006/relationships/slideLayout" Target="../slideLayouts/slideLayout289.xml"/><Relationship Id="rId1" Type="http://schemas.openxmlformats.org/officeDocument/2006/relationships/slideLayout" Target="../slideLayouts/slideLayout2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目录</a:t>
              </a:r>
              <a:endParaRPr lang="zh-CN" altLang="en-US" sz="4200" b="1" i="0" dirty="0"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rPr>
              <a:t>学习目标</a:t>
            </a:r>
            <a:endParaRPr lang="zh-CN" altLang="en-US" sz="4200" b="1" i="0" dirty="0">
              <a:latin typeface="Sitka Heading" panose="02000505000000020004" charset="0"/>
              <a:ea typeface="Sitka Heading" panose="02000505000000020004" charset="0"/>
              <a:cs typeface="Sitka Heading" panose="0200050500000002000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目录</a:t>
              </a:r>
              <a:endParaRPr lang="zh-CN" altLang="en-US" sz="4200" b="1" i="0" dirty="0"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257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" name="矩形 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257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" name="矩形 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  <p:sldLayoutId id="2147483832" r:id="rId13"/>
    <p:sldLayoutId id="2147483833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91" r:id="rId12"/>
    <p:sldLayoutId id="2147483892" r:id="rId13"/>
    <p:sldLayoutId id="2147483893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  <p:sldLayoutId id="2147483906" r:id="rId12"/>
    <p:sldLayoutId id="2147483907" r:id="rId13"/>
    <p:sldLayoutId id="2147483908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  <p:sldLayoutId id="2147483921" r:id="rId12"/>
    <p:sldLayoutId id="2147483922" r:id="rId13"/>
    <p:sldLayoutId id="2147483923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36" r:id="rId12"/>
    <p:sldLayoutId id="2147483937" r:id="rId13"/>
    <p:sldLayoutId id="2147483938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  <p:sldLayoutId id="2147483951" r:id="rId12"/>
    <p:sldLayoutId id="2147483952" r:id="rId13"/>
    <p:sldLayoutId id="2147483953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  <p:sldLayoutId id="2147483967" r:id="rId13"/>
    <p:sldLayoutId id="2147483968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5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5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5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5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52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3.xml"/><Relationship Id="rId1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36.png"/><Relationship Id="rId1" Type="http://schemas.openxmlformats.org/officeDocument/2006/relationships/tags" Target="../tags/tag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2.xml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2.xml"/><Relationship Id="rId4" Type="http://schemas.openxmlformats.org/officeDocument/2006/relationships/image" Target="../media/image76.png"/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2.xml"/><Relationship Id="rId4" Type="http://schemas.openxmlformats.org/officeDocument/2006/relationships/image" Target="../media/image85.png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2.xml"/><Relationship Id="rId4" Type="http://schemas.openxmlformats.org/officeDocument/2006/relationships/image" Target="../media/image89.png"/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image" Target="../media/image86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image" Target="../media/image93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image" Target="../media/image9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100.png"/><Relationship Id="rId1" Type="http://schemas.openxmlformats.org/officeDocument/2006/relationships/image" Target="../media/image99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image" Target="../media/image101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107.png"/><Relationship Id="rId1" Type="http://schemas.openxmlformats.org/officeDocument/2006/relationships/image" Target="../media/image104.png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2.xml"/><Relationship Id="rId4" Type="http://schemas.openxmlformats.org/officeDocument/2006/relationships/image" Target="../media/image111.png"/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image" Target="../media/image10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113.png"/><Relationship Id="rId1" Type="http://schemas.openxmlformats.org/officeDocument/2006/relationships/image" Target="../media/image112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image" Target="../media/image114.png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2.xml"/><Relationship Id="rId4" Type="http://schemas.openxmlformats.org/officeDocument/2006/relationships/image" Target="../media/image120.png"/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image" Target="../media/image117.png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2.xml"/><Relationship Id="rId4" Type="http://schemas.openxmlformats.org/officeDocument/2006/relationships/image" Target="../media/image124.png"/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image" Target="../media/image12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126.png"/><Relationship Id="rId1" Type="http://schemas.openxmlformats.org/officeDocument/2006/relationships/image" Target="../media/image12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128.png"/><Relationship Id="rId1" Type="http://schemas.openxmlformats.org/officeDocument/2006/relationships/image" Target="../media/image127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129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13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131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132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133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13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136.png"/><Relationship Id="rId1" Type="http://schemas.openxmlformats.org/officeDocument/2006/relationships/image" Target="../media/image135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13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139.png"/><Relationship Id="rId1" Type="http://schemas.openxmlformats.org/officeDocument/2006/relationships/image" Target="../media/image13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141.png"/><Relationship Id="rId1" Type="http://schemas.openxmlformats.org/officeDocument/2006/relationships/image" Target="../media/image14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143.png"/><Relationship Id="rId1" Type="http://schemas.openxmlformats.org/officeDocument/2006/relationships/image" Target="../media/image14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144.png"/><Relationship Id="rId1" Type="http://schemas.openxmlformats.org/officeDocument/2006/relationships/image" Target="../media/image142.png"/></Relationships>
</file>

<file path=ppt/slides/_rels/slide6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2.xml"/><Relationship Id="rId4" Type="http://schemas.openxmlformats.org/officeDocument/2006/relationships/image" Target="../media/image148.png"/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image" Target="../media/image145.png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image" Target="../media/image149.png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image" Target="../media/image152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155.png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image" Target="../media/image156.png"/></Relationships>
</file>

<file path=ppt/slides/_rels/slide7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2.xml"/><Relationship Id="rId4" Type="http://schemas.openxmlformats.org/officeDocument/2006/relationships/image" Target="../media/image162.png"/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image" Target="../media/image159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164.png"/><Relationship Id="rId1" Type="http://schemas.openxmlformats.org/officeDocument/2006/relationships/image" Target="../media/image163.png"/></Relationships>
</file>

<file path=ppt/slides/_rels/slide7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image" Target="../media/image165.png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image" Target="../media/image165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171.png"/><Relationship Id="rId1" Type="http://schemas.openxmlformats.org/officeDocument/2006/relationships/image" Target="../media/image170.png"/></Relationships>
</file>

<file path=ppt/slides/_rels/slide8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image" Target="../media/image170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174.png"/></Relationships>
</file>

<file path=ppt/slides/_rels/slide8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177.png"/><Relationship Id="rId2" Type="http://schemas.openxmlformats.org/officeDocument/2006/relationships/image" Target="../media/image176.png"/><Relationship Id="rId1" Type="http://schemas.openxmlformats.org/officeDocument/2006/relationships/image" Target="../media/image175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179.png"/><Relationship Id="rId1" Type="http://schemas.openxmlformats.org/officeDocument/2006/relationships/image" Target="../media/image178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180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182.png"/><Relationship Id="rId1" Type="http://schemas.openxmlformats.org/officeDocument/2006/relationships/image" Target="../media/image18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184.png"/><Relationship Id="rId1" Type="http://schemas.openxmlformats.org/officeDocument/2006/relationships/image" Target="../media/image183.png"/></Relationships>
</file>

<file path=ppt/slides/_rels/slide9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image" Target="../media/image185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189.png"/><Relationship Id="rId1" Type="http://schemas.openxmlformats.org/officeDocument/2006/relationships/image" Target="../media/image188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190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191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192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0.xml"/><Relationship Id="rId2" Type="http://schemas.openxmlformats.org/officeDocument/2006/relationships/image" Target="../media/image193.png"/><Relationship Id="rId1" Type="http://schemas.openxmlformats.org/officeDocument/2006/relationships/tags" Target="../tags/tag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196.png"/><Relationship Id="rId2" Type="http://schemas.openxmlformats.org/officeDocument/2006/relationships/image" Target="../media/image195.png"/><Relationship Id="rId1" Type="http://schemas.openxmlformats.org/officeDocument/2006/relationships/image" Target="../media/image194.png"/></Relationships>
</file>

<file path=ppt/slides/_rels/slide10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198.png"/><Relationship Id="rId2" Type="http://schemas.openxmlformats.org/officeDocument/2006/relationships/image" Target="../media/image197.png"/><Relationship Id="rId1" Type="http://schemas.openxmlformats.org/officeDocument/2006/relationships/image" Target="../media/image194.png"/></Relationships>
</file>

<file path=ppt/slides/_rels/slide10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2.xml"/><Relationship Id="rId4" Type="http://schemas.openxmlformats.org/officeDocument/2006/relationships/image" Target="../media/image202.png"/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image" Target="../media/image199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203.png"/><Relationship Id="rId1" Type="http://schemas.openxmlformats.org/officeDocument/2006/relationships/image" Target="../media/image199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205.png"/><Relationship Id="rId1" Type="http://schemas.openxmlformats.org/officeDocument/2006/relationships/image" Target="../media/image204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06.pn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07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08.png"/></Relationships>
</file>

<file path=ppt/slides/_rels/slide10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2.xml"/><Relationship Id="rId5" Type="http://schemas.openxmlformats.org/officeDocument/2006/relationships/image" Target="../media/image213.png"/><Relationship Id="rId4" Type="http://schemas.openxmlformats.org/officeDocument/2006/relationships/image" Target="../media/image212.png"/><Relationship Id="rId3" Type="http://schemas.openxmlformats.org/officeDocument/2006/relationships/image" Target="../media/image211.png"/><Relationship Id="rId2" Type="http://schemas.openxmlformats.org/officeDocument/2006/relationships/image" Target="../media/image210.png"/><Relationship Id="rId1" Type="http://schemas.openxmlformats.org/officeDocument/2006/relationships/image" Target="../media/image209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215.png"/><Relationship Id="rId1" Type="http://schemas.openxmlformats.org/officeDocument/2006/relationships/image" Target="../media/image214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216.png"/><Relationship Id="rId1" Type="http://schemas.openxmlformats.org/officeDocument/2006/relationships/image" Target="../media/image214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17.png"/></Relationships>
</file>

<file path=ppt/slides/_rels/slide1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220.png"/><Relationship Id="rId2" Type="http://schemas.openxmlformats.org/officeDocument/2006/relationships/image" Target="../media/image219.png"/><Relationship Id="rId1" Type="http://schemas.openxmlformats.org/officeDocument/2006/relationships/image" Target="../media/image218.png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21.png"/></Relationships>
</file>

<file path=ppt/slides/_rels/slide1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224.png"/><Relationship Id="rId2" Type="http://schemas.openxmlformats.org/officeDocument/2006/relationships/image" Target="../media/image223.png"/><Relationship Id="rId1" Type="http://schemas.openxmlformats.org/officeDocument/2006/relationships/image" Target="../media/image222.png"/></Relationships>
</file>

<file path=ppt/slides/_rels/slide1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2.xml"/><Relationship Id="rId4" Type="http://schemas.openxmlformats.org/officeDocument/2006/relationships/image" Target="../media/image228.png"/><Relationship Id="rId3" Type="http://schemas.openxmlformats.org/officeDocument/2006/relationships/image" Target="../media/image227.png"/><Relationship Id="rId2" Type="http://schemas.openxmlformats.org/officeDocument/2006/relationships/image" Target="../media/image226.png"/><Relationship Id="rId1" Type="http://schemas.openxmlformats.org/officeDocument/2006/relationships/image" Target="../media/image225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228.png"/><Relationship Id="rId1" Type="http://schemas.openxmlformats.org/officeDocument/2006/relationships/image" Target="../media/image229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231.png"/><Relationship Id="rId1" Type="http://schemas.openxmlformats.org/officeDocument/2006/relationships/image" Target="../media/image230.png"/></Relationships>
</file>

<file path=ppt/slides/_rels/slide1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231.png"/><Relationship Id="rId2" Type="http://schemas.openxmlformats.org/officeDocument/2006/relationships/image" Target="../media/image233.png"/><Relationship Id="rId1" Type="http://schemas.openxmlformats.org/officeDocument/2006/relationships/image" Target="../media/image232.pn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34.png"/></Relationships>
</file>

<file path=ppt/slides/_rels/slide1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2.xml"/><Relationship Id="rId4" Type="http://schemas.openxmlformats.org/officeDocument/2006/relationships/image" Target="../media/image238.png"/><Relationship Id="rId3" Type="http://schemas.openxmlformats.org/officeDocument/2006/relationships/image" Target="../media/image237.png"/><Relationship Id="rId2" Type="http://schemas.openxmlformats.org/officeDocument/2006/relationships/image" Target="../media/image236.png"/><Relationship Id="rId1" Type="http://schemas.openxmlformats.org/officeDocument/2006/relationships/image" Target="../media/image235.png"/></Relationships>
</file>

<file path=ppt/slides/_rels/slide1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2.xml"/><Relationship Id="rId4" Type="http://schemas.openxmlformats.org/officeDocument/2006/relationships/image" Target="../media/image242.png"/><Relationship Id="rId3" Type="http://schemas.openxmlformats.org/officeDocument/2006/relationships/image" Target="../media/image241.png"/><Relationship Id="rId2" Type="http://schemas.openxmlformats.org/officeDocument/2006/relationships/image" Target="../media/image240.png"/><Relationship Id="rId1" Type="http://schemas.openxmlformats.org/officeDocument/2006/relationships/image" Target="../media/image239.png"/></Relationships>
</file>

<file path=ppt/slides/_rels/slide1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2.xml"/><Relationship Id="rId4" Type="http://schemas.openxmlformats.org/officeDocument/2006/relationships/image" Target="../media/image246.png"/><Relationship Id="rId3" Type="http://schemas.openxmlformats.org/officeDocument/2006/relationships/image" Target="../media/image245.png"/><Relationship Id="rId2" Type="http://schemas.openxmlformats.org/officeDocument/2006/relationships/image" Target="../media/image244.png"/><Relationship Id="rId1" Type="http://schemas.openxmlformats.org/officeDocument/2006/relationships/image" Target="../media/image243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248.png"/><Relationship Id="rId1" Type="http://schemas.openxmlformats.org/officeDocument/2006/relationships/image" Target="../media/image247.png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49.png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50.png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51.png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52.png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53.png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54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256.png"/><Relationship Id="rId1" Type="http://schemas.openxmlformats.org/officeDocument/2006/relationships/image" Target="../media/image255.png"/></Relationships>
</file>

<file path=ppt/slides/_rels/slide1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2.xml"/><Relationship Id="rId4" Type="http://schemas.openxmlformats.org/officeDocument/2006/relationships/image" Target="../media/image260.png"/><Relationship Id="rId3" Type="http://schemas.openxmlformats.org/officeDocument/2006/relationships/image" Target="../media/image259.png"/><Relationship Id="rId2" Type="http://schemas.openxmlformats.org/officeDocument/2006/relationships/image" Target="../media/image258.png"/><Relationship Id="rId1" Type="http://schemas.openxmlformats.org/officeDocument/2006/relationships/image" Target="../media/image257.png"/></Relationships>
</file>

<file path=ppt/slides/_rels/slide1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263.png"/><Relationship Id="rId2" Type="http://schemas.openxmlformats.org/officeDocument/2006/relationships/image" Target="../media/image262.png"/><Relationship Id="rId1" Type="http://schemas.openxmlformats.org/officeDocument/2006/relationships/image" Target="../media/image261.png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64.png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65.png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66.png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67.png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68.png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69.png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70.png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71.png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72.png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73.png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74.png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5" y="2732405"/>
            <a:ext cx="12191365" cy="1167130"/>
          </a:xfrm>
        </p:spPr>
        <p:txBody>
          <a:bodyPr/>
          <a:lstStyle/>
          <a:p>
            <a:r>
              <a:rPr kumimoji="1"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Spark</a:t>
            </a:r>
            <a:r>
              <a:rPr kumimoji="1" lang="en-US" altLang="zh-CN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 Core</a:t>
            </a:r>
            <a:endParaRPr kumimoji="1" lang="en-US" altLang="zh-CN" dirty="0"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31398" y="1096645"/>
            <a:ext cx="6298881" cy="4855845"/>
          </a:xfrm>
        </p:spPr>
        <p:txBody>
          <a:bodyPr/>
          <a:lstStyle/>
          <a:p>
            <a:r>
              <a:rPr lang="zh-CN" altLang="en-US" dirty="0"/>
              <a:t>了解</a:t>
            </a:r>
            <a:r>
              <a:rPr lang="en-US" altLang="zh-CN" dirty="0"/>
              <a:t>RDD</a:t>
            </a:r>
            <a:r>
              <a:rPr lang="zh-CN" altLang="en-US" dirty="0"/>
              <a:t>产生背景</a:t>
            </a:r>
            <a:endParaRPr lang="zh-CN" altLang="en-US" dirty="0"/>
          </a:p>
          <a:p>
            <a:r>
              <a:rPr lang="zh-CN" altLang="en-US" dirty="0"/>
              <a:t>掌握</a:t>
            </a:r>
            <a:r>
              <a:rPr lang="en-US" altLang="zh-CN" dirty="0"/>
              <a:t>RDD</a:t>
            </a:r>
            <a:r>
              <a:rPr lang="zh-CN" altLang="en-US" dirty="0"/>
              <a:t>的创建</a:t>
            </a:r>
            <a:endParaRPr lang="zh-CN" altLang="en-US" dirty="0"/>
          </a:p>
          <a:p>
            <a:r>
              <a:rPr lang="zh-CN" altLang="en-US" dirty="0"/>
              <a:t>掌握</a:t>
            </a:r>
            <a:r>
              <a:rPr lang="en-US" altLang="zh-CN" dirty="0"/>
              <a:t>RDD</a:t>
            </a:r>
            <a:r>
              <a:rPr lang="zh-CN" altLang="en-US" dirty="0"/>
              <a:t>的重要算子</a:t>
            </a:r>
            <a:endParaRPr lang="zh-CN" altLang="en-US" dirty="0"/>
          </a:p>
          <a:p>
            <a:r>
              <a:rPr lang="zh-CN" altLang="en-US" dirty="0"/>
              <a:t>掌握</a:t>
            </a:r>
            <a:r>
              <a:rPr lang="en-US" altLang="zh-CN" dirty="0"/>
              <a:t>RDD</a:t>
            </a:r>
            <a:r>
              <a:rPr lang="zh-CN" altLang="en-US" dirty="0"/>
              <a:t>的缓存和检查点机制</a:t>
            </a:r>
            <a:endParaRPr lang="zh-CN" altLang="en-US" dirty="0"/>
          </a:p>
          <a:p>
            <a:r>
              <a:rPr lang="zh-CN" altLang="en-US" dirty="0"/>
              <a:t>熟悉</a:t>
            </a:r>
            <a:r>
              <a:rPr lang="en-US" altLang="zh-CN" dirty="0"/>
              <a:t>Spark</a:t>
            </a:r>
            <a:r>
              <a:rPr lang="zh-CN" altLang="en-US" dirty="0"/>
              <a:t>执行的基本原理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01895" y="993140"/>
            <a:ext cx="5973445" cy="4728845"/>
          </a:xfrm>
        </p:spPr>
        <p:txBody>
          <a:bodyPr/>
          <a:lstStyle/>
          <a:p>
            <a:pPr algn="l">
              <a:buFont typeface="+mj-lt"/>
              <a:buAutoNum type="arabicPeriod"/>
            </a:pPr>
            <a:r>
              <a:rPr kumimoji="1" lang="zh-CN" altLang="en-US" dirty="0" smtClean="0"/>
              <a:t>第一章 RDD详解</a:t>
            </a:r>
            <a:endParaRPr kumimoji="1" lang="zh-CN" altLang="en-US" dirty="0" smtClean="0"/>
          </a:p>
          <a:p>
            <a:pPr algn="l">
              <a:buFont typeface="+mj-lt"/>
              <a:buAutoNum type="arabicPeriod"/>
            </a:pPr>
            <a: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第二章 </a:t>
            </a:r>
            <a:r>
              <a:rPr lang="en-US" altLang="zh-CN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RDD </a:t>
            </a:r>
            <a: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编程入门</a:t>
            </a:r>
            <a:endParaRPr lang="zh-CN" altLang="en-US" dirty="0"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+mn-ea"/>
            </a:endParaRPr>
          </a:p>
          <a:p>
            <a:pPr algn="l">
              <a:buFont typeface="+mj-lt"/>
              <a:buAutoNum type="arabicPeriod"/>
            </a:pPr>
            <a: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第三章 RDD</a:t>
            </a:r>
            <a:r>
              <a:rPr lang="en-US" altLang="zh-CN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 </a:t>
            </a:r>
            <a: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持久化</a:t>
            </a:r>
            <a:endParaRPr lang="zh-CN" altLang="en-US" dirty="0"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+mn-ea"/>
            </a:endParaRPr>
          </a:p>
          <a:p>
            <a:pPr algn="l">
              <a:buFont typeface="+mj-lt"/>
              <a:buAutoNum type="arabicPeriod"/>
            </a:pPr>
            <a: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第四章 </a:t>
            </a:r>
            <a:r>
              <a:rPr lang="en-US" altLang="zh-CN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RDD </a:t>
            </a:r>
            <a: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案例练习</a:t>
            </a:r>
            <a:endParaRPr lang="zh-CN" altLang="en-US" dirty="0"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+mn-ea"/>
            </a:endParaRPr>
          </a:p>
          <a:p>
            <a:pPr algn="l">
              <a:buFont typeface="+mj-lt"/>
              <a:buAutoNum type="arabicPeriod"/>
            </a:pPr>
            <a:r>
              <a:rPr lang="en-US" altLang="zh-CN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第</a:t>
            </a:r>
            <a: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五</a:t>
            </a:r>
            <a:r>
              <a:rPr lang="en-US" altLang="zh-CN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章 RDD 共享变量</a:t>
            </a:r>
            <a:endParaRPr lang="en-US" altLang="zh-CN" dirty="0"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+mn-ea"/>
            </a:endParaRPr>
          </a:p>
          <a:p>
            <a:pPr algn="l">
              <a:buFont typeface="+mj-lt"/>
              <a:buAutoNum type="arabicPeriod"/>
            </a:pPr>
            <a:r>
              <a:rPr lang="en-US" altLang="zh-CN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第</a:t>
            </a:r>
            <a: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六</a:t>
            </a:r>
            <a:r>
              <a:rPr lang="en-US" altLang="zh-CN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章 Spark 内核调度</a:t>
            </a:r>
            <a:endParaRPr lang="en-US" altLang="zh-CN" dirty="0"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5008880" y="2690911"/>
            <a:ext cx="6725920" cy="548322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 RDD详解</a:t>
            </a:r>
            <a:endParaRPr lang="zh-CN" altLang="en-US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z="240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第一章</a:t>
            </a:r>
            <a:endParaRPr lang="zh-CN" altLang="en-US" sz="2400" dirty="0"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01895" y="993140"/>
            <a:ext cx="5973445" cy="4728845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rgbClr val="FF0000"/>
                </a:solidFill>
              </a:rPr>
              <a:t>1.1 为什么需要RDD?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kumimoji="1" dirty="0"/>
              <a:t>1.2 什么是RDD?</a:t>
            </a:r>
            <a:endParaRPr kumimoji="1" dirty="0"/>
          </a:p>
          <a:p>
            <a:r>
              <a:rPr kumimoji="1" dirty="0"/>
              <a:t>1.</a:t>
            </a:r>
            <a:r>
              <a:rPr kumimoji="1" lang="en-US" dirty="0"/>
              <a:t>3</a:t>
            </a:r>
            <a:r>
              <a:rPr kumimoji="1" dirty="0"/>
              <a:t> RDD的5大特性</a:t>
            </a:r>
            <a:endParaRPr kumimoji="1" dirty="0"/>
          </a:p>
          <a:p>
            <a:r>
              <a:rPr kumimoji="1" dirty="0"/>
              <a:t>1.</a:t>
            </a:r>
            <a:r>
              <a:rPr kumimoji="1" lang="en-US" dirty="0"/>
              <a:t>4</a:t>
            </a:r>
            <a:r>
              <a:rPr kumimoji="1" dirty="0"/>
              <a:t> WordCount中RDD</a:t>
            </a:r>
            <a:endParaRPr kumimoj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2"/>
          <p:cNvPicPr>
            <a:picLocks noChangeAspect="1"/>
          </p:cNvPicPr>
          <p:nvPr/>
        </p:nvPicPr>
        <p:blipFill>
          <a:blip r:embed="rId1"/>
          <a:srcRect t="766" b="11172"/>
          <a:stretch>
            <a:fillRect/>
          </a:stretch>
        </p:blipFill>
        <p:spPr>
          <a:xfrm>
            <a:off x="491490" y="1014730"/>
            <a:ext cx="10918825" cy="5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746125" y="1837690"/>
            <a:ext cx="10699115" cy="399542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600" b="0" dirty="0"/>
              <a:t>分布式计算需要</a:t>
            </a:r>
            <a:r>
              <a:rPr sz="1600" b="0" dirty="0"/>
              <a:t>:</a:t>
            </a:r>
            <a:endParaRPr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0" dirty="0"/>
              <a:t>分区控制</a:t>
            </a:r>
            <a:endParaRPr lang="zh-CN" altLang="en-US"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b="0" dirty="0"/>
              <a:t>Shuffle</a:t>
            </a:r>
            <a:r>
              <a:rPr lang="zh-CN" altLang="en-US" sz="1600" b="0" dirty="0"/>
              <a:t>控制</a:t>
            </a:r>
            <a:endParaRPr lang="zh-CN" altLang="en-US"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0" dirty="0"/>
              <a:t>数据存储</a:t>
            </a:r>
            <a:r>
              <a:rPr sz="1600" b="0" dirty="0"/>
              <a:t>\</a:t>
            </a:r>
            <a:r>
              <a:rPr lang="zh-CN" altLang="en-US" sz="1600" b="0" dirty="0"/>
              <a:t>序列化</a:t>
            </a:r>
            <a:r>
              <a:rPr sz="1600" b="0" dirty="0"/>
              <a:t>\</a:t>
            </a:r>
            <a:r>
              <a:rPr lang="zh-CN" altLang="en-US" sz="1600" b="0" dirty="0"/>
              <a:t>发送</a:t>
            </a:r>
            <a:endParaRPr lang="zh-CN" altLang="en-US"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0" dirty="0"/>
              <a:t>数据计算</a:t>
            </a:r>
            <a:r>
              <a:rPr sz="1600" b="0" dirty="0"/>
              <a:t>API</a:t>
            </a:r>
            <a:endParaRPr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0" dirty="0"/>
              <a:t>等一系列功能</a:t>
            </a:r>
            <a:endParaRPr lang="zh-CN" altLang="en-US" sz="1600" b="0" dirty="0"/>
          </a:p>
          <a:p>
            <a:endParaRPr lang="zh-CN" altLang="en-US" sz="1600" b="0" dirty="0"/>
          </a:p>
          <a:p>
            <a:pPr marL="0" indent="0">
              <a:buNone/>
            </a:pPr>
            <a:r>
              <a:rPr lang="zh-CN" altLang="en-US" sz="1600" b="0" dirty="0"/>
              <a:t>这些功能</a:t>
            </a:r>
            <a:r>
              <a:rPr sz="1600" b="0" dirty="0"/>
              <a:t>, </a:t>
            </a:r>
            <a:r>
              <a:rPr lang="zh-CN" altLang="en-US" sz="1600" b="0" dirty="0"/>
              <a:t>不能简单的通过</a:t>
            </a:r>
            <a:r>
              <a:rPr sz="1600" b="0" dirty="0"/>
              <a:t>Python</a:t>
            </a:r>
            <a:r>
              <a:rPr lang="zh-CN" altLang="en-US" sz="1600" b="0" dirty="0"/>
              <a:t>内置的本地集合对象</a:t>
            </a:r>
            <a:r>
              <a:rPr sz="1600" b="0" dirty="0"/>
              <a:t>(</a:t>
            </a:r>
            <a:r>
              <a:rPr lang="zh-CN" altLang="en-US" sz="1600" b="0" dirty="0"/>
              <a:t>如</a:t>
            </a:r>
            <a:r>
              <a:rPr sz="1600" b="0" dirty="0"/>
              <a:t> List\ </a:t>
            </a:r>
            <a:r>
              <a:rPr lang="zh-CN" altLang="en-US" sz="1600" b="0" dirty="0"/>
              <a:t>字典等</a:t>
            </a:r>
            <a:r>
              <a:rPr sz="1600" b="0" dirty="0"/>
              <a:t>)</a:t>
            </a:r>
            <a:r>
              <a:rPr lang="zh-CN" altLang="en-US" sz="1600" b="0" dirty="0"/>
              <a:t>去完成</a:t>
            </a:r>
            <a:r>
              <a:rPr sz="1600" b="0" dirty="0"/>
              <a:t>.</a:t>
            </a:r>
            <a:endParaRPr sz="1600" b="0" dirty="0"/>
          </a:p>
          <a:p>
            <a:pPr marL="0" indent="0">
              <a:buNone/>
            </a:pPr>
            <a:r>
              <a:rPr lang="zh-CN" altLang="en-US" sz="1600" b="0" dirty="0"/>
              <a:t>我们在分布式框架中</a:t>
            </a:r>
            <a:r>
              <a:rPr sz="1600" b="0" dirty="0"/>
              <a:t>, </a:t>
            </a:r>
            <a:r>
              <a:rPr lang="zh-CN" altLang="en-US" sz="1600" b="0" dirty="0"/>
              <a:t>需要有一个统一的数据抽象对象</a:t>
            </a:r>
            <a:r>
              <a:rPr sz="1600" b="0" dirty="0"/>
              <a:t>, </a:t>
            </a:r>
            <a:r>
              <a:rPr lang="zh-CN" altLang="en-US" sz="1600" b="0" dirty="0"/>
              <a:t>来实现上述分布式计算所需功能</a:t>
            </a:r>
            <a:r>
              <a:rPr sz="1600" b="0" dirty="0"/>
              <a:t>.</a:t>
            </a:r>
            <a:endParaRPr sz="1600" b="0" dirty="0"/>
          </a:p>
          <a:p>
            <a:pPr marL="0" indent="0">
              <a:buNone/>
            </a:pPr>
            <a:endParaRPr sz="1600" b="0" dirty="0"/>
          </a:p>
          <a:p>
            <a:pPr marL="0" indent="0">
              <a:buNone/>
            </a:pPr>
            <a:r>
              <a:rPr lang="zh-CN" altLang="en-US" sz="1600" b="0" dirty="0"/>
              <a:t>这个抽象对象</a:t>
            </a:r>
            <a:r>
              <a:rPr sz="1600" b="0" dirty="0"/>
              <a:t>, </a:t>
            </a:r>
            <a:r>
              <a:rPr lang="zh-CN" altLang="en-US" sz="1600" b="0" dirty="0"/>
              <a:t>就是</a:t>
            </a:r>
            <a:r>
              <a:rPr sz="1600" b="0" dirty="0"/>
              <a:t>RDD</a:t>
            </a:r>
            <a:endParaRPr sz="1600" b="0" dirty="0"/>
          </a:p>
        </p:txBody>
      </p:sp>
      <p:sp>
        <p:nvSpPr>
          <p:cNvPr id="12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1.1 </a:t>
            </a:r>
            <a:r>
              <a:t>为什么需要</a:t>
            </a:r>
            <a:r>
              <a:rPr lang="en-US" altLang="zh-CN"/>
              <a:t>RDD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837880" y="1980846"/>
            <a:ext cx="10698800" cy="517190"/>
          </a:xfrm>
        </p:spPr>
        <p:txBody>
          <a:bodyPr/>
          <a:lstStyle/>
          <a:p>
            <a:r>
              <a:rPr lang="en-US" altLang="zh-CN" sz="1600" b="0" dirty="0"/>
              <a:t>Spark</a:t>
            </a:r>
            <a:r>
              <a:rPr lang="zh-CN" altLang="en-US" sz="1600" b="0" dirty="0"/>
              <a:t>起源</a:t>
            </a:r>
            <a:endParaRPr lang="en-US" altLang="zh-CN" sz="1600" b="0" dirty="0"/>
          </a:p>
          <a:p>
            <a:pPr marL="0" indent="0">
              <a:buNone/>
            </a:pPr>
            <a:r>
              <a:rPr sz="1600" b="0" dirty="0"/>
              <a:t>在Spark开山之作Resilient Distributed Datasets: A Fault-Tolerant Abstraction for In-Memory Cluster Computing这篇paper中（以下简称 RDD Paper），Matei等人提出了RDD这种数据结构，文中开头对RDD的定义是：</a:t>
            </a:r>
            <a:endParaRPr sz="1600" b="0" dirty="0"/>
          </a:p>
        </p:txBody>
      </p:sp>
      <p:pic>
        <p:nvPicPr>
          <p:cNvPr id="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8680" y="3025140"/>
            <a:ext cx="7088505" cy="358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文本占位符 1"/>
          <p:cNvSpPr>
            <a:spLocks noGrp="1"/>
          </p:cNvSpPr>
          <p:nvPr/>
        </p:nvSpPr>
        <p:spPr>
          <a:xfrm>
            <a:off x="837880" y="1067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1.2 </a:t>
            </a:r>
            <a:r>
              <a:t>什么是</a:t>
            </a:r>
            <a:r>
              <a:rPr lang="en-US" altLang="zh-CN"/>
              <a:t>RDD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837880" y="2469796"/>
            <a:ext cx="10698800" cy="517190"/>
          </a:xfrm>
        </p:spPr>
        <p:txBody>
          <a:bodyPr/>
          <a:lstStyle/>
          <a:p>
            <a:r>
              <a:rPr lang="en-US" altLang="zh-CN" sz="1600" b="0" dirty="0"/>
              <a:t>RDD</a:t>
            </a:r>
            <a:r>
              <a:rPr lang="zh-CN" altLang="en-US" sz="1600" b="0" dirty="0"/>
              <a:t>定义</a:t>
            </a:r>
            <a:endParaRPr lang="en-US" altLang="zh-CN" sz="1600" b="0" dirty="0"/>
          </a:p>
          <a:p>
            <a:pPr marL="0" indent="0">
              <a:buNone/>
            </a:pPr>
            <a:r>
              <a:rPr sz="1600" b="0" dirty="0"/>
              <a:t>RDD（Resilient Distributed Dataset）叫做弹性分布式数据集，是Spark中最基本的数据抽象，代表一个不可变、可分区、里面的元素可并行计算的集合。</a:t>
            </a:r>
            <a:endParaRPr sz="1600" b="0" dirty="0"/>
          </a:p>
          <a:p>
            <a:pPr>
              <a:buFont typeface="Wingdings" panose="05000000000000000000" charset="0"/>
              <a:buChar char="l"/>
            </a:pPr>
            <a:r>
              <a:rPr sz="1600" b="0" dirty="0"/>
              <a:t>Dataset：一个数据集合，用于存放数据的。</a:t>
            </a:r>
            <a:endParaRPr sz="1600" b="0" dirty="0"/>
          </a:p>
          <a:p>
            <a:pPr>
              <a:buFont typeface="Wingdings" panose="05000000000000000000" charset="0"/>
              <a:buChar char="l"/>
            </a:pPr>
            <a:r>
              <a:rPr sz="1600" b="0" dirty="0"/>
              <a:t>Distributed：RDD中的数据是分布式存储的，可用于分布式计算。</a:t>
            </a:r>
            <a:endParaRPr sz="1600" b="0" dirty="0"/>
          </a:p>
          <a:p>
            <a:pPr>
              <a:buFont typeface="Wingdings" panose="05000000000000000000" charset="0"/>
              <a:buChar char="l"/>
            </a:pPr>
            <a:r>
              <a:rPr sz="1600" b="0" dirty="0"/>
              <a:t>Resilient：RDD中的数据可以存储在内存中或者磁盘中。</a:t>
            </a:r>
            <a:endParaRPr sz="1600" b="0" dirty="0"/>
          </a:p>
        </p:txBody>
      </p:sp>
      <p:pic>
        <p:nvPicPr>
          <p:cNvPr id="6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6033" y="4177348"/>
            <a:ext cx="5690235" cy="218249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文本占位符 1"/>
          <p:cNvSpPr>
            <a:spLocks noGrp="1"/>
          </p:cNvSpPr>
          <p:nvPr/>
        </p:nvSpPr>
        <p:spPr>
          <a:xfrm>
            <a:off x="837880" y="1067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1.2 </a:t>
            </a:r>
            <a:r>
              <a:t>什么是</a:t>
            </a:r>
            <a:r>
              <a:rPr lang="en-US" altLang="zh-CN"/>
              <a:t>RDD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837565" y="2077720"/>
            <a:ext cx="10699115" cy="1290320"/>
          </a:xfrm>
        </p:spPr>
        <p:txBody>
          <a:bodyPr/>
          <a:lstStyle/>
          <a:p>
            <a:r>
              <a:rPr lang="en-US" altLang="zh-CN" sz="1400" b="0" dirty="0"/>
              <a:t>RDD</a:t>
            </a:r>
            <a:r>
              <a:rPr lang="zh-CN" altLang="en-US" sz="1400" b="0" dirty="0"/>
              <a:t>定义</a:t>
            </a:r>
            <a:endParaRPr lang="en-US" altLang="zh-CN" sz="1400" b="0" dirty="0"/>
          </a:p>
          <a:p>
            <a:pPr lvl="1">
              <a:buFont typeface="Wingdings" panose="05000000000000000000" charset="0"/>
              <a:buChar char="u"/>
            </a:pPr>
            <a:r>
              <a:rPr sz="14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RDD（Resilient Distributed Dataset）弹性分布式数据集，是Spark中最基本的数据抽象，代表一个不可变、可分区、里面的元素可并行计算的集合。</a:t>
            </a:r>
            <a:endParaRPr sz="14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buFont typeface="Wingdings" panose="05000000000000000000" charset="0"/>
              <a:buChar char="u"/>
            </a:pPr>
            <a:r>
              <a:rPr sz="14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所有的运算以及操作都建立在 RDD 数据结构的基础之上。</a:t>
            </a:r>
            <a:endParaRPr sz="14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buFont typeface="Wingdings" panose="05000000000000000000" charset="0"/>
              <a:buChar char="u"/>
            </a:pPr>
            <a:r>
              <a:rPr sz="14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可以认为RDD是分布式的列表List或数组Array，抽象的数据结构，RDD是一个抽象类Abstract Class和泛型Generic Type</a:t>
            </a:r>
            <a:endParaRPr sz="14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54" name="图片 13"/>
          <p:cNvPicPr>
            <a:picLocks noChangeAspect="1"/>
          </p:cNvPicPr>
          <p:nvPr/>
        </p:nvPicPr>
        <p:blipFill>
          <a:blip r:embed="rId1"/>
          <a:srcRect r="14106"/>
          <a:stretch>
            <a:fillRect/>
          </a:stretch>
        </p:blipFill>
        <p:spPr>
          <a:xfrm>
            <a:off x="1007110" y="4380548"/>
            <a:ext cx="3991610" cy="810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1418" t="2694" r="1234" b="1796"/>
          <a:stretch>
            <a:fillRect/>
          </a:stretch>
        </p:blipFill>
        <p:spPr>
          <a:xfrm>
            <a:off x="5962650" y="3536950"/>
            <a:ext cx="3970020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文本占位符 1"/>
          <p:cNvSpPr>
            <a:spLocks noGrp="1"/>
          </p:cNvSpPr>
          <p:nvPr/>
        </p:nvSpPr>
        <p:spPr>
          <a:xfrm>
            <a:off x="837880" y="1067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1.2 </a:t>
            </a:r>
            <a:r>
              <a:t>什么是</a:t>
            </a:r>
            <a:r>
              <a:rPr lang="en-US" altLang="zh-CN"/>
              <a:t>RDD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837880" y="1963066"/>
            <a:ext cx="10698800" cy="517190"/>
          </a:xfrm>
        </p:spPr>
        <p:txBody>
          <a:bodyPr/>
          <a:lstStyle/>
          <a:p>
            <a:r>
              <a:rPr sz="1400" b="0" dirty="0"/>
              <a:t>RDD 数据结构内部有五个特性（摘录RDD 源码）：</a:t>
            </a:r>
            <a:endParaRPr sz="1400" b="0" dirty="0"/>
          </a:p>
          <a:p>
            <a:r>
              <a:rPr lang="zh-CN" altLang="en-US" sz="1400" b="0" dirty="0"/>
              <a:t>前三个特征每个RDD都具备的，后两个特征可选的。</a:t>
            </a:r>
            <a:endParaRPr lang="zh-CN" altLang="en-US" sz="1400" b="0" dirty="0"/>
          </a:p>
          <a:p>
            <a:endParaRPr lang="zh-CN" altLang="en-US" sz="1400" b="0" dirty="0"/>
          </a:p>
        </p:txBody>
      </p:sp>
      <p:pic>
        <p:nvPicPr>
          <p:cNvPr id="125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545" y="2952115"/>
            <a:ext cx="10074910" cy="211518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文本占位符 1"/>
          <p:cNvSpPr>
            <a:spLocks noGrp="1"/>
          </p:cNvSpPr>
          <p:nvPr/>
        </p:nvSpPr>
        <p:spPr>
          <a:xfrm>
            <a:off x="837880" y="1067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1.3 RDD</a:t>
            </a:r>
            <a:r>
              <a:t>的五大特性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"/>
          <p:cNvSpPr>
            <a:spLocks noGrp="1"/>
          </p:cNvSpPr>
          <p:nvPr/>
        </p:nvSpPr>
        <p:spPr>
          <a:xfrm>
            <a:off x="837880" y="1067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1.3 RDD</a:t>
            </a:r>
            <a:r>
              <a:t>的五大特性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45" y="1635760"/>
            <a:ext cx="1885950" cy="1714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65" y="1858645"/>
            <a:ext cx="3590925" cy="1409700"/>
          </a:xfrm>
          <a:prstGeom prst="rect">
            <a:avLst/>
          </a:prstGeom>
        </p:spPr>
      </p:pic>
      <p:pic>
        <p:nvPicPr>
          <p:cNvPr id="100" name="图片 99"/>
          <p:cNvPicPr/>
          <p:nvPr/>
        </p:nvPicPr>
        <p:blipFill>
          <a:blip r:embed="rId3"/>
          <a:stretch>
            <a:fillRect/>
          </a:stretch>
        </p:blipFill>
        <p:spPr>
          <a:xfrm>
            <a:off x="6064250" y="3268345"/>
            <a:ext cx="5587365" cy="29775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595" y="2458720"/>
            <a:ext cx="4638675" cy="80962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845" y="3996690"/>
            <a:ext cx="4838700" cy="2476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"/>
          <p:cNvSpPr>
            <a:spLocks noGrp="1"/>
          </p:cNvSpPr>
          <p:nvPr/>
        </p:nvSpPr>
        <p:spPr>
          <a:xfrm>
            <a:off x="837880" y="1067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1.3 RDD</a:t>
            </a:r>
            <a:r>
              <a:t>的五大特性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1584325"/>
            <a:ext cx="2819400" cy="1714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65" y="1911350"/>
            <a:ext cx="3181350" cy="295275"/>
          </a:xfrm>
          <a:prstGeom prst="rect">
            <a:avLst/>
          </a:prstGeom>
        </p:spPr>
      </p:pic>
      <p:pic>
        <p:nvPicPr>
          <p:cNvPr id="101" name="图片 100"/>
          <p:cNvPicPr/>
          <p:nvPr/>
        </p:nvPicPr>
        <p:blipFill>
          <a:blip r:embed="rId3"/>
          <a:stretch>
            <a:fillRect/>
          </a:stretch>
        </p:blipFill>
        <p:spPr>
          <a:xfrm>
            <a:off x="935355" y="2362200"/>
            <a:ext cx="10502900" cy="11925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" y="3554730"/>
            <a:ext cx="6086475" cy="762000"/>
          </a:xfrm>
          <a:prstGeom prst="rect">
            <a:avLst/>
          </a:prstGeom>
        </p:spPr>
      </p:pic>
      <p:pic>
        <p:nvPicPr>
          <p:cNvPr id="102" name="图片 101"/>
          <p:cNvPicPr/>
          <p:nvPr/>
        </p:nvPicPr>
        <p:blipFill>
          <a:blip r:embed="rId5"/>
          <a:stretch>
            <a:fillRect/>
          </a:stretch>
        </p:blipFill>
        <p:spPr>
          <a:xfrm>
            <a:off x="4376420" y="3870325"/>
            <a:ext cx="6802120" cy="26854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5" name="Picture 12" descr="dd-partition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7248" y="4652328"/>
            <a:ext cx="3303905" cy="1903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"/>
          <p:cNvSpPr>
            <a:spLocks noGrp="1"/>
          </p:cNvSpPr>
          <p:nvPr/>
        </p:nvSpPr>
        <p:spPr>
          <a:xfrm>
            <a:off x="837880" y="1067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1.3 RDD</a:t>
            </a:r>
            <a:r>
              <a:t>的五大特性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1584325"/>
            <a:ext cx="2914650" cy="1619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65" y="1755140"/>
            <a:ext cx="3886200" cy="2619375"/>
          </a:xfrm>
          <a:prstGeom prst="rect">
            <a:avLst/>
          </a:prstGeom>
        </p:spPr>
      </p:pic>
      <p:pic>
        <p:nvPicPr>
          <p:cNvPr id="103" name="图片 102"/>
          <p:cNvPicPr/>
          <p:nvPr/>
        </p:nvPicPr>
        <p:blipFill>
          <a:blip r:embed="rId3"/>
          <a:stretch>
            <a:fillRect/>
          </a:stretch>
        </p:blipFill>
        <p:spPr>
          <a:xfrm>
            <a:off x="5188585" y="2296795"/>
            <a:ext cx="4733925" cy="17837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65" y="4149725"/>
            <a:ext cx="2914650" cy="2586990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pic>
        <p:nvPicPr>
          <p:cNvPr id="60" name="Picture 11" descr="dd-readonl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88585" y="4511675"/>
            <a:ext cx="3202305" cy="2225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"/>
          <p:cNvSpPr>
            <a:spLocks noGrp="1"/>
          </p:cNvSpPr>
          <p:nvPr/>
        </p:nvSpPr>
        <p:spPr>
          <a:xfrm>
            <a:off x="837880" y="1067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1.3 RDD</a:t>
            </a:r>
            <a:r>
              <a:t>的五大特性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1584325"/>
            <a:ext cx="6953250" cy="2000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65" y="1990725"/>
            <a:ext cx="8815070" cy="35788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"/>
          <p:cNvSpPr>
            <a:spLocks noGrp="1"/>
          </p:cNvSpPr>
          <p:nvPr/>
        </p:nvSpPr>
        <p:spPr>
          <a:xfrm>
            <a:off x="837880" y="1067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1.3 RDD</a:t>
            </a:r>
            <a:r>
              <a:t>的五大特性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1584325"/>
            <a:ext cx="6981825" cy="381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65" y="2039620"/>
            <a:ext cx="9144000" cy="4438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"/>
          <p:cNvSpPr>
            <a:spLocks noGrp="1"/>
          </p:cNvSpPr>
          <p:nvPr/>
        </p:nvSpPr>
        <p:spPr>
          <a:xfrm>
            <a:off x="837880" y="1067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1.4 WordCount</a:t>
            </a:r>
            <a:r>
              <a:t>案例分析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1584325"/>
            <a:ext cx="2914650" cy="161925"/>
          </a:xfrm>
          <a:prstGeom prst="rect">
            <a:avLst/>
          </a:prstGeom>
        </p:spPr>
      </p:pic>
      <p:pic>
        <p:nvPicPr>
          <p:cNvPr id="104" name="图片 103"/>
          <p:cNvPicPr/>
          <p:nvPr/>
        </p:nvPicPr>
        <p:blipFill>
          <a:blip r:embed="rId2"/>
          <a:stretch>
            <a:fillRect/>
          </a:stretch>
        </p:blipFill>
        <p:spPr>
          <a:xfrm>
            <a:off x="4576445" y="2108835"/>
            <a:ext cx="7498715" cy="40976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65" y="1864995"/>
            <a:ext cx="3738880" cy="532130"/>
          </a:xfrm>
          <a:prstGeom prst="rect">
            <a:avLst/>
          </a:prstGeom>
        </p:spPr>
      </p:pic>
      <p:pic>
        <p:nvPicPr>
          <p:cNvPr id="77" name="Picture 6" descr="dd-cach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7565" y="2677795"/>
            <a:ext cx="3668395" cy="22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kumimoji="1" lang="zh-CN" altLang="en-US" sz="1600" dirty="0" smtClean="0">
                <a:sym typeface="+mn-ea"/>
              </a:rPr>
              <a:t>如何正确理解</a:t>
            </a:r>
            <a:r>
              <a:rPr kumimoji="1" lang="en-US" sz="1600" dirty="0" smtClean="0">
                <a:sym typeface="+mn-ea"/>
              </a:rPr>
              <a:t>RDD</a:t>
            </a:r>
            <a:r>
              <a:rPr kumimoji="1" lang="zh-CN" altLang="en-US" sz="1600" dirty="0" smtClean="0">
                <a:sym typeface="+mn-ea"/>
              </a:rPr>
              <a:t>？</a:t>
            </a:r>
            <a:endParaRPr kumimoji="1" lang="zh-CN" altLang="en-US" sz="1600" dirty="0" smtClean="0"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kumimoji="1" lang="zh-CN" altLang="en-US" sz="1200" dirty="0"/>
              <a:t>弹性分布式数据集</a:t>
            </a:r>
            <a:r>
              <a:rPr kumimoji="1" lang="en-US" altLang="zh-CN" sz="1200" dirty="0"/>
              <a:t>, </a:t>
            </a:r>
            <a:r>
              <a:rPr kumimoji="1" lang="zh-CN" altLang="en-US" sz="1200" dirty="0"/>
              <a:t>分布式计算的实现载体</a:t>
            </a:r>
            <a:r>
              <a:rPr kumimoji="1" lang="en-US" altLang="zh-CN" sz="1200" dirty="0"/>
              <a:t>(</a:t>
            </a:r>
            <a:r>
              <a:rPr kumimoji="1" lang="zh-CN" altLang="en-US" sz="1200" dirty="0"/>
              <a:t>数据抽象</a:t>
            </a:r>
            <a:r>
              <a:rPr kumimoji="1" lang="en-US" altLang="zh-CN" sz="1200" dirty="0"/>
              <a:t>)</a:t>
            </a:r>
            <a:endParaRPr kumimoji="1" lang="zh-CN" altLang="en-US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kumimoji="1" lang="en-US" sz="1600" dirty="0" smtClean="0">
                <a:sym typeface="+mn-ea"/>
              </a:rPr>
              <a:t>RDD</a:t>
            </a:r>
            <a:r>
              <a:rPr kumimoji="1" lang="zh-CN" altLang="en-US" sz="1600" dirty="0" smtClean="0">
                <a:sym typeface="+mn-ea"/>
              </a:rPr>
              <a:t>五大特点分别是？</a:t>
            </a:r>
            <a:endParaRPr kumimoji="1" lang="zh-CN" altLang="en-US" sz="1600" dirty="0" smtClean="0"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kumimoji="1" lang="zh-CN" altLang="en-US" sz="1600" dirty="0" smtClean="0"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1600" dirty="0" smtClean="0"/>
          </a:p>
        </p:txBody>
      </p:sp>
      <p:pic>
        <p:nvPicPr>
          <p:cNvPr id="105" name="图片 104"/>
          <p:cNvPicPr/>
          <p:nvPr/>
        </p:nvPicPr>
        <p:blipFill>
          <a:blip r:embed="rId1"/>
          <a:stretch>
            <a:fillRect/>
          </a:stretch>
        </p:blipFill>
        <p:spPr>
          <a:xfrm>
            <a:off x="5198110" y="4060825"/>
            <a:ext cx="6617335" cy="13887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5205095" y="2768283"/>
            <a:ext cx="6725920" cy="548322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RDD</a:t>
            </a:r>
            <a:r>
              <a:rPr lang="en-US" altLang="zh-CN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 </a:t>
            </a:r>
            <a: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编程入门</a:t>
            </a:r>
            <a:endParaRPr lang="zh-CN" altLang="en-US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z="240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第二章</a:t>
            </a:r>
            <a:endParaRPr lang="zh-CN" altLang="en-US" sz="2400" dirty="0"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01895" y="993140"/>
            <a:ext cx="5973445" cy="4728845"/>
          </a:xfrm>
        </p:spPr>
        <p:txBody>
          <a:bodyPr/>
          <a:lstStyle/>
          <a:p>
            <a:pPr algn="l"/>
            <a:r>
              <a:rPr kumimoji="1" lang="en-US" dirty="0">
                <a:solidFill>
                  <a:schemeClr val="tx1"/>
                </a:solidFill>
              </a:rPr>
              <a:t>2.1 </a:t>
            </a:r>
            <a:r>
              <a:rPr kumimoji="1" lang="zh-CN" altLang="en-US" dirty="0">
                <a:solidFill>
                  <a:schemeClr val="tx1"/>
                </a:solidFill>
              </a:rPr>
              <a:t>程序入口</a:t>
            </a:r>
            <a:r>
              <a:rPr kumimoji="1" lang="en-US" altLang="zh-CN" dirty="0">
                <a:solidFill>
                  <a:schemeClr val="tx1"/>
                </a:solidFill>
              </a:rPr>
              <a:t> SparkContext</a:t>
            </a:r>
            <a:r>
              <a:rPr kumimoji="1" lang="zh-CN" altLang="en-US" dirty="0">
                <a:solidFill>
                  <a:schemeClr val="tx1"/>
                </a:solidFill>
              </a:rPr>
              <a:t>对象</a:t>
            </a:r>
            <a:endParaRPr kumimoji="1" lang="zh-CN" altLang="en-US" dirty="0">
              <a:solidFill>
                <a:schemeClr val="tx1"/>
              </a:solidFill>
            </a:endParaRPr>
          </a:p>
          <a:p>
            <a:pPr algn="l"/>
            <a:r>
              <a:rPr kumimoji="1" lang="en-US" altLang="zh-CN" dirty="0">
                <a:solidFill>
                  <a:schemeClr val="tx1"/>
                </a:solidFill>
              </a:rPr>
              <a:t>2.2 RDD</a:t>
            </a:r>
            <a:r>
              <a:rPr kumimoji="1" lang="zh-CN" altLang="en-US" dirty="0">
                <a:solidFill>
                  <a:schemeClr val="tx1"/>
                </a:solidFill>
              </a:rPr>
              <a:t>的创建</a:t>
            </a:r>
            <a:endParaRPr kumimoji="1" lang="zh-CN" altLang="en-US" dirty="0">
              <a:solidFill>
                <a:schemeClr val="tx1"/>
              </a:solidFill>
            </a:endParaRPr>
          </a:p>
          <a:p>
            <a:pPr algn="l"/>
            <a:r>
              <a:rPr kumimoji="1" lang="en-US" altLang="zh-CN" dirty="0">
                <a:solidFill>
                  <a:schemeClr val="tx1"/>
                </a:solidFill>
              </a:rPr>
              <a:t>2.3 </a:t>
            </a:r>
            <a:r>
              <a:rPr kumimoji="1" lang="zh-CN" altLang="en-US" dirty="0">
                <a:solidFill>
                  <a:schemeClr val="tx1"/>
                </a:solidFill>
              </a:rPr>
              <a:t>算子</a:t>
            </a:r>
            <a:endParaRPr kumimoji="1" lang="zh-CN" altLang="en-US" dirty="0">
              <a:solidFill>
                <a:schemeClr val="tx1"/>
              </a:solidFill>
            </a:endParaRPr>
          </a:p>
          <a:p>
            <a:pPr algn="l"/>
            <a:r>
              <a:rPr kumimoji="1" lang="en-US" altLang="zh-CN" dirty="0">
                <a:solidFill>
                  <a:schemeClr val="tx1"/>
                </a:solidFill>
              </a:rPr>
              <a:t>2.4 </a:t>
            </a:r>
            <a:r>
              <a:rPr kumimoji="1" lang="zh-CN" altLang="en-US" dirty="0">
                <a:solidFill>
                  <a:schemeClr val="tx1"/>
                </a:solidFill>
              </a:rPr>
              <a:t>常用</a:t>
            </a:r>
            <a:r>
              <a:rPr kumimoji="1" lang="en-US" altLang="zh-CN" dirty="0">
                <a:solidFill>
                  <a:schemeClr val="tx1"/>
                </a:solidFill>
              </a:rPr>
              <a:t>Transformation</a:t>
            </a:r>
            <a:r>
              <a:rPr kumimoji="1" lang="zh-CN" altLang="en-US" dirty="0">
                <a:solidFill>
                  <a:schemeClr val="tx1"/>
                </a:solidFill>
              </a:rPr>
              <a:t>算子</a:t>
            </a:r>
            <a:endParaRPr kumimoji="1" lang="zh-CN" altLang="en-US" dirty="0">
              <a:solidFill>
                <a:schemeClr val="tx1"/>
              </a:solidFill>
            </a:endParaRPr>
          </a:p>
          <a:p>
            <a:pPr algn="l"/>
            <a:r>
              <a:rPr kumimoji="1" lang="en-US" altLang="zh-CN" dirty="0">
                <a:solidFill>
                  <a:schemeClr val="tx1"/>
                </a:solidFill>
              </a:rPr>
              <a:t>2.5 </a:t>
            </a:r>
            <a:r>
              <a:rPr kumimoji="1" lang="zh-CN" altLang="en-US" dirty="0">
                <a:solidFill>
                  <a:schemeClr val="tx1"/>
                </a:solidFill>
              </a:rPr>
              <a:t>常用</a:t>
            </a:r>
            <a:r>
              <a:rPr kumimoji="1" lang="en-US" altLang="zh-CN" dirty="0">
                <a:solidFill>
                  <a:schemeClr val="tx1"/>
                </a:solidFill>
              </a:rPr>
              <a:t>Action</a:t>
            </a:r>
            <a:r>
              <a:rPr kumimoji="1" lang="zh-CN" altLang="en-US" dirty="0">
                <a:solidFill>
                  <a:schemeClr val="tx1"/>
                </a:solidFill>
              </a:rPr>
              <a:t>算子</a:t>
            </a:r>
            <a:endParaRPr kumimoji="1" lang="zh-CN" altLang="en-US" dirty="0">
              <a:solidFill>
                <a:schemeClr val="tx1"/>
              </a:solidFill>
            </a:endParaRPr>
          </a:p>
          <a:p>
            <a:pPr algn="l"/>
            <a:r>
              <a:rPr kumimoji="1" lang="en-US" altLang="zh-CN" dirty="0">
                <a:solidFill>
                  <a:schemeClr val="tx1"/>
                </a:solidFill>
              </a:rPr>
              <a:t>2.6 </a:t>
            </a:r>
            <a:r>
              <a:rPr kumimoji="1" lang="zh-CN" altLang="en-US" dirty="0">
                <a:solidFill>
                  <a:schemeClr val="tx1"/>
                </a:solidFill>
              </a:rPr>
              <a:t>分区操作算子</a:t>
            </a:r>
            <a:r>
              <a:rPr kumimoji="1" lang="en-US" altLang="zh-CN" dirty="0">
                <a:solidFill>
                  <a:schemeClr val="tx1"/>
                </a:solidFill>
              </a:rPr>
              <a:t>(Transformation &amp; Action)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l"/>
            <a:r>
              <a:rPr kumimoji="1" lang="en-US" altLang="zh-CN" dirty="0">
                <a:solidFill>
                  <a:schemeClr val="tx1"/>
                </a:solidFill>
              </a:rPr>
              <a:t>2.7 面试题: groupByKey和reduceByKey的区别</a:t>
            </a:r>
            <a:endParaRPr kumimoji="1"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>
                <a:sym typeface="+mn-ea"/>
              </a:rPr>
              <a:t>2.1 </a:t>
            </a:r>
            <a:r>
              <a:rPr kumimoji="1">
                <a:sym typeface="+mn-ea"/>
              </a:rPr>
              <a:t>程序执行入口</a:t>
            </a:r>
            <a:r>
              <a:rPr kumimoji="1" lang="en-US" altLang="zh-CN">
                <a:sym typeface="+mn-ea"/>
              </a:rPr>
              <a:t> SparkContext</a:t>
            </a:r>
            <a:r>
              <a:rPr kumimoji="1">
                <a:sym typeface="+mn-ea"/>
              </a:rPr>
              <a:t>对象</a:t>
            </a:r>
            <a:endParaRPr kumimoji="1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43280" y="3552825"/>
            <a:ext cx="5524500" cy="13525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43280" y="1582420"/>
            <a:ext cx="7533640" cy="13220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 RDD </a:t>
            </a:r>
            <a:r>
              <a:rPr lang="zh-CN" altLang="en-US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编程的程序入口对象是</a:t>
            </a:r>
            <a:r>
              <a:rPr lang="en-US" altLang="zh-CN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SparkContext</a:t>
            </a:r>
            <a:r>
              <a:rPr lang="zh-CN" altLang="en-US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</a:t>
            </a:r>
            <a:r>
              <a:rPr lang="en-US" altLang="zh-CN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不论何种编程语言</a:t>
            </a:r>
            <a:r>
              <a:rPr lang="en-US" altLang="zh-CN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en-US" altLang="zh-CN" sz="1600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600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只有构建出</a:t>
            </a:r>
            <a:r>
              <a:rPr lang="en-US" altLang="zh-CN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SparkContext, </a:t>
            </a:r>
            <a:r>
              <a:rPr lang="zh-CN" altLang="en-US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基于它才能执行后续的</a:t>
            </a:r>
            <a:r>
              <a:rPr lang="en-US" altLang="zh-CN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API</a:t>
            </a:r>
            <a:r>
              <a:rPr lang="zh-CN" altLang="en-US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调用和计算</a:t>
            </a:r>
            <a:endParaRPr lang="zh-CN" altLang="en-US" sz="1600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600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本质上</a:t>
            </a:r>
            <a:r>
              <a:rPr lang="en-US" altLang="zh-CN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SparkContext</a:t>
            </a:r>
            <a:r>
              <a:rPr lang="zh-CN" altLang="en-US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对编程来说</a:t>
            </a:r>
            <a:r>
              <a:rPr lang="en-US" altLang="zh-CN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主要功能就是创建第一个</a:t>
            </a:r>
            <a:r>
              <a:rPr lang="en-US" altLang="zh-CN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RDD</a:t>
            </a:r>
            <a:r>
              <a:rPr lang="zh-CN" altLang="en-US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出来</a:t>
            </a:r>
            <a:endParaRPr lang="zh-CN" altLang="en-US" sz="1600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>
                <a:sym typeface="+mn-ea"/>
              </a:rPr>
              <a:t>2.2 RDD</a:t>
            </a:r>
            <a:r>
              <a:rPr kumimoji="1">
                <a:sym typeface="+mn-ea"/>
              </a:rPr>
              <a:t>的创建</a:t>
            </a:r>
            <a:endParaRPr kumimoji="1">
              <a:sym typeface="+mn-ea"/>
            </a:endParaRPr>
          </a:p>
        </p:txBody>
      </p:sp>
      <p:sp>
        <p:nvSpPr>
          <p:cNvPr id="6" name="文本占位符 5"/>
          <p:cNvSpPr/>
          <p:nvPr>
            <p:ph type="body" sz="quarter" idx="11"/>
          </p:nvPr>
        </p:nvSpPr>
        <p:spPr/>
        <p:txBody>
          <a:bodyPr/>
          <a:p>
            <a:r>
              <a:rPr lang="en-US" altLang="zh-CN"/>
              <a:t>RDD</a:t>
            </a:r>
            <a:r>
              <a:rPr lang="zh-CN" altLang="en-US"/>
              <a:t>的创建主要有</a:t>
            </a:r>
            <a:r>
              <a:rPr lang="en-US" altLang="zh-CN"/>
              <a:t>2</a:t>
            </a:r>
            <a:r>
              <a:rPr lang="zh-CN" altLang="en-US"/>
              <a:t>种方式</a:t>
            </a:r>
            <a:r>
              <a:rPr lang="en-US" altLang="zh-CN"/>
              <a:t>:</a:t>
            </a:r>
            <a:endParaRPr lang="en-US" altLang="zh-CN"/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通过并行化集合创建</a:t>
            </a:r>
            <a:r>
              <a:rPr lang="en-US" altLang="zh-CN"/>
              <a:t> ( </a:t>
            </a:r>
            <a:r>
              <a:rPr lang="zh-CN" altLang="en-US"/>
              <a:t>本地对象</a:t>
            </a:r>
            <a:r>
              <a:rPr lang="en-US" altLang="zh-CN"/>
              <a:t> </a:t>
            </a:r>
            <a:r>
              <a:rPr lang="zh-CN" altLang="en-US"/>
              <a:t>转</a:t>
            </a:r>
            <a:r>
              <a:rPr lang="en-US" altLang="zh-CN"/>
              <a:t> </a:t>
            </a:r>
            <a:r>
              <a:rPr lang="zh-CN" altLang="en-US"/>
              <a:t>分布式</a:t>
            </a:r>
            <a:r>
              <a:rPr lang="en-US" altLang="zh-CN"/>
              <a:t>RDD )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读取外部数据源</a:t>
            </a:r>
            <a:r>
              <a:rPr lang="en-US" altLang="zh-CN"/>
              <a:t> ( </a:t>
            </a:r>
            <a:r>
              <a:rPr lang="zh-CN" altLang="en-US"/>
              <a:t>读取文件</a:t>
            </a:r>
            <a:r>
              <a:rPr lang="en-US" altLang="zh-CN"/>
              <a:t> )</a:t>
            </a:r>
            <a:endParaRPr lang="en-US" altLang="zh-CN"/>
          </a:p>
        </p:txBody>
      </p:sp>
      <p:pic>
        <p:nvPicPr>
          <p:cNvPr id="106" name="图片 105"/>
          <p:cNvPicPr/>
          <p:nvPr/>
        </p:nvPicPr>
        <p:blipFill>
          <a:blip r:embed="rId1"/>
          <a:stretch>
            <a:fillRect/>
          </a:stretch>
        </p:blipFill>
        <p:spPr>
          <a:xfrm>
            <a:off x="710565" y="3737293"/>
            <a:ext cx="6172200" cy="2657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>
                <a:sym typeface="+mn-ea"/>
              </a:rPr>
              <a:t>2.2 RDD</a:t>
            </a:r>
            <a:r>
              <a:rPr kumimoji="1">
                <a:sym typeface="+mn-ea"/>
              </a:rPr>
              <a:t>的创建</a:t>
            </a:r>
            <a:endParaRPr kumimoji="1"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457325"/>
            <a:ext cx="3971925" cy="13430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3146425"/>
            <a:ext cx="4791075" cy="11334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640" y="1779270"/>
            <a:ext cx="6543675" cy="3867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>
                <a:sym typeface="+mn-ea"/>
              </a:rPr>
              <a:t>2.2 RDD</a:t>
            </a:r>
            <a:r>
              <a:rPr kumimoji="1">
                <a:sym typeface="+mn-ea"/>
              </a:rPr>
              <a:t>的创建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350" y="1381760"/>
            <a:ext cx="2524125" cy="2581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>
                <a:sym typeface="+mn-ea"/>
              </a:rPr>
              <a:t>2.2 RDD</a:t>
            </a:r>
            <a:r>
              <a:rPr kumimoji="1">
                <a:sym typeface="+mn-ea"/>
              </a:rPr>
              <a:t>的创建</a:t>
            </a:r>
            <a:endParaRPr kumimoji="1"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2920365"/>
            <a:ext cx="5983605" cy="11258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535" y="1457325"/>
            <a:ext cx="5498465" cy="441452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" y="1457325"/>
            <a:ext cx="1400175" cy="381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65" y="1864995"/>
            <a:ext cx="3505200" cy="647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>
                <a:sym typeface="+mn-ea"/>
              </a:rPr>
              <a:t>2.2 RDD</a:t>
            </a:r>
            <a:r>
              <a:rPr kumimoji="1">
                <a:sym typeface="+mn-ea"/>
              </a:rPr>
              <a:t>的创建</a:t>
            </a:r>
            <a:endParaRPr kumimoji="1"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457325"/>
            <a:ext cx="1466850" cy="4476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1905000"/>
            <a:ext cx="6553200" cy="4676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>
                <a:sym typeface="+mn-ea"/>
              </a:rPr>
              <a:t>2.2 RDD</a:t>
            </a:r>
            <a:r>
              <a:rPr kumimoji="1">
                <a:sym typeface="+mn-ea"/>
              </a:rPr>
              <a:t>的创建</a:t>
            </a:r>
            <a:endParaRPr kumimoji="1"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457325"/>
            <a:ext cx="1466850" cy="44767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2028190"/>
            <a:ext cx="1247775" cy="2476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" y="2399030"/>
            <a:ext cx="6562725" cy="4162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2.3 RDD 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544320"/>
            <a:ext cx="4191000" cy="2238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4389755"/>
            <a:ext cx="3381375" cy="1743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2.3 RDD 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457325"/>
            <a:ext cx="6305550" cy="1333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3248660"/>
            <a:ext cx="6572250" cy="3171825"/>
          </a:xfrm>
          <a:prstGeom prst="rect">
            <a:avLst/>
          </a:prstGeom>
        </p:spPr>
      </p:pic>
      <p:pic>
        <p:nvPicPr>
          <p:cNvPr id="30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795" y="2139315"/>
            <a:ext cx="3905885" cy="2993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2.3 RDD 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107" name="图片 106"/>
          <p:cNvPicPr/>
          <p:nvPr/>
        </p:nvPicPr>
        <p:blipFill>
          <a:blip r:embed="rId1"/>
          <a:stretch>
            <a:fillRect/>
          </a:stretch>
        </p:blipFill>
        <p:spPr>
          <a:xfrm>
            <a:off x="710565" y="2540635"/>
            <a:ext cx="11480800" cy="17767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115" y="2540635"/>
            <a:ext cx="1982470" cy="3543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445" y="2571115"/>
            <a:ext cx="985520" cy="2927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2.4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Transformation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457325"/>
            <a:ext cx="2952750" cy="4191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465" y="1974215"/>
            <a:ext cx="7553325" cy="2762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65" y="2693670"/>
            <a:ext cx="9839325" cy="3409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2.4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Transformation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457325"/>
            <a:ext cx="2952750" cy="4191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85" y="1943100"/>
            <a:ext cx="7730490" cy="45135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455" y="3161030"/>
            <a:ext cx="2903220" cy="2078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2.4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Transformation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415" y="1457325"/>
            <a:ext cx="3781425" cy="9048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15" y="2643505"/>
            <a:ext cx="3724275" cy="15716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210" y="1500505"/>
            <a:ext cx="4914900" cy="3857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2.4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Transformation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035" y="1360805"/>
            <a:ext cx="7324725" cy="952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595" y="2348865"/>
            <a:ext cx="4905375" cy="10953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025" y="2677795"/>
            <a:ext cx="4438650" cy="666750"/>
          </a:xfrm>
          <a:prstGeom prst="rect">
            <a:avLst/>
          </a:prstGeom>
        </p:spPr>
      </p:pic>
      <p:pic>
        <p:nvPicPr>
          <p:cNvPr id="108" name="图片 107"/>
          <p:cNvPicPr/>
          <p:nvPr/>
        </p:nvPicPr>
        <p:blipFill>
          <a:blip r:embed="rId4"/>
          <a:stretch>
            <a:fillRect/>
          </a:stretch>
        </p:blipFill>
        <p:spPr>
          <a:xfrm>
            <a:off x="6055995" y="3611880"/>
            <a:ext cx="5927725" cy="28155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595" y="3611880"/>
            <a:ext cx="5667375" cy="3086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2.4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Transformation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316355"/>
            <a:ext cx="1866900" cy="4191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05" y="1735455"/>
            <a:ext cx="5452110" cy="49790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2.4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Transformation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4085" y="1344930"/>
            <a:ext cx="5962650" cy="47720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1344930"/>
            <a:ext cx="3200400" cy="4381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" y="1783080"/>
            <a:ext cx="2057400" cy="2762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65" y="2207895"/>
            <a:ext cx="5303520" cy="1819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2.4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Transformation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180" y="1457325"/>
            <a:ext cx="2486025" cy="9429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400300"/>
            <a:ext cx="7112635" cy="4188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2.4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Transformation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373505"/>
            <a:ext cx="3181350" cy="9620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05" y="2416175"/>
            <a:ext cx="2781300" cy="9048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880" y="1466850"/>
            <a:ext cx="4876800" cy="3924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2.4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Transformation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445" y="1375410"/>
            <a:ext cx="3133725" cy="9048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95" y="2519045"/>
            <a:ext cx="1943100" cy="7334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600" y="1617345"/>
            <a:ext cx="4400550" cy="43338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95" y="3491230"/>
            <a:ext cx="3381375" cy="2924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330325"/>
            <a:ext cx="2762250" cy="3905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" y="1828800"/>
            <a:ext cx="3933825" cy="6381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2662555"/>
            <a:ext cx="3209925" cy="11239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842385"/>
            <a:ext cx="8020050" cy="2695575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algn="l"/>
            <a:r>
              <a:rPr kumimoji="1" lang="en-US">
                <a:sym typeface="+mn-ea"/>
              </a:rPr>
              <a:t>2.4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Transformation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2.4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Transformation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015" y="1457325"/>
            <a:ext cx="3543300" cy="8953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85" y="2435860"/>
            <a:ext cx="2533650" cy="7048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3608070"/>
            <a:ext cx="3857625" cy="1847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2.4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Transformation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015" y="1457325"/>
            <a:ext cx="4076700" cy="9334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15" y="2510790"/>
            <a:ext cx="4352925" cy="7143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15" y="3507105"/>
            <a:ext cx="1323975" cy="714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2.4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Transformation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015" y="1396365"/>
            <a:ext cx="3609975" cy="9334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15" y="2552700"/>
            <a:ext cx="2809875" cy="685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165" y="3622675"/>
            <a:ext cx="6191250" cy="1800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2.4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Transformation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605" y="1457325"/>
            <a:ext cx="3629025" cy="8953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05" y="2421890"/>
            <a:ext cx="7991475" cy="1390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2.4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Transformation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545" y="1402715"/>
            <a:ext cx="3324225" cy="8667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45" y="2463800"/>
            <a:ext cx="6197600" cy="15855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170" y="2010410"/>
            <a:ext cx="5035550" cy="28365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2.4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Transformation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700" y="1369695"/>
            <a:ext cx="733425" cy="4191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74700" y="2216150"/>
            <a:ext cx="11363960" cy="258445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{"id":1,"timestamp":"2019-05-08T01:03.00Z","category":"平板电脑","areaName":"北京","money":"1450"}|{"id":2,"timestamp":"2019-05-08T01:01.00Z","category":"手机","areaName":"北京","money":"1450"}|{"id":3,"timestamp":"2019-05-08T01:03.00Z","category":"手机","areaName":"北京","money":"8412"}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{"id":4,"timestamp":"2019-05-08T05:01.00Z","category":"电脑","areaName":"上海","money":"1513"}|{"id":5,"timestamp":"2019-05-08T01:03.00Z","category":"家电","areaName":"北京","money":"1550"}|{"id":6,"timestamp":"2019-05-08T01:01.00Z","category":"电脑","areaName":"杭州","money":"1550"}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{"id":7,"timestamp":"2019-05-08T01:03.00Z","category":"电脑","areaName":"北京","money":"5611"}|{"id":8,"timestamp":"2019-05-08T03:01.00Z","category":"家电","areaName":"北京","money":"4410"}|{"id":9,"timestamp":"2019-05-08T01:03.00Z","category":"家具","areaName":"郑州","money":"1120"}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{"id":10,"timestamp":"2019-05-08T01:01.00Z","category":"家具","areaName":"北京","money":"6661"}|{"id":11,"timestamp":"2019-05-08T05:03.00Z","category":"家具","areaName":"杭州","money":"1230"}|{"id":12,"timestamp":"2019-05-08T01:01.00Z","category":"书籍","areaName":"北京","money":"5550"}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{"id":13,"timestamp":"2019-05-08T01:03.00Z","category":"书籍","areaName":"北京","money":"5550"}|{"id":14,"timestamp":"2019-05-08T01:01.00Z","category":"电脑","areaName":"北京","money":"1261"}|{"id":15,"timestamp":"2019-05-08T03:03.00Z","category":"电脑","areaName":"杭州","money":"6660"}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{"id":16,"timestamp":"2019-05-08T01:01.00Z","category":"电脑","areaName":"天津","money":"6660"}|{"id":17,"timestamp":"2019-05-08T01:03.00Z","category":"书籍","areaName":"北京","money":"9000"}|{"id":18,"timestamp":"2019-05-08T05:01.00Z","category":"书籍","areaName":"北京","money":"1230"}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{"id":19,"timestamp":"2019-05-08T01:03.00Z","category":"电脑","areaName":"杭州","money":"5551"}|{"id":20,"timestamp":"2019-05-08T01:01.00Z","category":"电脑","areaName":"北京","money":"2450"}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{"id":21,"timestamp":"2019-05-08T01:03.00Z","category":"食品","areaName":"北京","money":"5520"}|{"id":22,"timestamp":"2019-05-08T01:01.00Z","category":"食品","areaName":"北京","money":"6650"}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{"id":23,"timestamp":"2019-05-08T01:03.00Z","category":"服饰","areaName":"杭州","money":"1240"}|{"id":24,"timestamp":"2019-05-08T01:01.00Z","category":"食品","areaName":"天津","money":"5600"}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{"id":25,"timestamp":"2019-05-08T01:03.00Z","category":"食品","areaName":"北京","money":"7801"}|{"id":26,"timestamp":"2019-05-08T01:01.00Z","category":"服饰","areaName":"北京","money":"9000"}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{"id":27,"timestamp":"2019-05-08T01:03.00Z","category":"服饰","areaName":"杭州","money":"5600"}|{"id":28,"timestamp":"2019-05-08T01:01.00Z","category":"食品","areaName":"北京","money":"8000"}|{"id":29,"timestamp":"2019-05-08T02:03.00Z","category":"服饰","areaName":"杭州","money":"7000"}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881505"/>
            <a:ext cx="695325" cy="2667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4868545"/>
            <a:ext cx="6334125" cy="2571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115810" y="4841875"/>
            <a:ext cx="4305300" cy="2755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同时对结果集进行去重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得到北京售卖的商品类别信息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2.4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Transformation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700" y="1369695"/>
            <a:ext cx="733425" cy="4191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70" y="1788795"/>
            <a:ext cx="4846320" cy="4922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2.4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Transformation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374140"/>
            <a:ext cx="2876550" cy="4095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55" y="1856105"/>
            <a:ext cx="7162800" cy="18478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55" y="3703955"/>
            <a:ext cx="6819900" cy="11334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55" y="5199380"/>
            <a:ext cx="7191375" cy="923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2.5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 Action 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605" y="1344295"/>
            <a:ext cx="3362325" cy="9144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05" y="2495550"/>
            <a:ext cx="3810000" cy="1866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2.5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 Action 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495" y="1457325"/>
            <a:ext cx="4981575" cy="9334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95" y="2538730"/>
            <a:ext cx="1276350" cy="695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95" y="3604260"/>
            <a:ext cx="5524500" cy="1819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2.5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 Action 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940" y="1393190"/>
            <a:ext cx="3371850" cy="9048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40" y="2405380"/>
            <a:ext cx="3743325" cy="1371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185" y="2405380"/>
            <a:ext cx="5970270" cy="28886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35" y="4160520"/>
            <a:ext cx="3324225" cy="1133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2.5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 Action 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45" y="1457325"/>
            <a:ext cx="4648200" cy="20955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45" y="3552825"/>
            <a:ext cx="3552825" cy="1905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45" y="5696585"/>
            <a:ext cx="5181600" cy="3048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2285" y="3216275"/>
            <a:ext cx="3752850" cy="1190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2.5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 Action 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25" y="1388110"/>
            <a:ext cx="2076450" cy="9334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25" y="2451735"/>
            <a:ext cx="3133725" cy="904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2.5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 Action 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035" y="1457325"/>
            <a:ext cx="3286125" cy="9429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35" y="2990850"/>
            <a:ext cx="3705225" cy="876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2.5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 Action 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035" y="1457325"/>
            <a:ext cx="5295900" cy="2419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2.5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 Action 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55" y="1457325"/>
            <a:ext cx="3695700" cy="2409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2.5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 Action 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57325"/>
            <a:ext cx="9801225" cy="4905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2.5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 Action 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795" y="1367790"/>
            <a:ext cx="9810750" cy="4762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2.5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 Action 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465" y="1375410"/>
            <a:ext cx="9791700" cy="4533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2.5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 Action 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495" y="1457325"/>
            <a:ext cx="9801225" cy="2809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2.5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 Action 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145" y="1343660"/>
            <a:ext cx="2876550" cy="4000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15" y="1832610"/>
            <a:ext cx="9801225" cy="464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2.5 </a:t>
            </a:r>
            <a:r>
              <a:rPr kumimoji="1">
                <a:sym typeface="+mn-ea"/>
              </a:rPr>
              <a:t>常用</a:t>
            </a:r>
            <a:r>
              <a:rPr kumimoji="1" lang="en-US" altLang="zh-CN">
                <a:sym typeface="+mn-ea"/>
              </a:rPr>
              <a:t> Action </a:t>
            </a:r>
            <a:r>
              <a:rPr kumimoji="1">
                <a:sym typeface="+mn-ea"/>
              </a:rPr>
              <a:t>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457325"/>
            <a:ext cx="3171825" cy="3743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2.6 </a:t>
            </a:r>
            <a:r>
              <a:rPr kumimoji="1">
                <a:sym typeface="+mn-ea"/>
              </a:rPr>
              <a:t>分区操作算子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55674"/>
          <a:stretch>
            <a:fillRect/>
          </a:stretch>
        </p:blipFill>
        <p:spPr>
          <a:xfrm>
            <a:off x="797560" y="1336040"/>
            <a:ext cx="4600575" cy="3968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60" y="1732915"/>
            <a:ext cx="8543925" cy="4810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2.6 </a:t>
            </a:r>
            <a:r>
              <a:rPr kumimoji="1">
                <a:sym typeface="+mn-ea"/>
              </a:rPr>
              <a:t>分区操作算子</a:t>
            </a:r>
            <a:endParaRPr kumimoji="1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b="83485"/>
          <a:stretch>
            <a:fillRect/>
          </a:stretch>
        </p:blipFill>
        <p:spPr>
          <a:xfrm>
            <a:off x="790575" y="1344295"/>
            <a:ext cx="9791700" cy="10382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2258695"/>
            <a:ext cx="8735695" cy="4321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2.6 </a:t>
            </a:r>
            <a:r>
              <a:rPr kumimoji="1">
                <a:sym typeface="+mn-ea"/>
              </a:rPr>
              <a:t>分区操作算子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290" y="1364615"/>
            <a:ext cx="3448050" cy="9620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26640"/>
            <a:ext cx="3990975" cy="2495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2.6 </a:t>
            </a:r>
            <a:r>
              <a:rPr kumimoji="1">
                <a:sym typeface="+mn-ea"/>
              </a:rPr>
              <a:t>分区操作算子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53597"/>
          <a:stretch>
            <a:fillRect/>
          </a:stretch>
        </p:blipFill>
        <p:spPr>
          <a:xfrm>
            <a:off x="796290" y="1364615"/>
            <a:ext cx="3448050" cy="4464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90" y="1811020"/>
            <a:ext cx="7666990" cy="47555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2.6 </a:t>
            </a:r>
            <a:r>
              <a:rPr kumimoji="1">
                <a:sym typeface="+mn-ea"/>
              </a:rPr>
              <a:t>分区操作算子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525" y="1313815"/>
            <a:ext cx="3390900" cy="8858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340610"/>
            <a:ext cx="2476500" cy="914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3475355"/>
            <a:ext cx="2609850" cy="15621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2530" y="2340610"/>
            <a:ext cx="5229225" cy="2838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2.6 </a:t>
            </a:r>
            <a:r>
              <a:rPr kumimoji="1">
                <a:sym typeface="+mn-ea"/>
              </a:rPr>
              <a:t>分区操作算子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575" y="1365885"/>
            <a:ext cx="3209925" cy="9239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" y="2407920"/>
            <a:ext cx="4324350" cy="15621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45" y="4144645"/>
            <a:ext cx="5429250" cy="2428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2.6 </a:t>
            </a:r>
            <a:r>
              <a:rPr kumimoji="1">
                <a:sym typeface="+mn-ea"/>
              </a:rPr>
              <a:t>分区操作算子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20" y="1357630"/>
            <a:ext cx="4933950" cy="9048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" y="2353310"/>
            <a:ext cx="3219450" cy="1333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20" y="3945255"/>
            <a:ext cx="6276975" cy="1352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2.7 </a:t>
            </a:r>
            <a:r>
              <a:rPr kumimoji="1">
                <a:sym typeface="+mn-ea"/>
              </a:rPr>
              <a:t>面试题: groupByKey和reduceByKey的区别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610" y="1457325"/>
            <a:ext cx="4972050" cy="1323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2.7 </a:t>
            </a:r>
            <a:r>
              <a:rPr kumimoji="1">
                <a:sym typeface="+mn-ea"/>
              </a:rPr>
              <a:t>面试题: groupByKey和reduceByKey的区别</a:t>
            </a:r>
            <a:endParaRPr kumimoji="1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905" y="1348105"/>
            <a:ext cx="6038850" cy="1333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785" y="2299335"/>
            <a:ext cx="6454140" cy="38404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490" y="6139815"/>
            <a:ext cx="4269740" cy="622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2.7 </a:t>
            </a:r>
            <a:r>
              <a:rPr kumimoji="1">
                <a:sym typeface="+mn-ea"/>
              </a:rPr>
              <a:t>面试题: groupByKey和reduceByKey的区别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60" y="1321435"/>
            <a:ext cx="1485900" cy="2476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60" y="1569085"/>
            <a:ext cx="4650740" cy="27654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415" y="4677410"/>
            <a:ext cx="3705225" cy="13811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365" y="2612390"/>
            <a:ext cx="4010025" cy="2647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5126584" y="1463040"/>
            <a:ext cx="5917934" cy="451104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6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1. RDD</a:t>
            </a:r>
            <a:r>
              <a:rPr lang="zh-CN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创建有哪几种方法</a:t>
            </a:r>
            <a:r>
              <a:rPr lang="zh-CN" sz="16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？</a:t>
            </a:r>
            <a:endParaRPr lang="zh-CN" sz="1600" dirty="0" smtClean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0" indent="0">
              <a:buNone/>
            </a:pPr>
            <a:r>
              <a:rPr lang="zh-CN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通过并行化集合的方式</a:t>
            </a:r>
            <a:r>
              <a:rPr lang="en-US" altLang="zh-CN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(</a:t>
            </a:r>
            <a:r>
              <a:rPr lang="zh-CN" altLang="en-US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本地集合转分布式集合</a:t>
            </a:r>
            <a:r>
              <a:rPr lang="en-US" altLang="zh-CN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)</a:t>
            </a:r>
            <a:endParaRPr lang="en-US" altLang="zh-CN" sz="1000" dirty="0" smtClean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或者读取数据的方式创建</a:t>
            </a:r>
            <a:r>
              <a:rPr lang="en-US" altLang="zh-CN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(TextFile\WholeTextFile)</a:t>
            </a:r>
            <a:endParaRPr sz="1000" dirty="0">
              <a:sym typeface="+mn-ea"/>
            </a:endParaRPr>
          </a:p>
          <a:p>
            <a:pPr marL="0" indent="0">
              <a:buNone/>
            </a:pPr>
            <a:r>
              <a:rPr lang="en-US" sz="1600">
                <a:sym typeface="+mn-ea"/>
              </a:rPr>
              <a:t>2. RDD</a:t>
            </a:r>
            <a:r>
              <a:rPr lang="zh-CN" altLang="en-US" sz="1600">
                <a:sym typeface="+mn-ea"/>
              </a:rPr>
              <a:t>分区数如何查看？</a:t>
            </a:r>
            <a:endParaRPr lang="zh-CN" altLang="en-US" sz="1600">
              <a:sym typeface="+mn-ea"/>
            </a:endParaRPr>
          </a:p>
          <a:p>
            <a:pPr marL="0" indent="0">
              <a:buNone/>
            </a:pPr>
            <a:r>
              <a:rPr lang="zh-CN" altLang="en-US" sz="1000" dirty="0" smtClean="0"/>
              <a:t>通过</a:t>
            </a:r>
            <a:r>
              <a:rPr lang="en-US" altLang="zh-CN" sz="1000" dirty="0" smtClean="0"/>
              <a:t> </a:t>
            </a:r>
            <a:r>
              <a:rPr lang="zh-CN" altLang="en-US" sz="1000" dirty="0" smtClean="0"/>
              <a:t>getNumPartitions</a:t>
            </a:r>
            <a:r>
              <a:rPr lang="en-US" altLang="zh-CN" sz="1000" dirty="0" smtClean="0"/>
              <a:t> API </a:t>
            </a:r>
            <a:r>
              <a:rPr lang="zh-CN" altLang="en-US" sz="1000" dirty="0" smtClean="0"/>
              <a:t>查看</a:t>
            </a:r>
            <a:r>
              <a:rPr lang="en-US" altLang="zh-CN" sz="1000" dirty="0" smtClean="0"/>
              <a:t>, </a:t>
            </a:r>
            <a:r>
              <a:rPr lang="zh-CN" altLang="en-US" sz="1000" dirty="0" smtClean="0"/>
              <a:t>返回值</a:t>
            </a:r>
            <a:r>
              <a:rPr lang="en-US" altLang="zh-CN" sz="1000" dirty="0" smtClean="0"/>
              <a:t>Int</a:t>
            </a:r>
            <a:endParaRPr lang="en-US" altLang="zh-CN" sz="1000" dirty="0" smtClean="0"/>
          </a:p>
          <a:p>
            <a:pPr marL="0" indent="0">
              <a:buNone/>
            </a:pPr>
            <a:r>
              <a:rPr lang="en-US" altLang="zh-CN" sz="1600" dirty="0" smtClean="0"/>
              <a:t>3. Transformation </a:t>
            </a:r>
            <a:r>
              <a:rPr lang="zh-CN" altLang="en-US" sz="1600" dirty="0" smtClean="0"/>
              <a:t>和</a:t>
            </a:r>
            <a:r>
              <a:rPr lang="en-US" altLang="zh-CN" sz="1600" dirty="0" smtClean="0"/>
              <a:t> Action</a:t>
            </a:r>
            <a:r>
              <a:rPr lang="zh-CN" altLang="en-US" sz="1600" dirty="0" smtClean="0"/>
              <a:t>的区别</a:t>
            </a:r>
            <a:r>
              <a:rPr lang="en-US" altLang="zh-CN" sz="1600" dirty="0" smtClean="0"/>
              <a:t>?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zh-CN" altLang="en-US" sz="1000" dirty="0" smtClean="0"/>
              <a:t>转换算子的返回值</a:t>
            </a:r>
            <a:r>
              <a:rPr lang="en-US" altLang="zh-CN" sz="1000" dirty="0" smtClean="0"/>
              <a:t>100%</a:t>
            </a:r>
            <a:r>
              <a:rPr lang="zh-CN" altLang="en-US" sz="1000" dirty="0" smtClean="0"/>
              <a:t>是</a:t>
            </a:r>
            <a:r>
              <a:rPr lang="en-US" altLang="zh-CN" sz="1000" dirty="0" smtClean="0"/>
              <a:t>RDD, </a:t>
            </a:r>
            <a:r>
              <a:rPr lang="zh-CN" altLang="en-US" sz="1000" dirty="0" smtClean="0"/>
              <a:t>而</a:t>
            </a:r>
            <a:r>
              <a:rPr lang="en-US" altLang="zh-CN" sz="1000" dirty="0" smtClean="0"/>
              <a:t>Action</a:t>
            </a:r>
            <a:r>
              <a:rPr lang="zh-CN" altLang="en-US" sz="1000" dirty="0" smtClean="0"/>
              <a:t>算子的返回值</a:t>
            </a:r>
            <a:r>
              <a:rPr lang="en-US" altLang="zh-CN" sz="1000" dirty="0" smtClean="0"/>
              <a:t>100%</a:t>
            </a:r>
            <a:r>
              <a:rPr lang="zh-CN" altLang="en-US" sz="1000" dirty="0" smtClean="0"/>
              <a:t>不是</a:t>
            </a:r>
            <a:r>
              <a:rPr lang="en-US" altLang="zh-CN" sz="1000" dirty="0" smtClean="0"/>
              <a:t>RDD.</a:t>
            </a:r>
            <a:endParaRPr lang="en-US" altLang="zh-CN" sz="1000" dirty="0" smtClean="0"/>
          </a:p>
          <a:p>
            <a:pPr marL="0" indent="0">
              <a:buNone/>
            </a:pPr>
            <a:r>
              <a:rPr lang="zh-CN" altLang="en-US" sz="1000" dirty="0" smtClean="0"/>
              <a:t>转换算子是懒加载的</a:t>
            </a:r>
            <a:r>
              <a:rPr lang="en-US" altLang="zh-CN" sz="1000" dirty="0" smtClean="0"/>
              <a:t>, </a:t>
            </a:r>
            <a:r>
              <a:rPr lang="zh-CN" altLang="en-US" sz="1000" dirty="0" smtClean="0"/>
              <a:t>只有遇到</a:t>
            </a:r>
            <a:r>
              <a:rPr lang="en-US" altLang="zh-CN" sz="1000" dirty="0" smtClean="0"/>
              <a:t>Action</a:t>
            </a:r>
            <a:r>
              <a:rPr lang="zh-CN" altLang="en-US" sz="1000" dirty="0" smtClean="0"/>
              <a:t>才会执行</a:t>
            </a:r>
            <a:r>
              <a:rPr lang="en-US" altLang="zh-CN" sz="1000" dirty="0" smtClean="0"/>
              <a:t>. Action</a:t>
            </a:r>
            <a:r>
              <a:rPr lang="zh-CN" altLang="en-US" sz="1000" dirty="0" smtClean="0"/>
              <a:t>就是转换算子处理链条的开关</a:t>
            </a:r>
            <a:r>
              <a:rPr lang="en-US" altLang="zh-CN" sz="1000" dirty="0" smtClean="0"/>
              <a:t>.</a:t>
            </a:r>
            <a:endParaRPr lang="en-US" altLang="zh-CN" sz="1000" dirty="0" smtClean="0"/>
          </a:p>
          <a:p>
            <a:pPr marL="0" indent="0">
              <a:buNone/>
            </a:pPr>
            <a:r>
              <a:rPr lang="en-US" altLang="zh-CN" sz="1600" dirty="0" smtClean="0"/>
              <a:t>4. </a:t>
            </a:r>
            <a:r>
              <a:rPr lang="zh-CN" altLang="en-US" sz="1600" dirty="0" smtClean="0"/>
              <a:t>哪两个</a:t>
            </a:r>
            <a:r>
              <a:rPr lang="en-US" altLang="zh-CN" sz="1600" dirty="0" smtClean="0"/>
              <a:t>Action</a:t>
            </a:r>
            <a:r>
              <a:rPr lang="zh-CN" altLang="en-US" sz="1600" dirty="0" smtClean="0"/>
              <a:t>算子的结果不经过</a:t>
            </a:r>
            <a:r>
              <a:rPr lang="en-US" altLang="zh-CN" sz="1600" dirty="0" smtClean="0"/>
              <a:t>Driver, </a:t>
            </a:r>
            <a:r>
              <a:rPr lang="zh-CN" altLang="en-US" sz="1600" dirty="0" smtClean="0"/>
              <a:t>直接输出</a:t>
            </a:r>
            <a:r>
              <a:rPr lang="en-US" altLang="zh-CN" sz="1600" dirty="0" smtClean="0"/>
              <a:t>?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000" dirty="0" smtClean="0"/>
              <a:t>foreach </a:t>
            </a:r>
            <a:r>
              <a:rPr lang="zh-CN" altLang="en-US" sz="1000" dirty="0" smtClean="0"/>
              <a:t>和</a:t>
            </a:r>
            <a:r>
              <a:rPr lang="en-US" altLang="zh-CN" sz="1000" dirty="0" smtClean="0"/>
              <a:t> saveAsTextFile </a:t>
            </a:r>
            <a:r>
              <a:rPr lang="zh-CN" altLang="en-US" sz="1000" dirty="0" smtClean="0"/>
              <a:t>直接由</a:t>
            </a:r>
            <a:r>
              <a:rPr lang="en-US" altLang="zh-CN" sz="1000" dirty="0" smtClean="0"/>
              <a:t>Executor</a:t>
            </a:r>
            <a:r>
              <a:rPr lang="zh-CN" altLang="en-US" sz="1000" dirty="0" smtClean="0"/>
              <a:t>执行后输出</a:t>
            </a:r>
            <a:endParaRPr lang="zh-CN" altLang="en-US" sz="1000" dirty="0" smtClean="0"/>
          </a:p>
          <a:p>
            <a:pPr marL="0" indent="0">
              <a:buNone/>
            </a:pPr>
            <a:r>
              <a:rPr lang="zh-CN" altLang="en-US" sz="1000" dirty="0" smtClean="0"/>
              <a:t>不会将结果发送到</a:t>
            </a:r>
            <a:r>
              <a:rPr lang="en-US" altLang="zh-CN" sz="1000" dirty="0" smtClean="0"/>
              <a:t>Driver</a:t>
            </a:r>
            <a:r>
              <a:rPr lang="zh-CN" altLang="en-US" sz="1000" dirty="0" smtClean="0"/>
              <a:t>上去</a:t>
            </a:r>
            <a:endParaRPr lang="zh-CN" altLang="en-US" sz="1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5126584" y="1463040"/>
            <a:ext cx="5917934" cy="451104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600" dirty="0" smtClean="0"/>
              <a:t>5. reduceByKey </a:t>
            </a:r>
            <a:r>
              <a:rPr lang="zh-CN" altLang="en-US" sz="1600" dirty="0" smtClean="0"/>
              <a:t>和</a:t>
            </a:r>
            <a:r>
              <a:rPr lang="en-US" altLang="zh-CN" sz="1600" dirty="0" smtClean="0"/>
              <a:t> groupByKey</a:t>
            </a:r>
            <a:r>
              <a:rPr lang="zh-CN" altLang="en-US" sz="1600" dirty="0" smtClean="0"/>
              <a:t>的区别</a:t>
            </a:r>
            <a:r>
              <a:rPr lang="en-US" altLang="zh-CN" sz="1600" dirty="0" smtClean="0"/>
              <a:t>?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000" dirty="0" smtClean="0"/>
              <a:t>reduceByKey</a:t>
            </a:r>
            <a:r>
              <a:rPr lang="zh-CN" altLang="en-US" sz="1000" dirty="0" smtClean="0"/>
              <a:t>自带聚合逻辑</a:t>
            </a:r>
            <a:r>
              <a:rPr lang="en-US" altLang="zh-CN" sz="1000" dirty="0" smtClean="0"/>
              <a:t>, groupByKey</a:t>
            </a:r>
            <a:r>
              <a:rPr lang="zh-CN" altLang="en-US" sz="1000" dirty="0" smtClean="0"/>
              <a:t>不带</a:t>
            </a:r>
            <a:endParaRPr lang="zh-CN" altLang="en-US" sz="1000" dirty="0" smtClean="0"/>
          </a:p>
          <a:p>
            <a:pPr marL="0" indent="0">
              <a:buNone/>
            </a:pPr>
            <a:r>
              <a:rPr lang="zh-CN" altLang="en-US" sz="1000" dirty="0" smtClean="0"/>
              <a:t>如果做数据聚合</a:t>
            </a:r>
            <a:r>
              <a:rPr lang="en-US" altLang="zh-CN" sz="1000" dirty="0" smtClean="0"/>
              <a:t>reduceByKey</a:t>
            </a:r>
            <a:r>
              <a:rPr lang="zh-CN" altLang="en-US" sz="1000" dirty="0" smtClean="0"/>
              <a:t>的效率更好</a:t>
            </a:r>
            <a:r>
              <a:rPr lang="en-US" altLang="zh-CN" sz="1000" dirty="0" smtClean="0"/>
              <a:t>, </a:t>
            </a:r>
            <a:r>
              <a:rPr lang="zh-CN" altLang="en-US" sz="1000" dirty="0" smtClean="0"/>
              <a:t>因为可以先聚合后</a:t>
            </a:r>
            <a:r>
              <a:rPr lang="en-US" altLang="zh-CN" sz="1000" dirty="0" smtClean="0"/>
              <a:t>shuffle</a:t>
            </a:r>
            <a:r>
              <a:rPr lang="zh-CN" altLang="en-US" sz="1000" dirty="0" smtClean="0"/>
              <a:t>再最终聚合</a:t>
            </a:r>
            <a:r>
              <a:rPr lang="en-US" altLang="zh-CN" sz="1000" dirty="0" smtClean="0"/>
              <a:t>, </a:t>
            </a:r>
            <a:r>
              <a:rPr lang="zh-CN" altLang="en-US" sz="1000" dirty="0" smtClean="0"/>
              <a:t>传输的</a:t>
            </a:r>
            <a:r>
              <a:rPr lang="en-US" altLang="zh-CN" sz="1000" dirty="0" smtClean="0"/>
              <a:t>IO</a:t>
            </a:r>
            <a:r>
              <a:rPr lang="zh-CN" altLang="en-US" sz="1000" dirty="0" smtClean="0"/>
              <a:t>小</a:t>
            </a:r>
            <a:endParaRPr lang="en-US" altLang="zh-CN" sz="1000" dirty="0" smtClean="0"/>
          </a:p>
          <a:p>
            <a:pPr marL="0" indent="0">
              <a:buNone/>
            </a:pPr>
            <a:r>
              <a:rPr lang="en-US" altLang="zh-CN" sz="1600" dirty="0" smtClean="0"/>
              <a:t>6. mapPartitions </a:t>
            </a:r>
            <a:r>
              <a:rPr lang="zh-CN" altLang="en-US" sz="1600" dirty="0" smtClean="0"/>
              <a:t>和</a:t>
            </a:r>
            <a:r>
              <a:rPr lang="en-US" altLang="zh-CN" sz="1600" dirty="0" smtClean="0"/>
              <a:t> foreachPartition </a:t>
            </a:r>
            <a:r>
              <a:rPr lang="zh-CN" altLang="en-US" sz="1600" dirty="0" smtClean="0"/>
              <a:t>的区别</a:t>
            </a:r>
            <a:r>
              <a:rPr lang="en-US" altLang="zh-CN" sz="1600" dirty="0" smtClean="0"/>
              <a:t>?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000" dirty="0" smtClean="0">
                <a:sym typeface="+mn-ea"/>
              </a:rPr>
              <a:t>mapPartitions </a:t>
            </a:r>
            <a:r>
              <a:rPr lang="zh-CN" altLang="en-US" sz="1000" dirty="0" smtClean="0">
                <a:sym typeface="+mn-ea"/>
              </a:rPr>
              <a:t>带有返回值</a:t>
            </a:r>
            <a:r>
              <a:rPr lang="en-US" altLang="zh-CN" sz="1000" dirty="0" smtClean="0">
                <a:sym typeface="+mn-ea"/>
              </a:rPr>
              <a:t> foreachPartition</a:t>
            </a:r>
            <a:r>
              <a:rPr lang="zh-CN" altLang="en-US" sz="1000" dirty="0" smtClean="0">
                <a:sym typeface="+mn-ea"/>
              </a:rPr>
              <a:t>不带</a:t>
            </a:r>
            <a:endParaRPr lang="en-US" altLang="zh-CN" sz="1000" dirty="0" smtClean="0"/>
          </a:p>
          <a:p>
            <a:pPr marL="0" indent="0">
              <a:buNone/>
            </a:pPr>
            <a:r>
              <a:rPr lang="en-US" altLang="zh-CN" sz="1600" dirty="0" smtClean="0"/>
              <a:t>7. </a:t>
            </a:r>
            <a:r>
              <a:rPr lang="zh-CN" altLang="en-US" sz="1600" dirty="0" smtClean="0"/>
              <a:t>对于分区操作有什么要注意的地方</a:t>
            </a:r>
            <a:r>
              <a:rPr lang="en-US" altLang="zh-CN" sz="1600" dirty="0" smtClean="0"/>
              <a:t>?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zh-CN" altLang="en-US" sz="1000" dirty="0" smtClean="0"/>
              <a:t>尽量不要改分区</a:t>
            </a:r>
            <a:r>
              <a:rPr lang="zh-CN" altLang="en-US" sz="1000" dirty="0" smtClean="0"/>
              <a:t>数量</a:t>
            </a:r>
            <a:endParaRPr lang="zh-CN" altLang="en-US" sz="1000" dirty="0" smtClean="0"/>
          </a:p>
          <a:p>
            <a:pPr marL="0" indent="0">
              <a:buNone/>
            </a:pPr>
            <a:r>
              <a:rPr lang="zh-CN" altLang="en-US" sz="1000" dirty="0" smtClean="0"/>
              <a:t>增加：有可能（很大可能）增加</a:t>
            </a:r>
            <a:r>
              <a:rPr lang="en-US" altLang="zh-CN" sz="1000" dirty="0" smtClean="0"/>
              <a:t>shuffle</a:t>
            </a:r>
            <a:endParaRPr lang="en-US" altLang="zh-CN" sz="1000" dirty="0" smtClean="0"/>
          </a:p>
          <a:p>
            <a:pPr marL="0" indent="0">
              <a:buNone/>
            </a:pPr>
            <a:r>
              <a:rPr lang="zh-CN" altLang="en-US" sz="1000" dirty="0" smtClean="0"/>
              <a:t>减少：有可能破坏内存迭代的管道排布，减少内存迭代的</a:t>
            </a:r>
            <a:r>
              <a:rPr lang="zh-CN" altLang="en-US" sz="1000" dirty="0" smtClean="0"/>
              <a:t>比例</a:t>
            </a:r>
            <a:endParaRPr lang="zh-CN" altLang="en-US" sz="1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4920615" y="2699703"/>
            <a:ext cx="6725920" cy="548322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 </a:t>
            </a:r>
            <a: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RDD的持久化 </a:t>
            </a:r>
            <a:endParaRPr lang="zh-CN" altLang="en-US" dirty="0"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z="240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第三章</a:t>
            </a:r>
            <a:endParaRPr lang="zh-CN" altLang="en-US" sz="240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01895" y="993140"/>
            <a:ext cx="5973445" cy="4728845"/>
          </a:xfrm>
        </p:spPr>
        <p:txBody>
          <a:bodyPr/>
          <a:lstStyle/>
          <a:p>
            <a:pPr algn="l"/>
            <a:r>
              <a:rPr kumimoji="1" lang="en-US" dirty="0"/>
              <a:t>3.1 RDD 的数据是过程数据</a:t>
            </a:r>
            <a:endParaRPr kumimoji="1" lang="en-US" dirty="0"/>
          </a:p>
          <a:p>
            <a:pPr algn="l"/>
            <a:r>
              <a:rPr kumimoji="1" lang="en-US" altLang="zh-CN" dirty="0"/>
              <a:t>3.2 RDD </a:t>
            </a:r>
            <a:r>
              <a:rPr kumimoji="1" lang="zh-CN" altLang="en-US" dirty="0"/>
              <a:t>缓存</a:t>
            </a:r>
            <a:endParaRPr kumimoji="1" lang="en-US" dirty="0"/>
          </a:p>
          <a:p>
            <a:pPr algn="l"/>
            <a:r>
              <a:rPr lang="en-US" altLang="zh-CN" dirty="0">
                <a:solidFill>
                  <a:schemeClr val="tx1"/>
                </a:solidFill>
              </a:rPr>
              <a:t>3.3 RDD CheckPoint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3.1 RDD 的数据是过程数据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985" y="1391285"/>
            <a:ext cx="7362825" cy="20288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85" y="3420110"/>
            <a:ext cx="9044305" cy="3108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3.2 RDD 的</a:t>
            </a:r>
            <a:r>
              <a:rPr kumimoji="1">
                <a:sym typeface="+mn-ea"/>
              </a:rPr>
              <a:t>缓存</a:t>
            </a:r>
            <a:endParaRPr kumimoji="1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525" y="1457325"/>
            <a:ext cx="5810250" cy="13335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852420"/>
            <a:ext cx="7334250" cy="2095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3061970"/>
            <a:ext cx="8539480" cy="35566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3.2 RDD 的</a:t>
            </a:r>
            <a:r>
              <a:rPr kumimoji="1">
                <a:sym typeface="+mn-ea"/>
              </a:rPr>
              <a:t>缓存</a:t>
            </a:r>
            <a:endParaRPr kumimoji="1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b="69381"/>
          <a:stretch>
            <a:fillRect/>
          </a:stretch>
        </p:blipFill>
        <p:spPr>
          <a:xfrm>
            <a:off x="771525" y="1457325"/>
            <a:ext cx="5810250" cy="40830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429385"/>
            <a:ext cx="609600" cy="4095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" y="1929765"/>
            <a:ext cx="6810375" cy="4457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3.2 RDD 的</a:t>
            </a:r>
            <a:r>
              <a:rPr kumimoji="1">
                <a:sym typeface="+mn-ea"/>
              </a:rPr>
              <a:t>缓存</a:t>
            </a:r>
            <a:endParaRPr kumimoji="1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700" y="1365250"/>
            <a:ext cx="1819275" cy="3905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00" y="2046605"/>
            <a:ext cx="9477375" cy="2124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3.2 RDD 的</a:t>
            </a:r>
            <a:r>
              <a:rPr kumimoji="1">
                <a:sym typeface="+mn-ea"/>
              </a:rPr>
              <a:t>缓存</a:t>
            </a:r>
            <a:endParaRPr kumimoji="1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700" y="1365250"/>
            <a:ext cx="1819275" cy="3905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00" y="2151380"/>
            <a:ext cx="9467850" cy="31432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75" y="5468620"/>
            <a:ext cx="6657975" cy="723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3.3 RDD 的</a:t>
            </a:r>
            <a:r>
              <a:rPr kumimoji="1" lang="en-US" altLang="zh-CN">
                <a:sym typeface="+mn-ea"/>
              </a:rPr>
              <a:t>CheckPoint</a:t>
            </a:r>
            <a:endParaRPr kumimoji="1" lang="en-US" altLang="zh-CN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115" y="1457325"/>
            <a:ext cx="3276600" cy="2524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3.3 RDD 的</a:t>
            </a:r>
            <a:r>
              <a:rPr kumimoji="1" lang="en-US" altLang="zh-CN">
                <a:sym typeface="+mn-ea"/>
              </a:rPr>
              <a:t>CheckPoint</a:t>
            </a:r>
            <a:endParaRPr kumimoji="1" lang="en-US" altLang="zh-CN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170" y="1982470"/>
            <a:ext cx="9544050" cy="39433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340" y="5925820"/>
            <a:ext cx="6038850" cy="2857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40" y="1356360"/>
            <a:ext cx="2714625" cy="390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3.3 RDD 的</a:t>
            </a:r>
            <a:r>
              <a:rPr kumimoji="1" lang="en-US" altLang="zh-CN">
                <a:sym typeface="+mn-ea"/>
              </a:rPr>
              <a:t>CheckPoint</a:t>
            </a:r>
            <a:endParaRPr kumimoji="1" lang="en-US" altLang="zh-CN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3823970"/>
            <a:ext cx="9782175" cy="18954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1386205"/>
            <a:ext cx="7324725" cy="1914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en-US">
                <a:sym typeface="+mn-ea"/>
              </a:rPr>
              <a:t>3.3 RDD 的</a:t>
            </a:r>
            <a:r>
              <a:rPr kumimoji="1" lang="en-US" altLang="zh-CN">
                <a:sym typeface="+mn-ea"/>
              </a:rPr>
              <a:t>CheckPoint</a:t>
            </a:r>
            <a:endParaRPr kumimoji="1" lang="en-US" altLang="zh-CN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372870"/>
            <a:ext cx="9829800" cy="3276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1. Cache</a:t>
            </a:r>
            <a:r>
              <a:rPr lang="zh-CN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和</a:t>
            </a:r>
            <a:r>
              <a:rPr lang="en-US" altLang="zh-CN" sz="16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Checkpoint</a:t>
            </a:r>
            <a:r>
              <a:rPr lang="zh-CN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区别</a:t>
            </a:r>
            <a:endParaRPr lang="zh-CN" altLang="en-US" sz="1600" dirty="0" smtClean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zh-CN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Cache</a:t>
            </a:r>
            <a:r>
              <a:rPr lang="zh-CN" altLang="en-US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是轻量化保存</a:t>
            </a:r>
            <a:r>
              <a:rPr lang="en-US" altLang="zh-CN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RDD</a:t>
            </a:r>
            <a:r>
              <a:rPr lang="zh-CN" altLang="en-US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数据</a:t>
            </a:r>
            <a:r>
              <a:rPr lang="en-US" altLang="zh-CN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, </a:t>
            </a:r>
            <a:r>
              <a:rPr lang="zh-CN" altLang="en-US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可存储在内存和硬盘</a:t>
            </a:r>
            <a:r>
              <a:rPr lang="en-US" altLang="zh-CN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, </a:t>
            </a:r>
            <a:r>
              <a:rPr lang="zh-CN" altLang="en-US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是分散存储</a:t>
            </a:r>
            <a:r>
              <a:rPr lang="en-US" altLang="zh-CN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, </a:t>
            </a:r>
            <a:r>
              <a:rPr lang="zh-CN" altLang="en-US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设计上数据是不安全的</a:t>
            </a:r>
            <a:r>
              <a:rPr lang="en-US" altLang="zh-CN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(</a:t>
            </a:r>
            <a:r>
              <a:rPr lang="zh-CN" altLang="en-US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保留</a:t>
            </a:r>
            <a:r>
              <a:rPr lang="en-US" altLang="zh-CN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RDD</a:t>
            </a:r>
            <a:r>
              <a:rPr lang="zh-CN" altLang="en-US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血缘关系</a:t>
            </a:r>
            <a:r>
              <a:rPr lang="en-US" altLang="zh-CN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)</a:t>
            </a:r>
            <a:endParaRPr lang="zh-CN" altLang="en-US" sz="1000" dirty="0" smtClean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zh-CN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CheckPoint</a:t>
            </a:r>
            <a:r>
              <a:rPr lang="zh-CN" altLang="en-US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是重量级保存</a:t>
            </a:r>
            <a:r>
              <a:rPr lang="en-US" altLang="zh-CN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RDD</a:t>
            </a:r>
            <a:r>
              <a:rPr lang="zh-CN" altLang="en-US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数据</a:t>
            </a:r>
            <a:r>
              <a:rPr lang="en-US" altLang="zh-CN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, </a:t>
            </a:r>
            <a:r>
              <a:rPr lang="zh-CN" altLang="en-US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是集中存储</a:t>
            </a:r>
            <a:r>
              <a:rPr lang="en-US" altLang="zh-CN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, </a:t>
            </a:r>
            <a:r>
              <a:rPr lang="zh-CN" altLang="en-US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只能存储在硬盘</a:t>
            </a:r>
            <a:r>
              <a:rPr lang="en-US" altLang="zh-CN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(HDFS)</a:t>
            </a:r>
            <a:r>
              <a:rPr lang="zh-CN" altLang="en-US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上</a:t>
            </a:r>
            <a:r>
              <a:rPr lang="en-US" altLang="zh-CN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, </a:t>
            </a:r>
            <a:r>
              <a:rPr lang="zh-CN" altLang="en-US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设计上是安全的</a:t>
            </a:r>
            <a:r>
              <a:rPr lang="en-US" altLang="zh-CN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(</a:t>
            </a:r>
            <a:r>
              <a:rPr lang="zh-CN" altLang="en-US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不保留</a:t>
            </a:r>
            <a:r>
              <a:rPr lang="en-US" altLang="zh-CN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RDD</a:t>
            </a:r>
            <a:r>
              <a:rPr lang="zh-CN" altLang="en-US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血缘关系</a:t>
            </a:r>
            <a:r>
              <a:rPr lang="en-US" altLang="zh-CN" sz="10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)</a:t>
            </a:r>
            <a:endParaRPr lang="zh-CN" altLang="en-US" sz="1600" dirty="0" smtClean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0" indent="0">
              <a:buNone/>
            </a:pPr>
            <a:r>
              <a:rPr lang="en-US" sz="1600" dirty="0" smtClean="0"/>
              <a:t>2. Cache </a:t>
            </a:r>
            <a:r>
              <a:rPr lang="zh-CN" altLang="en-US" sz="1600" dirty="0" smtClean="0"/>
              <a:t>和</a:t>
            </a:r>
            <a:r>
              <a:rPr lang="en-US" altLang="zh-CN" sz="1600" dirty="0" smtClean="0"/>
              <a:t> CheckPoint</a:t>
            </a:r>
            <a:r>
              <a:rPr lang="zh-CN" altLang="en-US" sz="1600" dirty="0" smtClean="0"/>
              <a:t>的性能对比</a:t>
            </a:r>
            <a:r>
              <a:rPr lang="en-US" altLang="zh-CN" sz="1600" dirty="0" smtClean="0"/>
              <a:t>?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000" dirty="0" smtClean="0"/>
              <a:t>Cache</a:t>
            </a:r>
            <a:r>
              <a:rPr lang="zh-CN" altLang="en-US" sz="1000" dirty="0" smtClean="0"/>
              <a:t>性能更好</a:t>
            </a:r>
            <a:r>
              <a:rPr lang="en-US" altLang="zh-CN" sz="1000" dirty="0" smtClean="0"/>
              <a:t>, </a:t>
            </a:r>
            <a:r>
              <a:rPr lang="zh-CN" altLang="en-US" sz="1000" dirty="0" smtClean="0"/>
              <a:t>因为是分散存储</a:t>
            </a:r>
            <a:r>
              <a:rPr lang="en-US" altLang="zh-CN" sz="1000" dirty="0" smtClean="0"/>
              <a:t>, </a:t>
            </a:r>
            <a:r>
              <a:rPr lang="zh-CN" altLang="en-US" sz="1000" dirty="0" smtClean="0"/>
              <a:t>各个</a:t>
            </a:r>
            <a:r>
              <a:rPr lang="en-US" altLang="zh-CN" sz="1000" dirty="0" smtClean="0"/>
              <a:t>Executor</a:t>
            </a:r>
            <a:r>
              <a:rPr lang="zh-CN" altLang="en-US" sz="1000" dirty="0" smtClean="0"/>
              <a:t>并行执行</a:t>
            </a:r>
            <a:r>
              <a:rPr lang="en-US" altLang="zh-CN" sz="1000" dirty="0" smtClean="0"/>
              <a:t>, </a:t>
            </a:r>
            <a:r>
              <a:rPr lang="zh-CN" altLang="en-US" sz="1000" dirty="0" smtClean="0"/>
              <a:t>效率高</a:t>
            </a:r>
            <a:r>
              <a:rPr lang="en-US" altLang="zh-CN" sz="1000" dirty="0" smtClean="0"/>
              <a:t>, </a:t>
            </a:r>
            <a:r>
              <a:rPr lang="zh-CN" altLang="en-US" sz="1000" dirty="0" smtClean="0"/>
              <a:t>可以保存到内存中</a:t>
            </a:r>
            <a:r>
              <a:rPr lang="en-US" altLang="zh-CN" sz="1000" dirty="0" smtClean="0"/>
              <a:t>(</a:t>
            </a:r>
            <a:r>
              <a:rPr lang="zh-CN" altLang="en-US" sz="1000" dirty="0" smtClean="0"/>
              <a:t>占内存</a:t>
            </a:r>
            <a:r>
              <a:rPr lang="en-US" altLang="zh-CN" sz="1000" dirty="0" smtClean="0"/>
              <a:t>),</a:t>
            </a:r>
            <a:r>
              <a:rPr lang="zh-CN" altLang="en-US" sz="1000" dirty="0" smtClean="0"/>
              <a:t>更快</a:t>
            </a:r>
            <a:endParaRPr lang="zh-CN" altLang="en-US" sz="1000" dirty="0" smtClean="0"/>
          </a:p>
          <a:p>
            <a:pPr marL="0" indent="0">
              <a:buNone/>
            </a:pPr>
            <a:r>
              <a:rPr lang="en-US" altLang="zh-CN" sz="1000" dirty="0" smtClean="0"/>
              <a:t>CheckPoint</a:t>
            </a:r>
            <a:r>
              <a:rPr lang="zh-CN" altLang="en-US" sz="1000" dirty="0" smtClean="0"/>
              <a:t>比较慢</a:t>
            </a:r>
            <a:r>
              <a:rPr lang="en-US" altLang="zh-CN" sz="1000" dirty="0" smtClean="0"/>
              <a:t>, </a:t>
            </a:r>
            <a:r>
              <a:rPr lang="zh-CN" altLang="en-US" sz="1000" dirty="0" smtClean="0"/>
              <a:t>因为是集中存储</a:t>
            </a:r>
            <a:r>
              <a:rPr lang="en-US" altLang="zh-CN" sz="1000" dirty="0" smtClean="0"/>
              <a:t>, </a:t>
            </a:r>
            <a:r>
              <a:rPr lang="zh-CN" altLang="en-US" sz="1000" dirty="0" smtClean="0"/>
              <a:t>涉及到网络</a:t>
            </a:r>
            <a:r>
              <a:rPr lang="en-US" altLang="zh-CN" sz="1000" dirty="0" smtClean="0"/>
              <a:t>IO, </a:t>
            </a:r>
            <a:r>
              <a:rPr lang="zh-CN" altLang="en-US" sz="1000" dirty="0" smtClean="0"/>
              <a:t>但是存储到</a:t>
            </a:r>
            <a:r>
              <a:rPr lang="en-US" altLang="zh-CN" sz="1000" dirty="0" smtClean="0"/>
              <a:t>HDFS</a:t>
            </a:r>
            <a:r>
              <a:rPr lang="zh-CN" altLang="en-US" sz="1000" dirty="0" smtClean="0"/>
              <a:t>上更加安全</a:t>
            </a:r>
            <a:r>
              <a:rPr lang="en-US" altLang="zh-CN" sz="1000" dirty="0" smtClean="0"/>
              <a:t>(</a:t>
            </a:r>
            <a:r>
              <a:rPr lang="zh-CN" altLang="en-US" sz="1000" dirty="0" smtClean="0"/>
              <a:t>多副本</a:t>
            </a:r>
            <a:r>
              <a:rPr lang="en-US" altLang="zh-CN" sz="1000" dirty="0" smtClean="0"/>
              <a:t>)</a:t>
            </a:r>
            <a:endParaRPr lang="en-US" altLang="zh-CN" sz="1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4920615" y="2699703"/>
            <a:ext cx="6725920" cy="548322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 </a:t>
            </a:r>
            <a: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Spark案例练习</a:t>
            </a:r>
            <a:endParaRPr lang="zh-CN" altLang="en-US" dirty="0"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z="240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第四章</a:t>
            </a:r>
            <a:endParaRPr lang="zh-CN" altLang="en-US" sz="240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01895" y="993140"/>
            <a:ext cx="5973445" cy="4728845"/>
          </a:xfrm>
        </p:spPr>
        <p:txBody>
          <a:bodyPr/>
          <a:lstStyle/>
          <a:p>
            <a:pPr algn="l"/>
            <a:r>
              <a:rPr kumimoji="1" lang="en-US" dirty="0"/>
              <a:t>4.1 </a:t>
            </a:r>
            <a:r>
              <a:rPr kumimoji="1" lang="zh-CN" altLang="en-US" dirty="0"/>
              <a:t>搜索引擎日志分析</a:t>
            </a:r>
            <a:endParaRPr kumimoji="1" lang="zh-CN" altLang="en-US" dirty="0"/>
          </a:p>
          <a:p>
            <a:pPr algn="l"/>
            <a:r>
              <a:rPr kumimoji="1" lang="en-US" altLang="zh-CN" dirty="0">
                <a:solidFill>
                  <a:schemeClr val="tx1"/>
                </a:solidFill>
              </a:rPr>
              <a:t>4.2 </a:t>
            </a:r>
            <a:r>
              <a:rPr kumimoji="1" lang="zh-CN" altLang="en-US" dirty="0">
                <a:solidFill>
                  <a:schemeClr val="tx1"/>
                </a:solidFill>
              </a:rPr>
              <a:t>提交到集群运行</a:t>
            </a:r>
            <a:endParaRPr kumimoji="1" lang="zh-CN" altLang="en-US" dirty="0">
              <a:solidFill>
                <a:schemeClr val="tx1"/>
              </a:solidFill>
            </a:endParaRPr>
          </a:p>
          <a:p>
            <a:pPr algn="l"/>
            <a:r>
              <a:rPr kumimoji="1" lang="en-US" altLang="zh-CN" dirty="0">
                <a:solidFill>
                  <a:schemeClr val="tx1"/>
                </a:solidFill>
              </a:rPr>
              <a:t>4.3 </a:t>
            </a:r>
            <a:r>
              <a:rPr kumimoji="1" lang="zh-CN" altLang="en-US" dirty="0">
                <a:solidFill>
                  <a:schemeClr val="tx1"/>
                </a:solidFill>
              </a:rPr>
              <a:t>作业</a:t>
            </a:r>
            <a:r>
              <a:rPr kumimoji="1" lang="en-US" altLang="zh-CN" dirty="0">
                <a:solidFill>
                  <a:schemeClr val="tx1"/>
                </a:solidFill>
              </a:rPr>
              <a:t>:</a:t>
            </a:r>
            <a:r>
              <a:rPr kumimoji="1" lang="zh-CN" altLang="en-US" dirty="0">
                <a:solidFill>
                  <a:schemeClr val="tx1"/>
                </a:solidFill>
              </a:rPr>
              <a:t>网站日志分析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>
                <a:sym typeface="+mn-ea"/>
              </a:rPr>
              <a:t>4.1 搜索引擎日志分析案例</a:t>
            </a:r>
            <a:endParaRPr kumimoji="1" lang="en-US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457325"/>
            <a:ext cx="9058275" cy="2762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32460" y="1733550"/>
            <a:ext cx="5358765" cy="337185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http://www.sogou.com/labs/resource/q.php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2260600"/>
            <a:ext cx="9772650" cy="1552575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>
                <a:sym typeface="+mn-ea"/>
              </a:rPr>
              <a:t>4.1 搜索引擎日志分析案例</a:t>
            </a:r>
            <a:endParaRPr kumimoji="1" lang="en-US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20" y="1359535"/>
            <a:ext cx="8029575" cy="47434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5395" y="2632710"/>
            <a:ext cx="443865" cy="194945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>
                <a:sym typeface="+mn-ea"/>
              </a:rPr>
              <a:t>4.1 搜索引擎日志分析案例</a:t>
            </a:r>
            <a:endParaRPr kumimoji="1" 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335" y="1384935"/>
            <a:ext cx="5962650" cy="14001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85" y="3105785"/>
            <a:ext cx="5295900" cy="11620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910" y="1424940"/>
            <a:ext cx="4867275" cy="4524375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>
                <a:sym typeface="+mn-ea"/>
              </a:rPr>
              <a:t>4.1 搜索引擎日志分析案例</a:t>
            </a:r>
            <a:endParaRPr kumimoji="1" lang="en-US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875" y="1373505"/>
            <a:ext cx="5191125" cy="5267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605" y="2089150"/>
            <a:ext cx="5191125" cy="4048125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>
                <a:sym typeface="+mn-ea"/>
              </a:rPr>
              <a:t>4.1 搜索引擎日志分析案例</a:t>
            </a:r>
            <a:endParaRPr kumimoji="1" 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40828"/>
          <a:stretch>
            <a:fillRect/>
          </a:stretch>
        </p:blipFill>
        <p:spPr>
          <a:xfrm>
            <a:off x="710565" y="1359535"/>
            <a:ext cx="5581650" cy="37649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60259"/>
          <a:stretch>
            <a:fillRect/>
          </a:stretch>
        </p:blipFill>
        <p:spPr>
          <a:xfrm>
            <a:off x="6521450" y="1359535"/>
            <a:ext cx="5581650" cy="252857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>
                <a:sym typeface="+mn-ea"/>
              </a:rPr>
              <a:t>4.2 </a:t>
            </a:r>
            <a:r>
              <a:rPr kumimoji="1">
                <a:sym typeface="+mn-ea"/>
              </a:rPr>
              <a:t>提交到集群运行</a:t>
            </a:r>
            <a:endParaRPr kumimoji="1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20" y="1649095"/>
            <a:ext cx="97917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>
                <a:sym typeface="+mn-ea"/>
              </a:rPr>
              <a:t>4.2 </a:t>
            </a:r>
            <a:r>
              <a:rPr kumimoji="1">
                <a:sym typeface="+mn-ea"/>
              </a:rPr>
              <a:t>提交到集群运行</a:t>
            </a:r>
            <a:endParaRPr kumimoji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685" y="1314450"/>
            <a:ext cx="9267825" cy="5241925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 anchor="t" anchorCtr="1"/>
          <a:p>
            <a:pPr marL="0" indent="0">
              <a:buNone/>
            </a:pPr>
            <a:r>
              <a:rPr lang="zh-CN" altLang="en-US" sz="1200"/>
              <a:t>在新闻类网站中，经常要衡量一条网络新闻的页面访问量，最常见的就是uv和pv，如果在所有新闻中找到访问最多的前几条新闻，topN是最常见的指标。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/>
              <a:t>在课程资料中有一份数据</a:t>
            </a:r>
            <a:r>
              <a:rPr lang="en-US" altLang="zh-CN" sz="1200"/>
              <a:t>: apache.log</a:t>
            </a:r>
            <a:endParaRPr lang="en-US" altLang="zh-CN" sz="1200"/>
          </a:p>
          <a:p>
            <a:pPr marL="0" indent="0">
              <a:buNone/>
            </a:pPr>
            <a:endParaRPr lang="en-US" altLang="zh-CN" sz="1200"/>
          </a:p>
          <a:p>
            <a:pPr marL="0" indent="0">
              <a:buNone/>
            </a:pPr>
            <a:endParaRPr lang="en-US" altLang="zh-CN" sz="1200"/>
          </a:p>
          <a:p>
            <a:pPr marL="0" indent="0">
              <a:buNone/>
            </a:pPr>
            <a:endParaRPr lang="en-US" altLang="zh-CN" sz="1200"/>
          </a:p>
          <a:p>
            <a:pPr marL="0" indent="0">
              <a:buNone/>
            </a:pPr>
            <a:endParaRPr lang="en-US" altLang="zh-CN" sz="1200"/>
          </a:p>
          <a:p>
            <a:pPr marL="0" indent="0">
              <a:buNone/>
            </a:pPr>
            <a:endParaRPr lang="en-US" altLang="zh-CN" sz="1200"/>
          </a:p>
          <a:p>
            <a:pPr marL="0" indent="0">
              <a:buNone/>
            </a:pPr>
            <a:r>
              <a:rPr lang="zh-CN" altLang="en-US" sz="1200"/>
              <a:t>同学们基于此文件</a:t>
            </a:r>
            <a:r>
              <a:rPr lang="en-US" altLang="zh-CN" sz="1200"/>
              <a:t>, </a:t>
            </a:r>
            <a:r>
              <a:rPr lang="zh-CN" altLang="en-US" sz="1200"/>
              <a:t>完成</a:t>
            </a:r>
            <a:r>
              <a:rPr lang="en-US" altLang="zh-CN" sz="1200"/>
              <a:t>:</a:t>
            </a:r>
            <a:endParaRPr lang="en-US" altLang="zh-CN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计算当前网站访问的</a:t>
            </a:r>
            <a:r>
              <a:rPr lang="en-US" altLang="zh-CN" sz="1200"/>
              <a:t> PV(</a:t>
            </a:r>
            <a:r>
              <a:rPr lang="zh-CN" altLang="en-US" sz="1200"/>
              <a:t>被访问次数</a:t>
            </a:r>
            <a:r>
              <a:rPr lang="en-US" altLang="zh-CN" sz="1200"/>
              <a:t>)</a:t>
            </a:r>
            <a:endParaRPr lang="en-US" altLang="zh-CN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当前访问的</a:t>
            </a:r>
            <a:r>
              <a:rPr lang="en-US" altLang="zh-CN" sz="1200"/>
              <a:t> UV (</a:t>
            </a:r>
            <a:r>
              <a:rPr lang="zh-CN" altLang="en-US" sz="1200"/>
              <a:t>访问的用户数</a:t>
            </a:r>
            <a:r>
              <a:rPr lang="en-US" altLang="zh-CN" sz="1200"/>
              <a:t>)</a:t>
            </a:r>
            <a:endParaRPr lang="en-US" altLang="zh-CN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有哪些</a:t>
            </a:r>
            <a:r>
              <a:rPr lang="en-US" altLang="zh-CN" sz="1200"/>
              <a:t>IP</a:t>
            </a:r>
            <a:r>
              <a:rPr lang="zh-CN" altLang="en-US" sz="1200"/>
              <a:t>访问了本网站</a:t>
            </a:r>
            <a:endParaRPr lang="zh-CN" alt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哪个页面的访问量最高</a:t>
            </a:r>
            <a:endParaRPr lang="zh-CN" altLang="en-US" sz="120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03520" y="2559685"/>
            <a:ext cx="5633085" cy="207518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600" dirty="0" smtClean="0"/>
              <a:t>1.  </a:t>
            </a:r>
            <a:r>
              <a:rPr lang="zh-CN" altLang="en-US" sz="1600" dirty="0" smtClean="0"/>
              <a:t>案例中使用的分词库是</a:t>
            </a:r>
            <a:r>
              <a:rPr lang="en-US" altLang="zh-CN" sz="1600" dirty="0" smtClean="0"/>
              <a:t>?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000" dirty="0" smtClean="0"/>
              <a:t>jieba</a:t>
            </a:r>
            <a:r>
              <a:rPr lang="zh-CN" altLang="en-US" sz="1000" dirty="0" smtClean="0"/>
              <a:t>库</a:t>
            </a:r>
            <a:endParaRPr lang="zh-CN" altLang="en-US" sz="1000" dirty="0" smtClean="0"/>
          </a:p>
          <a:p>
            <a:pPr marL="0" indent="0">
              <a:buNone/>
            </a:pPr>
            <a:r>
              <a:rPr lang="en-US" altLang="zh-CN" sz="1600" dirty="0" smtClean="0"/>
              <a:t>2. </a:t>
            </a:r>
            <a:r>
              <a:rPr lang="zh-CN" altLang="en-US" sz="1600" dirty="0" smtClean="0"/>
              <a:t>为什么要在全部的服务器安装</a:t>
            </a:r>
            <a:r>
              <a:rPr lang="en-US" altLang="zh-CN" sz="1600" dirty="0" smtClean="0"/>
              <a:t>jieba</a:t>
            </a:r>
            <a:r>
              <a:rPr lang="zh-CN" altLang="en-US" sz="1600" dirty="0" smtClean="0"/>
              <a:t>库</a:t>
            </a:r>
            <a:r>
              <a:rPr lang="en-US" altLang="zh-CN" sz="1600" dirty="0" smtClean="0"/>
              <a:t>?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zh-CN" altLang="en-US" sz="1000" dirty="0" smtClean="0"/>
              <a:t>因为</a:t>
            </a:r>
            <a:r>
              <a:rPr lang="en-US" altLang="zh-CN" sz="1000" dirty="0" smtClean="0"/>
              <a:t>YARN</a:t>
            </a:r>
            <a:r>
              <a:rPr lang="zh-CN" altLang="en-US" sz="1000" dirty="0" smtClean="0"/>
              <a:t>是集群运行</a:t>
            </a:r>
            <a:r>
              <a:rPr lang="en-US" altLang="zh-CN" sz="1000" dirty="0" smtClean="0"/>
              <a:t>, Executor</a:t>
            </a:r>
            <a:r>
              <a:rPr lang="zh-CN" altLang="en-US" sz="1000" dirty="0" smtClean="0"/>
              <a:t>可以在所有服务器上执行</a:t>
            </a:r>
            <a:r>
              <a:rPr lang="en-US" altLang="zh-CN" sz="1000" dirty="0" smtClean="0"/>
              <a:t>, </a:t>
            </a:r>
            <a:r>
              <a:rPr lang="zh-CN" altLang="en-US" sz="1000" dirty="0" smtClean="0"/>
              <a:t>所以每个服务器都需要有</a:t>
            </a:r>
            <a:r>
              <a:rPr lang="en-US" altLang="zh-CN" sz="1000" dirty="0" smtClean="0"/>
              <a:t>jieba</a:t>
            </a:r>
            <a:r>
              <a:rPr lang="zh-CN" altLang="en-US" sz="1000" dirty="0" smtClean="0"/>
              <a:t>库提供支撑</a:t>
            </a:r>
            <a:endParaRPr lang="zh-CN" altLang="en-US" sz="1000" dirty="0" smtClean="0"/>
          </a:p>
          <a:p>
            <a:pPr marL="0" indent="0">
              <a:buNone/>
            </a:pPr>
            <a:r>
              <a:rPr lang="en-US" altLang="zh-CN" sz="1600" dirty="0" smtClean="0"/>
              <a:t>3. </a:t>
            </a:r>
            <a:r>
              <a:rPr lang="zh-CN" altLang="en-US" sz="1600" dirty="0" smtClean="0"/>
              <a:t>如何尽量提高任务计算的资源</a:t>
            </a:r>
            <a:r>
              <a:rPr lang="en-US" altLang="zh-CN" sz="1600" dirty="0" smtClean="0"/>
              <a:t>?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zh-CN" altLang="en-US" sz="1000" dirty="0" smtClean="0"/>
              <a:t>计算</a:t>
            </a:r>
            <a:r>
              <a:rPr lang="en-US" altLang="zh-CN" sz="1000" dirty="0" smtClean="0"/>
              <a:t>CPU</a:t>
            </a:r>
            <a:r>
              <a:rPr lang="zh-CN" altLang="en-US" sz="1000" dirty="0" smtClean="0"/>
              <a:t>核心和内存量</a:t>
            </a:r>
            <a:r>
              <a:rPr lang="en-US" altLang="zh-CN" sz="1000" dirty="0" smtClean="0"/>
              <a:t>, </a:t>
            </a:r>
            <a:r>
              <a:rPr lang="zh-CN" altLang="en-US" sz="1000" dirty="0" smtClean="0"/>
              <a:t>通过</a:t>
            </a:r>
            <a:r>
              <a:rPr lang="en-US" altLang="zh-CN" sz="1000" dirty="0" smtClean="0"/>
              <a:t>--executor-memory </a:t>
            </a:r>
            <a:r>
              <a:rPr lang="zh-CN" altLang="en-US" sz="1000" dirty="0" smtClean="0"/>
              <a:t>指定</a:t>
            </a:r>
            <a:r>
              <a:rPr lang="en-US" altLang="zh-CN" sz="1000" dirty="0" smtClean="0"/>
              <a:t>executor</a:t>
            </a:r>
            <a:r>
              <a:rPr lang="zh-CN" altLang="en-US" sz="1000" dirty="0" smtClean="0"/>
              <a:t>内存</a:t>
            </a:r>
            <a:r>
              <a:rPr lang="en-US" altLang="zh-CN" sz="1000" dirty="0" smtClean="0"/>
              <a:t>, </a:t>
            </a:r>
            <a:r>
              <a:rPr lang="zh-CN" altLang="en-US" sz="1000" dirty="0" smtClean="0"/>
              <a:t>通过</a:t>
            </a:r>
            <a:r>
              <a:rPr lang="en-US" altLang="zh-CN" sz="1000" dirty="0" smtClean="0"/>
              <a:t>--executor-cores </a:t>
            </a:r>
            <a:r>
              <a:rPr lang="zh-CN" altLang="en-US" sz="1000" dirty="0" smtClean="0"/>
              <a:t>指定</a:t>
            </a:r>
            <a:r>
              <a:rPr lang="en-US" altLang="zh-CN" sz="1000" dirty="0" smtClean="0"/>
              <a:t>executor</a:t>
            </a:r>
            <a:r>
              <a:rPr lang="zh-CN" altLang="en-US" sz="1000" dirty="0" smtClean="0"/>
              <a:t>的核心数</a:t>
            </a:r>
            <a:endParaRPr lang="zh-CN" altLang="en-US" sz="1000" dirty="0" smtClean="0"/>
          </a:p>
          <a:p>
            <a:pPr marL="0" indent="0">
              <a:buNone/>
            </a:pPr>
            <a:r>
              <a:rPr lang="zh-CN" altLang="en-US" sz="1000" dirty="0" smtClean="0"/>
              <a:t>通过</a:t>
            </a:r>
            <a:r>
              <a:rPr lang="en-US" altLang="zh-CN" sz="1000" dirty="0" smtClean="0"/>
              <a:t>--num-executors </a:t>
            </a:r>
            <a:r>
              <a:rPr lang="zh-CN" altLang="en-US" sz="1000" dirty="0" smtClean="0"/>
              <a:t>指定总</a:t>
            </a:r>
            <a:r>
              <a:rPr lang="en-US" altLang="zh-CN" sz="1000" dirty="0" smtClean="0"/>
              <a:t>executor</a:t>
            </a:r>
            <a:r>
              <a:rPr lang="zh-CN" altLang="en-US" sz="1000" dirty="0" smtClean="0"/>
              <a:t>数量</a:t>
            </a:r>
            <a:endParaRPr lang="zh-CN" altLang="en-US" sz="1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4920615" y="2699703"/>
            <a:ext cx="6725920" cy="548322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 </a:t>
            </a:r>
            <a: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共享变量</a:t>
            </a:r>
            <a:endParaRPr lang="zh-CN" altLang="en-US" dirty="0"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z="240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第五章</a:t>
            </a:r>
            <a:endParaRPr lang="zh-CN" altLang="en-US" sz="240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01895" y="993140"/>
            <a:ext cx="5973445" cy="4728845"/>
          </a:xfrm>
        </p:spPr>
        <p:txBody>
          <a:bodyPr/>
          <a:lstStyle/>
          <a:p>
            <a:pPr algn="l"/>
            <a:r>
              <a:rPr kumimoji="1" lang="en-US" dirty="0">
                <a:solidFill>
                  <a:schemeClr val="tx1"/>
                </a:solidFill>
              </a:rPr>
              <a:t>5.1 </a:t>
            </a:r>
            <a:r>
              <a:rPr kumimoji="1" lang="zh-CN" altLang="en-US" dirty="0">
                <a:solidFill>
                  <a:schemeClr val="tx1"/>
                </a:solidFill>
              </a:rPr>
              <a:t>广播变量</a:t>
            </a:r>
            <a:endParaRPr kumimoji="1" lang="zh-CN" altLang="en-US" dirty="0">
              <a:solidFill>
                <a:schemeClr val="tx1"/>
              </a:solidFill>
            </a:endParaRPr>
          </a:p>
          <a:p>
            <a:pPr algn="l"/>
            <a:r>
              <a:rPr kumimoji="1" lang="en-US" altLang="zh-CN" dirty="0">
                <a:solidFill>
                  <a:schemeClr val="tx1"/>
                </a:solidFill>
              </a:rPr>
              <a:t>5.2 </a:t>
            </a:r>
            <a:r>
              <a:rPr kumimoji="1" lang="zh-CN" altLang="en-US" dirty="0">
                <a:solidFill>
                  <a:schemeClr val="tx1"/>
                </a:solidFill>
              </a:rPr>
              <a:t>累加器</a:t>
            </a:r>
            <a:endParaRPr kumimoji="1" lang="zh-CN" altLang="en-US" dirty="0">
              <a:solidFill>
                <a:schemeClr val="tx1"/>
              </a:solidFill>
            </a:endParaRPr>
          </a:p>
          <a:p>
            <a:pPr algn="l"/>
            <a:r>
              <a:rPr kumimoji="1" lang="en-US" altLang="zh-CN" dirty="0">
                <a:solidFill>
                  <a:schemeClr val="tx1"/>
                </a:solidFill>
              </a:rPr>
              <a:t>5.3 </a:t>
            </a:r>
            <a:r>
              <a:rPr kumimoji="1" lang="zh-CN" altLang="en-US" dirty="0">
                <a:solidFill>
                  <a:schemeClr val="tx1"/>
                </a:solidFill>
              </a:rPr>
              <a:t>综合案例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5.1 </a:t>
            </a:r>
            <a:r>
              <a:t>广播变量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343025"/>
            <a:ext cx="1095375" cy="4191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60" y="1828800"/>
            <a:ext cx="5915025" cy="45339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820" y="1390650"/>
            <a:ext cx="3790950" cy="497205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5.1 </a:t>
            </a:r>
            <a:r>
              <a:t>广播变量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343025"/>
            <a:ext cx="1095375" cy="4191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7235" y="1762125"/>
            <a:ext cx="7934960" cy="40767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10" y="5838825"/>
            <a:ext cx="7172325" cy="62865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5.1 </a:t>
            </a:r>
            <a:r>
              <a:t>广播变量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335" y="1363980"/>
            <a:ext cx="7029450" cy="17621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35" y="3126105"/>
            <a:ext cx="5888355" cy="35483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445" y="3375025"/>
            <a:ext cx="4105275" cy="2571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445" y="3702050"/>
            <a:ext cx="293370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5.1 </a:t>
            </a:r>
            <a:r>
              <a:t>广播变量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r="72042" b="73045"/>
          <a:stretch>
            <a:fillRect/>
          </a:stretch>
        </p:blipFill>
        <p:spPr>
          <a:xfrm>
            <a:off x="775335" y="1363980"/>
            <a:ext cx="1965325" cy="4749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35" y="1910715"/>
            <a:ext cx="9839325" cy="2333625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5.1 </a:t>
            </a:r>
            <a:r>
              <a:t>广播变量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335" y="1306830"/>
            <a:ext cx="5795010" cy="53308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010" y="1508125"/>
            <a:ext cx="3825240" cy="4928235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5.2 </a:t>
            </a:r>
            <a:r>
              <a:t>累加器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415" y="1457325"/>
            <a:ext cx="3248025" cy="131445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5.2 </a:t>
            </a:r>
            <a:r>
              <a:t>累加器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955" y="1304925"/>
            <a:ext cx="8893175" cy="519176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5.2 </a:t>
            </a:r>
            <a:r>
              <a:t>累加器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795" y="1457325"/>
            <a:ext cx="5810250" cy="2333625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5.2 </a:t>
            </a:r>
            <a:r>
              <a:t>累加器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16990"/>
            <a:ext cx="1724025" cy="4000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17040"/>
            <a:ext cx="6727190" cy="46799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430" y="1717040"/>
            <a:ext cx="2667000" cy="6858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455" y="2580005"/>
            <a:ext cx="3019425" cy="2571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1430" y="3014345"/>
            <a:ext cx="4953000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5.2 </a:t>
            </a:r>
            <a:r>
              <a:t>累加器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080" y="1312545"/>
            <a:ext cx="1781175" cy="3905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080" y="1826260"/>
            <a:ext cx="9820275" cy="4200525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5.2 </a:t>
            </a:r>
            <a:r>
              <a:t>累加器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080" y="1312545"/>
            <a:ext cx="1781175" cy="3905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080" y="1703070"/>
            <a:ext cx="5981700" cy="226695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5.3 </a:t>
            </a:r>
            <a:r>
              <a:t>综合案例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830" y="1287780"/>
            <a:ext cx="9829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5.3 </a:t>
            </a:r>
            <a:r>
              <a:t>综合案例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590" y="1300480"/>
            <a:ext cx="609600" cy="3619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590" y="1743075"/>
            <a:ext cx="4400550" cy="45408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425" y="1743075"/>
            <a:ext cx="6331585" cy="454025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600" dirty="0" smtClean="0"/>
              <a:t>1. </a:t>
            </a:r>
            <a:r>
              <a:rPr lang="zh-CN" altLang="en-US" sz="1600" dirty="0" smtClean="0"/>
              <a:t>广播变量解决了什么问题</a:t>
            </a:r>
            <a:r>
              <a:rPr lang="en-US" altLang="zh-CN" sz="1600" dirty="0" smtClean="0"/>
              <a:t>?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zh-CN" altLang="en-US" sz="1000" dirty="0" smtClean="0"/>
              <a:t>分布式集合</a:t>
            </a:r>
            <a:r>
              <a:rPr lang="en-US" altLang="zh-CN" sz="1000" dirty="0" smtClean="0"/>
              <a:t>RDD</a:t>
            </a:r>
            <a:r>
              <a:rPr lang="zh-CN" altLang="en-US" sz="1000" dirty="0" smtClean="0"/>
              <a:t>和本地集合进行关联使用的时候</a:t>
            </a:r>
            <a:r>
              <a:rPr lang="en-US" altLang="zh-CN" sz="1000" dirty="0" smtClean="0"/>
              <a:t>, </a:t>
            </a:r>
            <a:r>
              <a:rPr lang="zh-CN" altLang="en-US" sz="1000" dirty="0" smtClean="0"/>
              <a:t>降低内存占用以及减少网络</a:t>
            </a:r>
            <a:r>
              <a:rPr lang="en-US" altLang="zh-CN" sz="1000" dirty="0" smtClean="0"/>
              <a:t>IO</a:t>
            </a:r>
            <a:r>
              <a:rPr lang="zh-CN" altLang="en-US" sz="1000" dirty="0" smtClean="0"/>
              <a:t>传输</a:t>
            </a:r>
            <a:r>
              <a:rPr lang="en-US" altLang="zh-CN" sz="1000" dirty="0" smtClean="0"/>
              <a:t>, </a:t>
            </a:r>
            <a:r>
              <a:rPr lang="zh-CN" altLang="en-US" sz="1000" dirty="0" smtClean="0"/>
              <a:t>提高性能</a:t>
            </a:r>
            <a:r>
              <a:rPr lang="en-US" altLang="zh-CN" sz="1000" dirty="0" smtClean="0"/>
              <a:t>.</a:t>
            </a:r>
            <a:endParaRPr lang="en-US" altLang="zh-CN" sz="1000" dirty="0" smtClean="0"/>
          </a:p>
          <a:p>
            <a:pPr marL="0" indent="0">
              <a:buNone/>
            </a:pPr>
            <a:r>
              <a:rPr lang="en-US" altLang="zh-CN" sz="1600" dirty="0" smtClean="0"/>
              <a:t>2. </a:t>
            </a:r>
            <a:r>
              <a:rPr lang="zh-CN" altLang="en-US" sz="1600" dirty="0" smtClean="0"/>
              <a:t>累加器解决了什么问题</a:t>
            </a:r>
            <a:r>
              <a:rPr lang="en-US" altLang="zh-CN" sz="1600" dirty="0" smtClean="0"/>
              <a:t>?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zh-CN" altLang="en-US" sz="1000" dirty="0" smtClean="0"/>
              <a:t>分布式代码执行中</a:t>
            </a:r>
            <a:r>
              <a:rPr lang="en-US" altLang="zh-CN" sz="1000" dirty="0" smtClean="0"/>
              <a:t>, </a:t>
            </a:r>
            <a:r>
              <a:rPr lang="zh-CN" altLang="en-US" sz="1000" dirty="0" smtClean="0"/>
              <a:t>进行全局累加</a:t>
            </a:r>
            <a:endParaRPr lang="zh-CN" altLang="en-US" sz="1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4920615" y="2699703"/>
            <a:ext cx="6725920" cy="548322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 </a:t>
            </a:r>
            <a: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Spark 内核调度</a:t>
            </a:r>
            <a:r>
              <a:rPr lang="en-US" altLang="zh-CN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(</a:t>
            </a:r>
            <a: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重点理解</a:t>
            </a:r>
            <a:r>
              <a:rPr lang="en-US" altLang="zh-CN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)</a:t>
            </a:r>
            <a:endParaRPr lang="en-US" altLang="zh-CN" dirty="0"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z="240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第六章</a:t>
            </a:r>
            <a:endParaRPr lang="zh-CN" altLang="en-US" sz="240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01895" y="993140"/>
            <a:ext cx="5973445" cy="47288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6.1 DAG</a:t>
            </a:r>
            <a:endParaRPr lang="en-US" altLang="zh-CN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6.2 DAG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的宽窄依赖和阶段划分</a:t>
            </a:r>
            <a:endParaRPr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6.3 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内存迭代计算</a:t>
            </a:r>
            <a:endParaRPr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6.4 Spark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并行度</a:t>
            </a:r>
            <a:endParaRPr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6.5 Spark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任务调度</a:t>
            </a:r>
            <a:endParaRPr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6.6 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拓展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- Spark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概念名词大全</a:t>
            </a:r>
            <a:endParaRPr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6.1 DAG</a:t>
            </a:r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Spark的核心是根据RDD来实现的，Spark Scheduler则为Spark核心实现的重要一环，其作用就是任务调度。Spark的任务调度就是如何组织任务去处理RDD中每个分区的数据，根据RDD的依赖关系构建DAG，基于DAG划分Stage，将每个Stage中的任务发到指定节点运行。基于Spark的任务调度原理，可以合理规划资源利用，做到尽可能用最少的资源高效地完成任务计算。</a:t>
            </a:r>
            <a:endParaRPr lang="zh-CN" altLang="en-US"/>
          </a:p>
          <a:p>
            <a:r>
              <a:rPr lang="zh-CN" altLang="en-US"/>
              <a:t>以词频统计WordCount程序为例，DAG图：</a:t>
            </a:r>
            <a:endParaRPr lang="zh-CN" altLang="en-US"/>
          </a:p>
        </p:txBody>
      </p:sp>
      <p:pic>
        <p:nvPicPr>
          <p:cNvPr id="110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330" y="3745230"/>
            <a:ext cx="8577580" cy="2883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6.1 DAG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115" y="1351280"/>
            <a:ext cx="8791575" cy="48482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45" y="6199505"/>
            <a:ext cx="2352675" cy="285750"/>
          </a:xfrm>
          <a:prstGeom prst="rect">
            <a:avLst/>
          </a:prstGeom>
        </p:spPr>
      </p:pic>
      <p:pic>
        <p:nvPicPr>
          <p:cNvPr id="113" name="图片 19"/>
          <p:cNvPicPr>
            <a:picLocks noChangeAspect="1"/>
          </p:cNvPicPr>
          <p:nvPr/>
        </p:nvPicPr>
        <p:blipFill>
          <a:blip r:embed="rId3"/>
          <a:srcRect b="1492"/>
          <a:stretch>
            <a:fillRect/>
          </a:stretch>
        </p:blipFill>
        <p:spPr>
          <a:xfrm>
            <a:off x="9702800" y="3634105"/>
            <a:ext cx="2331720" cy="28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6.1 DAG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560" y="1878965"/>
            <a:ext cx="5419725" cy="628650"/>
          </a:xfrm>
          <a:prstGeom prst="rect">
            <a:avLst/>
          </a:prstGeom>
        </p:spPr>
      </p:pic>
      <p:pic>
        <p:nvPicPr>
          <p:cNvPr id="109" name="图片 108"/>
          <p:cNvPicPr/>
          <p:nvPr/>
        </p:nvPicPr>
        <p:blipFill>
          <a:blip r:embed="rId2"/>
          <a:stretch>
            <a:fillRect/>
          </a:stretch>
        </p:blipFill>
        <p:spPr>
          <a:xfrm>
            <a:off x="797560" y="2507615"/>
            <a:ext cx="10769600" cy="25152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85" y="5351145"/>
            <a:ext cx="6410325" cy="2476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60" y="1355090"/>
            <a:ext cx="1352550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6.1 DAG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10" y="1457325"/>
            <a:ext cx="7219950" cy="42862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675" y="1457325"/>
            <a:ext cx="1352550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6.1 DAG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45" y="1831340"/>
            <a:ext cx="9772650" cy="19907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75" y="1302385"/>
            <a:ext cx="1162050" cy="409575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6.1 DAG</a:t>
            </a:r>
          </a:p>
        </p:txBody>
      </p:sp>
      <p:pic>
        <p:nvPicPr>
          <p:cNvPr id="110" name="图片 109"/>
          <p:cNvPicPr/>
          <p:nvPr/>
        </p:nvPicPr>
        <p:blipFill>
          <a:blip r:embed="rId1"/>
          <a:stretch>
            <a:fillRect/>
          </a:stretch>
        </p:blipFill>
        <p:spPr>
          <a:xfrm>
            <a:off x="710565" y="1609725"/>
            <a:ext cx="11383645" cy="45294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325" y="6230620"/>
            <a:ext cx="2628900" cy="2857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75" y="1302385"/>
            <a:ext cx="1162050" cy="409575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6.2 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DAG</a:t>
            </a:r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的宽窄依赖和阶段划分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" y="1457325"/>
            <a:ext cx="4486275" cy="2771775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6.2 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DAG</a:t>
            </a:r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的宽窄依赖和阶段划分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2430780"/>
            <a:ext cx="3248025" cy="17811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1457325"/>
            <a:ext cx="781050" cy="3905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860" y="2182495"/>
            <a:ext cx="3371850" cy="28765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840" y="2182495"/>
            <a:ext cx="3033395" cy="2781935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6.2 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DAG</a:t>
            </a:r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的宽窄依赖和阶段划分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313815"/>
            <a:ext cx="828675" cy="4191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1849755"/>
            <a:ext cx="3295650" cy="28384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945" y="2319020"/>
            <a:ext cx="3209925" cy="22193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600" y="2487930"/>
            <a:ext cx="4081780" cy="2113915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6.2 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DAG</a:t>
            </a:r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的宽窄依赖和阶段划分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334135"/>
            <a:ext cx="1047750" cy="4191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2542540"/>
            <a:ext cx="10339705" cy="27406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t="82099"/>
          <a:stretch>
            <a:fillRect/>
          </a:stretch>
        </p:blipFill>
        <p:spPr>
          <a:xfrm>
            <a:off x="710565" y="5411470"/>
            <a:ext cx="9686925" cy="8610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65" y="1757045"/>
            <a:ext cx="4638675" cy="657225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6.3 </a:t>
            </a:r>
            <a:r>
              <a:t>内存迭代计算</a:t>
            </a:r>
          </a:p>
        </p:txBody>
      </p:sp>
      <p:pic>
        <p:nvPicPr>
          <p:cNvPr id="111" name="图片 110"/>
          <p:cNvPicPr/>
          <p:nvPr/>
        </p:nvPicPr>
        <p:blipFill>
          <a:blip r:embed="rId1"/>
          <a:stretch>
            <a:fillRect/>
          </a:stretch>
        </p:blipFill>
        <p:spPr>
          <a:xfrm>
            <a:off x="961390" y="1457325"/>
            <a:ext cx="7957185" cy="24022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430" y="3796030"/>
            <a:ext cx="8170545" cy="286385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6.3 </a:t>
            </a:r>
            <a:r>
              <a:t>内存迭代计算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830" y="1457325"/>
            <a:ext cx="98298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6.3 </a:t>
            </a:r>
            <a:r>
              <a:t>内存迭代计算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765" y="1341755"/>
            <a:ext cx="9782175" cy="340995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6.4 Spark </a:t>
            </a:r>
            <a:r>
              <a:t>并行度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" y="1399540"/>
            <a:ext cx="4438650" cy="192405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6.4 Spark </a:t>
            </a:r>
            <a:r>
              <a:rPr>
                <a:sym typeface="+mn-ea"/>
              </a:rPr>
              <a:t>并行度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015" y="1341755"/>
            <a:ext cx="6391275" cy="4067175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6.4 Spark 并行度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465" y="1325245"/>
            <a:ext cx="9791700" cy="443865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6.4 Spark 并行度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115" y="1374140"/>
            <a:ext cx="2847975" cy="2009775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6.4 Spark 并行度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905" y="1388745"/>
            <a:ext cx="9810750" cy="1981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05" y="3369945"/>
            <a:ext cx="9782175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6.5 Spark</a:t>
            </a:r>
            <a:r>
              <a:t>的任务调度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975" y="1457325"/>
            <a:ext cx="3390900" cy="1733550"/>
          </a:xfrm>
          <a:prstGeom prst="rect">
            <a:avLst/>
          </a:prstGeom>
        </p:spPr>
      </p:pic>
      <p:pic>
        <p:nvPicPr>
          <p:cNvPr id="112" name="图片 111"/>
          <p:cNvPicPr/>
          <p:nvPr/>
        </p:nvPicPr>
        <p:blipFill>
          <a:blip r:embed="rId2"/>
          <a:stretch>
            <a:fillRect/>
          </a:stretch>
        </p:blipFill>
        <p:spPr>
          <a:xfrm>
            <a:off x="923925" y="3265170"/>
            <a:ext cx="7391400" cy="3333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350" y="1079500"/>
            <a:ext cx="6296025" cy="20478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2250" y="3965575"/>
            <a:ext cx="2524125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6.5 Spark</a:t>
            </a:r>
            <a:r>
              <a:rPr>
                <a:sym typeface="+mn-ea"/>
              </a:rPr>
              <a:t>的任务调度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655" y="1315720"/>
            <a:ext cx="2133600" cy="4381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655" y="2037715"/>
            <a:ext cx="4638675" cy="9334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55" y="3699510"/>
            <a:ext cx="874395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6.6 </a:t>
            </a:r>
            <a:r>
              <a:t>拓展</a:t>
            </a:r>
            <a:r>
              <a:rPr lang="en-US" altLang="zh-CN"/>
              <a:t> - Spark运行中的概念名词大全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035" y="1457325"/>
            <a:ext cx="7124700" cy="4886325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6.6 </a:t>
            </a:r>
            <a:r>
              <a:rPr>
                <a:sym typeface="+mn-ea"/>
              </a:rPr>
              <a:t>拓展</a:t>
            </a:r>
            <a:r>
              <a:rPr lang="en-US" altLang="zh-CN">
                <a:sym typeface="+mn-ea"/>
              </a:rPr>
              <a:t> - Spark运行中的概念名词大全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355" y="1595120"/>
            <a:ext cx="9734550" cy="3133725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>
                <a:solidFill>
                  <a:schemeClr val="tx1"/>
                </a:solidFill>
                <a:sym typeface="+mn-ea"/>
              </a:rPr>
              <a:t>6.7 Spark Shuffle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algn="l"/>
            <a:r>
              <a:rPr lang="en-US" altLang="zh-CN" sz="1400">
                <a:solidFill>
                  <a:schemeClr val="tx1"/>
                </a:solidFill>
              </a:rPr>
              <a:t>MR Shuffle </a:t>
            </a:r>
            <a:r>
              <a:rPr sz="1400">
                <a:solidFill>
                  <a:schemeClr val="tx1"/>
                </a:solidFill>
              </a:rPr>
              <a:t>回顾</a:t>
            </a:r>
            <a:endParaRPr sz="1400">
              <a:solidFill>
                <a:schemeClr val="tx1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首先回顾MapReduce框架中Shuffle过程，整体流程图如下：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890" y="2307590"/>
            <a:ext cx="8134350" cy="43053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>
                <a:solidFill>
                  <a:schemeClr val="tx1"/>
                </a:solidFill>
                <a:sym typeface="+mn-ea"/>
              </a:rPr>
              <a:t>6.7 Spark Shuffle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algn="l"/>
            <a:r>
              <a:rPr>
                <a:solidFill>
                  <a:schemeClr val="tx1"/>
                </a:solidFill>
                <a:sym typeface="+mn-ea"/>
              </a:rPr>
              <a:t>简介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245" y="1513760"/>
            <a:ext cx="10698800" cy="4219575"/>
          </a:xfrm>
        </p:spPr>
        <p:txBody>
          <a:bodyPr/>
          <a:lstStyle/>
          <a:p>
            <a:r>
              <a:rPr lang="zh-CN" altLang="en-US"/>
              <a:t>Spark在DAG调度阶段会将一个Job划分为多个Stage，上游Stage做map工作，下游Stage做reduce工作，其本质上还是MapReduce计算框架。Shuffle是连接map和reduce之间的桥梁，它将</a:t>
            </a:r>
            <a:r>
              <a:rPr lang="zh-CN" altLang="en-US">
                <a:solidFill>
                  <a:srgbClr val="FF0000"/>
                </a:solidFill>
              </a:rPr>
              <a:t>map的输出对应到reduce输入中</a:t>
            </a:r>
            <a:r>
              <a:rPr lang="zh-CN" altLang="en-US"/>
              <a:t>，涉及到序列化反序列化、跨节点网络IO以及磁盘读写IO等。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Spark的Shuffle分为Write和Read两个阶段，分属于两个不同的Stage，前者是Parent Stage的最后一步，后者是Child Stage的第一步。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0995" y="2628265"/>
            <a:ext cx="8896350" cy="344805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>
                <a:solidFill>
                  <a:schemeClr val="tx1"/>
                </a:solidFill>
                <a:sym typeface="+mn-ea"/>
              </a:rPr>
              <a:t>6.7 Spark Shuffle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algn="l"/>
            <a:r>
              <a:rPr>
                <a:solidFill>
                  <a:schemeClr val="tx1"/>
                </a:solidFill>
                <a:sym typeface="+mn-ea"/>
              </a:rPr>
              <a:t>简介</a:t>
            </a:r>
            <a:endParaRPr sz="12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执行Shuffle的主体是Stage中的并发任务，这些任务分ShuffleMapTask和ResultTask两种，ShuffleMapTask要进行Shuffle，ResultTask负责返回计算结果，一个Job中只有最后的Stage采用ResultTask，其他的均为ShuffleMapTask。如果要按照map端和reduce端来分析的话，ShuffleMapTask可以即是map端任务，又是reduce端任务，因为Spark中的Shuffle是可以串行的；ResultTask则只能充当reduce端任务的角色。</a:t>
            </a:r>
            <a:endParaRPr lang="zh-CN" altLang="en-US"/>
          </a:p>
        </p:txBody>
      </p:sp>
      <p:pic>
        <p:nvPicPr>
          <p:cNvPr id="117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2460" y="3632835"/>
            <a:ext cx="4920615" cy="2637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>
                <a:solidFill>
                  <a:schemeClr val="tx1"/>
                </a:solidFill>
                <a:sym typeface="+mn-ea"/>
              </a:rPr>
              <a:t>6.7 Spark Shuffle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algn="l"/>
            <a:r>
              <a:rPr>
                <a:solidFill>
                  <a:schemeClr val="tx1"/>
                </a:solidFill>
                <a:sym typeface="+mn-ea"/>
              </a:rPr>
              <a:t>简介</a:t>
            </a:r>
            <a:endParaRPr sz="12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Spark在1.1以前的版本一直是采用Hash Shuffle的实现的方式，到1.1版本时参考Hadoop MapReduce的实现开始引入Sort Shuffle，在1.5版本时开始Tungsten钨丝计划，引入UnSafe Shuffle优化内存及CPU的使用，在1.6中将Tungsten统一到Sort Shuffle中，实现自我感知选择最佳Shuffle方式，到的2.0版本，Hash Shuffle已被删除，所有Shuffle方式全部统一到Sort Shuffle一个实现中。</a:t>
            </a:r>
            <a:endParaRPr lang="zh-CN" altLang="en-US"/>
          </a:p>
        </p:txBody>
      </p:sp>
      <p:pic>
        <p:nvPicPr>
          <p:cNvPr id="118" name="图片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00" y="3173095"/>
            <a:ext cx="6095365" cy="3370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>
                <a:solidFill>
                  <a:schemeClr val="tx1"/>
                </a:solidFill>
                <a:sym typeface="+mn-ea"/>
              </a:rPr>
              <a:t>6.7 Spark Shuffle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algn="l"/>
            <a:r>
              <a:rPr>
                <a:solidFill>
                  <a:schemeClr val="tx1"/>
                </a:solidFill>
                <a:sym typeface="+mn-ea"/>
              </a:rPr>
              <a:t>简介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z="1400"/>
              <a:t>在Spark的中，负责shuffle过程的执行、计算和处理的组件主要就是ShuffleManager，也即shuffle管理器。ShuffleManager随着Spark的发展有两种实现的方式，分别为HashShuffleManager和SortShuffleManager，因此spark的Shuffle有Hash Shuffle和Sort Shuffle两种。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在Spark 1.2以前，默认的shuffle计算引擎是HashShuffleManager。该ShuffleManager而HashShuffleManager有着一个非常严重的弊端，就是会产生大量的中间磁盘文件，进而由大量的磁盘IO操作影响了性能。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因此在Spark 1.2以后的版本中，默认的ShuffleManager改成了SortShuffleManager。SortShuffleManager相较于HashShuffleManager来说，有了一定的改进。主要就在于，每个Task在进行shuffle操作时，虽然也会产生较多的临时磁盘文件，但是最后会将所有的临时文件合并(merge)成一个磁盘文件，因此每个Task就只有一个磁盘文件。在下一个stage的shuffle read task拉取自己的数据时，只要根据索引读取每个磁盘文件中的部分数据即可。</a:t>
            </a:r>
            <a:endParaRPr lang="zh-CN" altLang="en-US" sz="1400"/>
          </a:p>
        </p:txBody>
      </p:sp>
      <p:pic>
        <p:nvPicPr>
          <p:cNvPr id="119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0135" y="2517140"/>
            <a:ext cx="3491865" cy="2497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>
                <a:solidFill>
                  <a:schemeClr val="tx1"/>
                </a:solidFill>
                <a:sym typeface="+mn-ea"/>
              </a:rPr>
              <a:t>6.7 Spark Shuffle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algn="l"/>
            <a:r>
              <a:rPr lang="en-US" altLang="zh-CN" sz="1600" dirty="0">
                <a:solidFill>
                  <a:schemeClr val="tx1"/>
                </a:solidFill>
              </a:rPr>
              <a:t>Hash Shuffle </a:t>
            </a:r>
            <a:r>
              <a:rPr sz="1600" dirty="0">
                <a:solidFill>
                  <a:schemeClr val="tx1"/>
                </a:solidFill>
              </a:rPr>
              <a:t>了解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Shuffle阶段划分：</a:t>
            </a:r>
            <a:endParaRPr lang="zh-CN" altLang="en-US"/>
          </a:p>
          <a:p>
            <a:r>
              <a:rPr lang="zh-CN" altLang="en-US"/>
              <a:t>shuffle write：mapper阶段，上一个stage得到最后的结果写出</a:t>
            </a:r>
            <a:endParaRPr lang="zh-CN" altLang="en-US"/>
          </a:p>
          <a:p>
            <a:r>
              <a:rPr lang="zh-CN" altLang="en-US"/>
              <a:t>shuffle read ：reduce阶段，下一个stage拉取上一个stage进行合并</a:t>
            </a:r>
            <a:endParaRPr lang="zh-CN" altLang="en-US"/>
          </a:p>
          <a:p>
            <a:r>
              <a:rPr lang="zh-CN" altLang="en-US"/>
              <a:t>1)未经优化的hashShuffleManager：</a:t>
            </a:r>
            <a:endParaRPr lang="zh-CN" altLang="en-US"/>
          </a:p>
          <a:p>
            <a:r>
              <a:rPr lang="zh-CN" altLang="en-US"/>
              <a:t>HashShuffle是根据task的计算结果的key值的hashcode%ReduceTask来决定放入哪一个区分，这样保证相同的数据一定放入一个分区，Hash Shuffle过程如下：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2980" y="3784600"/>
            <a:ext cx="5046980" cy="2646045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>
                <a:solidFill>
                  <a:schemeClr val="tx1"/>
                </a:solidFill>
                <a:sym typeface="+mn-ea"/>
              </a:rPr>
              <a:t>6.7 Spark Shuffle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  <a:sym typeface="+mn-ea"/>
              </a:rPr>
              <a:t>Hash Shuffle </a:t>
            </a:r>
            <a:r>
              <a:rPr>
                <a:solidFill>
                  <a:schemeClr val="tx1"/>
                </a:solidFill>
                <a:sym typeface="+mn-ea"/>
              </a:rPr>
              <a:t>了解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根据下游的task决定生成几个文件，先生成缓冲区文件在写入磁盘文件，再将block文件进行合并。</a:t>
            </a:r>
            <a:endParaRPr lang="zh-CN" altLang="en-US"/>
          </a:p>
          <a:p>
            <a:r>
              <a:rPr lang="zh-CN" altLang="en-US"/>
              <a:t>未经优化的shuffle write操作所产生的磁盘文件的数量是极其惊人的。提出如下解决方案</a:t>
            </a:r>
            <a:endParaRPr lang="zh-CN" altLang="en-US"/>
          </a:p>
          <a:p>
            <a:r>
              <a:rPr lang="zh-CN" altLang="en-US"/>
              <a:t>2)经过优化的hashShuffleManager：</a:t>
            </a:r>
            <a:endParaRPr lang="zh-CN" altLang="en-US"/>
          </a:p>
          <a:p>
            <a:r>
              <a:rPr lang="zh-CN" altLang="en-US"/>
              <a:t>在shuffle write过程中，task就不是为下游stage的每个task创建一个磁盘文件了。此时会出现shuffleFileGroup的概念，每个shuffleFileGroup会对应一批磁盘文件，每一个Group磁盘文件的数量与下游stage的task数量是相同的。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2510" y="3985260"/>
            <a:ext cx="4547870" cy="2341245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>
                <a:solidFill>
                  <a:schemeClr val="tx1"/>
                </a:solidFill>
                <a:sym typeface="+mn-ea"/>
              </a:rPr>
              <a:t>6.7 Spark Shuffle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  <a:sym typeface="+mn-ea"/>
              </a:rPr>
              <a:t>Hash Shuffle </a:t>
            </a:r>
            <a:r>
              <a:rPr>
                <a:solidFill>
                  <a:schemeClr val="tx1"/>
                </a:solidFill>
                <a:sym typeface="+mn-ea"/>
              </a:rPr>
              <a:t>了解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未经优化：</a:t>
            </a:r>
            <a:endParaRPr lang="zh-CN" altLang="en-US"/>
          </a:p>
          <a:p>
            <a:r>
              <a:rPr lang="zh-CN" altLang="en-US"/>
              <a:t>上游的task数量：m</a:t>
            </a:r>
            <a:endParaRPr lang="zh-CN" altLang="en-US"/>
          </a:p>
          <a:p>
            <a:r>
              <a:rPr lang="zh-CN" altLang="en-US"/>
              <a:t>下游的task数量：n</a:t>
            </a:r>
            <a:endParaRPr lang="zh-CN" altLang="en-US"/>
          </a:p>
          <a:p>
            <a:r>
              <a:rPr lang="zh-CN" altLang="en-US"/>
              <a:t>上游的executor数量：k  (m&gt;=k)</a:t>
            </a:r>
            <a:endParaRPr lang="zh-CN" altLang="en-US"/>
          </a:p>
          <a:p>
            <a:r>
              <a:rPr lang="zh-CN" altLang="en-US"/>
              <a:t>总共的磁盘文件：m*n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优化之后的：</a:t>
            </a:r>
            <a:endParaRPr lang="zh-CN" altLang="en-US"/>
          </a:p>
          <a:p>
            <a:r>
              <a:rPr lang="zh-CN" altLang="en-US"/>
              <a:t>上游的task数量：m</a:t>
            </a:r>
            <a:endParaRPr lang="zh-CN" altLang="en-US"/>
          </a:p>
          <a:p>
            <a:r>
              <a:rPr lang="zh-CN" altLang="en-US"/>
              <a:t>下游的task数量：n</a:t>
            </a:r>
            <a:endParaRPr lang="zh-CN" altLang="en-US"/>
          </a:p>
          <a:p>
            <a:r>
              <a:rPr lang="zh-CN" altLang="en-US"/>
              <a:t>上游的executor数量：k  (m&gt;=k)</a:t>
            </a:r>
            <a:endParaRPr lang="zh-CN" altLang="en-US"/>
          </a:p>
          <a:p>
            <a:r>
              <a:rPr lang="zh-CN" altLang="en-US"/>
              <a:t>总共的磁盘文件：k*n</a:t>
            </a:r>
            <a:endParaRPr lang="zh-CN" altLang="en-US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>
                <a:solidFill>
                  <a:schemeClr val="tx1"/>
                </a:solidFill>
                <a:sym typeface="+mn-ea"/>
              </a:rPr>
              <a:t>6.7 Spark Shuffle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algn="l"/>
            <a:r>
              <a:rPr lang="en-US" altLang="zh-CN" sz="1600">
                <a:solidFill>
                  <a:schemeClr val="tx1"/>
                </a:solidFill>
                <a:sym typeface="+mn-ea"/>
              </a:rPr>
              <a:t>Sort Shuffle Manager </a:t>
            </a:r>
            <a:r>
              <a:rPr sz="1600">
                <a:solidFill>
                  <a:schemeClr val="tx1"/>
                </a:solidFill>
                <a:sym typeface="+mn-ea"/>
              </a:rPr>
              <a:t>了解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SortShuffleManager的运行机制主要分成两种，一种是普通运行机制，另一种是bypass运行机制。当shuffle write task的数量小于等于spark.shuffle.sort.bypassMergeThreshold参数的值时(默认为200)，就会启用bypass机制。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221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6020" y="2530475"/>
            <a:ext cx="5941695" cy="414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>
                <a:solidFill>
                  <a:schemeClr val="tx1"/>
                </a:solidFill>
                <a:sym typeface="+mn-ea"/>
              </a:rPr>
              <a:t>6.7 Spark Shuffle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algn="l"/>
            <a:r>
              <a:rPr lang="en-US" altLang="zh-CN" sz="1600">
                <a:solidFill>
                  <a:schemeClr val="tx1"/>
                </a:solidFill>
                <a:sym typeface="+mn-ea"/>
              </a:rPr>
              <a:t>Sort Shuffle Manager </a:t>
            </a:r>
            <a:r>
              <a:rPr sz="1600">
                <a:solidFill>
                  <a:schemeClr val="tx1"/>
                </a:solidFill>
                <a:sym typeface="+mn-ea"/>
              </a:rPr>
              <a:t>了解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/>
              <a:t>（1）该模式下，数据会先写入一个内存数据结构中(默认5M)，此时根据不同的shuffle算子，可能选用不同的数据结构。如果是reduceByKey这种聚合类的shuffle算子，那么会选用Map数据结构，一边通过Map进行聚合，一边写入内存;如果是join这种普通的shuffle算子，那么会选用Array数据结构，直接写入内存。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（2）接着，每写一条数据进入内存数据结构之后，就会判断一下，是否达到了某个临界阈值。如果达到临界阈值的话，那么就会尝试将内存数据结构中的数据溢写到磁盘，然后清空内存数据结构。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（3）排序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在溢写到磁盘文件之前，会先根据key对内存数据结构中已有的数据进行排序。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（4）溢写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排序过后，会分批将数据写入磁盘文件。默认的batch数量是10000条，也就是说，排序好的数据，会以每批1万条数据的形式分批写入磁盘文件。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（5）merge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一个task将所有数据写入内存数据结构的过程中，会发生多次磁盘溢写操作，也就会产生多个临时文件。最后会将之前所有的临时磁盘文件都进行合并成1个磁盘文件，这就是merge过程。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由于一个task就只对应一个磁盘文件，</a:t>
            </a:r>
            <a:r>
              <a:rPr lang="zh-CN" altLang="en-US" b="1" dirty="0">
                <a:solidFill>
                  <a:srgbClr val="FF0000"/>
                </a:solidFill>
              </a:rPr>
              <a:t>也就意味着该task为Reduce端的stage的task准备的数据都在这一个文件中，因此还会单独写一份索引文件</a:t>
            </a:r>
            <a:r>
              <a:rPr lang="zh-CN" altLang="en-US" dirty="0"/>
              <a:t>，其中标识了下游各个task的数据在文件中的start offset与end offset。</a:t>
            </a:r>
            <a:endParaRPr lang="zh-CN" altLang="en-US" dirty="0"/>
          </a:p>
          <a:p>
            <a:pPr>
              <a:lnSpc>
                <a:spcPct val="100000"/>
              </a:lnSpc>
            </a:pPr>
            <a:endParaRPr lang="zh-CN" altLang="en-US" dirty="0"/>
          </a:p>
          <a:p>
            <a:pPr>
              <a:lnSpc>
                <a:spcPct val="100000"/>
              </a:lnSpc>
            </a:pPr>
            <a:endParaRPr lang="zh-CN" altLang="en-US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>
                <a:solidFill>
                  <a:schemeClr val="tx1"/>
                </a:solidFill>
                <a:sym typeface="+mn-ea"/>
              </a:rPr>
              <a:t>6.7 Spark Shuffle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algn="l"/>
            <a:r>
              <a:rPr lang="en-US" altLang="zh-CN" sz="1600">
                <a:solidFill>
                  <a:schemeClr val="tx1"/>
                </a:solidFill>
                <a:sym typeface="+mn-ea"/>
              </a:rPr>
              <a:t>Sort Shuffle bypass</a:t>
            </a:r>
            <a:r>
              <a:rPr sz="1600">
                <a:solidFill>
                  <a:schemeClr val="tx1"/>
                </a:solidFill>
                <a:sym typeface="+mn-ea"/>
              </a:rPr>
              <a:t>机制</a:t>
            </a:r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/>
              <a:t>bypass运行机制的触发条件如下：</a:t>
            </a:r>
            <a:endParaRPr lang="zh-CN" altLang="en-US"/>
          </a:p>
          <a:p>
            <a:pPr>
              <a:lnSpc>
                <a:spcPct val="100000"/>
              </a:lnSpc>
            </a:pPr>
            <a:r>
              <a:rPr lang="zh-CN" altLang="en-US"/>
              <a:t>1)shuffle map task数量小于spark.shuffle.sort.bypassMergeThreshold=200参数的值。</a:t>
            </a:r>
            <a:endParaRPr lang="zh-CN" altLang="en-US"/>
          </a:p>
          <a:p>
            <a:pPr>
              <a:lnSpc>
                <a:spcPct val="100000"/>
              </a:lnSpc>
            </a:pPr>
            <a:r>
              <a:rPr lang="zh-CN" altLang="en-US"/>
              <a:t>2)不是map combine聚合的shuffle算子(比如reduceByKey有map combie)。</a:t>
            </a:r>
            <a:endParaRPr lang="zh-CN" altLang="en-US"/>
          </a:p>
          <a:p>
            <a:pPr>
              <a:lnSpc>
                <a:spcPct val="100000"/>
              </a:lnSpc>
            </a:pPr>
            <a:endParaRPr lang="zh-CN" altLang="en-US"/>
          </a:p>
        </p:txBody>
      </p:sp>
      <p:pic>
        <p:nvPicPr>
          <p:cNvPr id="222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9145" y="2663190"/>
            <a:ext cx="5553710" cy="3573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>
                <a:solidFill>
                  <a:schemeClr val="tx1"/>
                </a:solidFill>
                <a:sym typeface="+mn-ea"/>
              </a:rPr>
              <a:t>6.7 Spark Shuffle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algn="l"/>
            <a:r>
              <a:rPr lang="en-US" altLang="zh-CN" sz="1600">
                <a:solidFill>
                  <a:schemeClr val="tx1"/>
                </a:solidFill>
                <a:sym typeface="+mn-ea"/>
              </a:rPr>
              <a:t>Sort Shuffle bypass </a:t>
            </a:r>
            <a:r>
              <a:rPr sz="1600">
                <a:solidFill>
                  <a:schemeClr val="tx1"/>
                </a:solidFill>
                <a:sym typeface="+mn-ea"/>
              </a:rPr>
              <a:t>机制</a:t>
            </a:r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/>
              <a:t>bypass运行机制的触发条件如下：</a:t>
            </a:r>
            <a:endParaRPr lang="zh-CN" altLang="en-US"/>
          </a:p>
          <a:p>
            <a:pPr>
              <a:lnSpc>
                <a:spcPct val="100000"/>
              </a:lnSpc>
            </a:pPr>
            <a:r>
              <a:rPr lang="zh-CN" altLang="en-US"/>
              <a:t>1)shuffle map task数量小于spark.shuffle.sort.bypassMergeThreshold=200参数的值。</a:t>
            </a:r>
            <a:endParaRPr lang="zh-CN" altLang="en-US"/>
          </a:p>
          <a:p>
            <a:pPr>
              <a:lnSpc>
                <a:spcPct val="100000"/>
              </a:lnSpc>
            </a:pPr>
            <a:r>
              <a:rPr lang="zh-CN" altLang="en-US"/>
              <a:t>2)不是map combine聚合的shuffle算子(比如reduceByKey有map combie)。</a:t>
            </a:r>
            <a:endParaRPr lang="zh-CN" altLang="en-US"/>
          </a:p>
          <a:p>
            <a:pPr>
              <a:lnSpc>
                <a:spcPct val="100000"/>
              </a:lnSpc>
            </a:pPr>
            <a:endParaRPr lang="zh-CN" altLang="en-US"/>
          </a:p>
          <a:p>
            <a:pPr marL="285750" indent="-285750">
              <a:lnSpc>
                <a:spcPct val="100000"/>
              </a:lnSpc>
              <a:buFont typeface="Wingdings" panose="05000000000000000000" charset="0"/>
              <a:buChar char="l"/>
            </a:pPr>
            <a:r>
              <a:rPr lang="zh-CN" altLang="en-US"/>
              <a:t>此时task会为每个reduce端的task都创建一个临时磁盘文件，并将数据按key进行hash，然后根据key的hash值，将key写入对应的磁盘文件之中。当然，写入磁盘文件时也是先写入内存缓冲，缓冲写满之后再溢写到磁盘文件的。最后，同样会将所有临时磁盘文件都合并成一个磁盘文件，并创建一个单独的索引文件。</a:t>
            </a:r>
            <a:endParaRPr lang="zh-CN" altLang="en-US"/>
          </a:p>
          <a:p>
            <a:pPr marL="285750" indent="-285750">
              <a:lnSpc>
                <a:spcPct val="100000"/>
              </a:lnSpc>
              <a:buFont typeface="Wingdings" panose="05000000000000000000" charset="0"/>
              <a:buChar char="l"/>
            </a:pPr>
            <a:r>
              <a:rPr lang="zh-CN" altLang="en-US"/>
              <a:t>该过程的磁盘写机制其实跟未经优化的HashShuffleManager是一模一样的，因为都要创建数量惊人的磁盘文件，只是在最后会做一个磁盘文件的合并而已。因此少量的最终磁盘文件，也让该机制相对未经优化的HashShuffleManager来说，shuffle read的性能会更好。</a:t>
            </a:r>
            <a:endParaRPr lang="zh-CN" altLang="en-US"/>
          </a:p>
          <a:p>
            <a:pPr marL="285750" indent="-285750">
              <a:lnSpc>
                <a:spcPct val="100000"/>
              </a:lnSpc>
            </a:pPr>
            <a:r>
              <a:rPr lang="zh-CN" altLang="en-US"/>
              <a:t>而该机制与普通SortShuffleManager运行机制的不同在于：</a:t>
            </a:r>
            <a:endParaRPr lang="zh-CN" altLang="en-US"/>
          </a:p>
          <a:p>
            <a:pPr>
              <a:lnSpc>
                <a:spcPct val="100000"/>
              </a:lnSpc>
            </a:pPr>
            <a:r>
              <a:rPr lang="zh-CN" altLang="en-US"/>
              <a:t>第一，磁盘写机制不同;</a:t>
            </a:r>
            <a:endParaRPr lang="zh-CN" altLang="en-US"/>
          </a:p>
          <a:p>
            <a:pPr>
              <a:lnSpc>
                <a:spcPct val="100000"/>
              </a:lnSpc>
            </a:pPr>
            <a:r>
              <a:rPr lang="zh-CN" altLang="en-US"/>
              <a:t>第二，不会进行排序。也就是说，启用该机制的最大好处在于，shuffle write过程中，不需要进行数据的排序操作，也就节省掉了这部分的性能开销。</a:t>
            </a:r>
            <a:endParaRPr lang="zh-CN" altLang="en-US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>
                <a:solidFill>
                  <a:schemeClr val="tx1"/>
                </a:solidFill>
                <a:sym typeface="+mn-ea"/>
              </a:rPr>
              <a:t>6.7 Spark Shuffle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algn="l"/>
            <a:r>
              <a:rPr lang="en-US" altLang="zh-CN" sz="1600">
                <a:solidFill>
                  <a:schemeClr val="tx1"/>
                </a:solidFill>
                <a:sym typeface="+mn-ea"/>
              </a:rPr>
              <a:t>Sort Shuffle bypass </a:t>
            </a:r>
            <a:r>
              <a:rPr sz="1600">
                <a:solidFill>
                  <a:schemeClr val="tx1"/>
                </a:solidFill>
                <a:sym typeface="+mn-ea"/>
              </a:rPr>
              <a:t>机制</a:t>
            </a:r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/>
              <a:t>总结：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/>
              <a:t>SortShuffle也分为普通机制和bypass机制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/>
              <a:t>普通机制在内存数据结构(默认为5M)完成排序，会产生2M个磁盘小文件。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/>
              <a:t>而当shuffle map task数量小于spark.shuffle.sort.bypassMergeThreshold参数的值。或者算子不是聚合类的shuffle算子(比如reduceByKey)的时候会触发SortShuffle的bypass机制，SortShuffle的bypass机制不会进行排序，极大的提高了其性能。</a:t>
            </a:r>
            <a:endParaRPr lang="zh-CN" altLang="en-US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>
                <a:solidFill>
                  <a:schemeClr val="tx1"/>
                </a:solidFill>
                <a:sym typeface="+mn-ea"/>
              </a:rPr>
              <a:t>6.7 Spark Shuffle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algn="l"/>
            <a:r>
              <a:rPr lang="en-US" altLang="zh-CN" sz="1600">
                <a:solidFill>
                  <a:schemeClr val="tx1"/>
                </a:solidFill>
                <a:sym typeface="+mn-ea"/>
              </a:rPr>
              <a:t>Shuffle</a:t>
            </a:r>
            <a:r>
              <a:rPr sz="1600">
                <a:solidFill>
                  <a:schemeClr val="tx1"/>
                </a:solidFill>
                <a:sym typeface="+mn-ea"/>
              </a:rPr>
              <a:t>的配置选项</a:t>
            </a:r>
            <a:endParaRPr sz="16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Shuffle阶段划分：</a:t>
            </a:r>
            <a:endParaRPr lang="zh-CN" altLang="en-US"/>
          </a:p>
          <a:p>
            <a:r>
              <a:rPr lang="zh-CN" altLang="en-US"/>
              <a:t>shuffle write：mapper阶段，上一个stage得到最后的结果写出</a:t>
            </a:r>
            <a:endParaRPr lang="zh-CN" altLang="en-US"/>
          </a:p>
          <a:p>
            <a:r>
              <a:rPr lang="zh-CN" altLang="en-US"/>
              <a:t>shuffle read ：reduce阶段，下一个stage拉取上一个stage进行合并</a:t>
            </a:r>
            <a:endParaRPr lang="zh-CN" altLang="en-US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1000"/>
              <a:t>spark 的shuffle调优：主要是调整缓冲的大小，拉取次数重试重试次数与等待时间，内存比例分配，是否进行排序操作等等</a:t>
            </a:r>
            <a:endParaRPr lang="zh-CN" altLang="en-US" sz="1000"/>
          </a:p>
          <a:p>
            <a:pPr>
              <a:lnSpc>
                <a:spcPct val="100000"/>
              </a:lnSpc>
            </a:pPr>
            <a:r>
              <a:rPr lang="zh-CN" altLang="en-US" sz="1000" b="1"/>
              <a:t>spark.shuffle.file.buffer</a:t>
            </a:r>
            <a:endParaRPr lang="zh-CN" altLang="en-US" sz="1000" b="1"/>
          </a:p>
          <a:p>
            <a:pPr>
              <a:lnSpc>
                <a:spcPct val="100000"/>
              </a:lnSpc>
            </a:pPr>
            <a:r>
              <a:rPr lang="zh-CN" altLang="en-US" sz="1000"/>
              <a:t>参数说明：该参数用于设置shuffle write task的BufferedOutputStream的buffer缓冲大小（默认是32K）。将数据写到磁盘文件之前，会先写入buffer缓冲中，待缓冲写满之后，才会溢写到磁盘。</a:t>
            </a:r>
            <a:endParaRPr lang="zh-CN" altLang="en-US" sz="1000"/>
          </a:p>
          <a:p>
            <a:pPr>
              <a:lnSpc>
                <a:spcPct val="100000"/>
              </a:lnSpc>
            </a:pPr>
            <a:r>
              <a:rPr lang="zh-CN" altLang="en-US" sz="1000"/>
              <a:t>调优建议：如果作业可用的内存资源较为充足的话，可以适当增加这个参数的大小（比如64k），从而减少shuffle write过程中溢写磁盘文件的次数，也就可以减少磁盘IO次数，进而提升性能。在实践中发现，合理调节该参数，性能会有1%~5%的提升。</a:t>
            </a:r>
            <a:endParaRPr lang="zh-CN" altLang="en-US" sz="1000"/>
          </a:p>
          <a:p>
            <a:pPr algn="l">
              <a:lnSpc>
                <a:spcPct val="100000"/>
              </a:lnSpc>
              <a:buClrTx/>
              <a:buSzTx/>
            </a:pPr>
            <a:r>
              <a:rPr lang="zh-CN" altLang="en-US" sz="1000" b="1"/>
              <a:t>spark.reducer.maxSizeInFlight：</a:t>
            </a:r>
            <a:endParaRPr lang="zh-CN" altLang="en-US" sz="1000" b="1"/>
          </a:p>
          <a:p>
            <a:pPr>
              <a:lnSpc>
                <a:spcPct val="100000"/>
              </a:lnSpc>
            </a:pPr>
            <a:r>
              <a:rPr lang="zh-CN" altLang="en-US" sz="1000"/>
              <a:t>参数说明：该参数用于设置shuffle read task的buffer缓冲大小，而这个buffer缓冲决定了每次能够拉取多少数据。(默认48M)</a:t>
            </a:r>
            <a:endParaRPr lang="zh-CN" altLang="en-US" sz="1000"/>
          </a:p>
          <a:p>
            <a:pPr>
              <a:lnSpc>
                <a:spcPct val="100000"/>
              </a:lnSpc>
            </a:pPr>
            <a:r>
              <a:rPr lang="zh-CN" altLang="en-US" sz="1000"/>
              <a:t>调优建议：如果作业可用的内存资源较为充足的话，可以适当增加这个参数的大小（比如96m），从而减少拉取数据的次数，也就可以减少网络传输的次数，进而提升性能。在实践中发现，合理调节该参数，性能会有1%~5%的提升。</a:t>
            </a:r>
            <a:endParaRPr lang="zh-CN" altLang="en-US" sz="1000"/>
          </a:p>
          <a:p>
            <a:pPr algn="l">
              <a:lnSpc>
                <a:spcPct val="100000"/>
              </a:lnSpc>
              <a:buClrTx/>
              <a:buSzTx/>
            </a:pPr>
            <a:r>
              <a:rPr lang="zh-CN" altLang="en-US" sz="1000" b="1"/>
              <a:t>spark.shuffle.io.maxRetries and spark.shuffle.io.retryWait：</a:t>
            </a:r>
            <a:endParaRPr lang="zh-CN" altLang="en-US" sz="1000" b="1"/>
          </a:p>
          <a:p>
            <a:pPr>
              <a:lnSpc>
                <a:spcPct val="100000"/>
              </a:lnSpc>
            </a:pPr>
            <a:r>
              <a:rPr lang="zh-CN" altLang="en-US" sz="1000"/>
              <a:t>spark.shuffle.io.maxRetries ：shuffle read task从shuffle write task所在节点拉取属于自己的数据时，如果因为网络异常导致拉取失败，是会自动进行重试的。该参数就代表了可以重试的最大次数。（默认是3次）</a:t>
            </a:r>
            <a:endParaRPr lang="zh-CN" altLang="en-US" sz="1000"/>
          </a:p>
          <a:p>
            <a:pPr>
              <a:lnSpc>
                <a:spcPct val="100000"/>
              </a:lnSpc>
            </a:pPr>
            <a:r>
              <a:rPr lang="zh-CN" altLang="en-US" sz="1000"/>
              <a:t>spark.shuffle.io.retryWait：该参数代表了每次重试拉取数据的等待间隔。（默认为5s）</a:t>
            </a:r>
            <a:endParaRPr lang="zh-CN" altLang="en-US" sz="1000"/>
          </a:p>
          <a:p>
            <a:pPr>
              <a:lnSpc>
                <a:spcPct val="100000"/>
              </a:lnSpc>
            </a:pPr>
            <a:r>
              <a:rPr lang="zh-CN" altLang="en-US" sz="1000"/>
              <a:t>调优建议：一般的调优都是将重试次数调高，不调整时间间隔。</a:t>
            </a:r>
            <a:endParaRPr lang="zh-CN" altLang="en-US" sz="1000"/>
          </a:p>
          <a:p>
            <a:pPr algn="l">
              <a:lnSpc>
                <a:spcPct val="100000"/>
              </a:lnSpc>
              <a:buClrTx/>
              <a:buSzTx/>
            </a:pPr>
            <a:r>
              <a:rPr lang="zh-CN" altLang="en-US" sz="1000" b="1"/>
              <a:t>spark.shuffle.memoryFraction：</a:t>
            </a:r>
            <a:endParaRPr lang="zh-CN" altLang="en-US" sz="1000" b="1"/>
          </a:p>
          <a:p>
            <a:pPr>
              <a:lnSpc>
                <a:spcPct val="100000"/>
              </a:lnSpc>
            </a:pPr>
            <a:r>
              <a:rPr lang="zh-CN" altLang="en-US" sz="1000"/>
              <a:t>参数说明：该参数代表了Executor内存中，分配给shuffle read task进行聚合操作内存比例。</a:t>
            </a:r>
            <a:endParaRPr lang="zh-CN" altLang="en-US" sz="1000"/>
          </a:p>
          <a:p>
            <a:pPr>
              <a:lnSpc>
                <a:spcPct val="100000"/>
              </a:lnSpc>
            </a:pPr>
            <a:r>
              <a:rPr lang="zh-CN" altLang="en-US" sz="1000"/>
              <a:t>spark.shuffle.manager</a:t>
            </a:r>
            <a:endParaRPr lang="zh-CN" altLang="en-US" sz="1000"/>
          </a:p>
          <a:p>
            <a:pPr>
              <a:lnSpc>
                <a:spcPct val="100000"/>
              </a:lnSpc>
            </a:pPr>
            <a:r>
              <a:rPr lang="zh-CN" altLang="en-US" sz="1000"/>
              <a:t>参数说明：该参数用于设置shufflemanager的类型（默认为sort）.Spark1.5x以后有三个可选项：</a:t>
            </a:r>
            <a:endParaRPr lang="zh-CN" altLang="en-US" sz="1000"/>
          </a:p>
          <a:p>
            <a:pPr>
              <a:lnSpc>
                <a:spcPct val="100000"/>
              </a:lnSpc>
            </a:pPr>
            <a:r>
              <a:rPr lang="zh-CN" altLang="en-US" sz="1000"/>
              <a:t>Hash：spark1.x版本的默认值，HashShuffleManager</a:t>
            </a:r>
            <a:endParaRPr lang="zh-CN" altLang="en-US" sz="1000"/>
          </a:p>
          <a:p>
            <a:pPr>
              <a:lnSpc>
                <a:spcPct val="100000"/>
              </a:lnSpc>
            </a:pPr>
            <a:r>
              <a:rPr lang="zh-CN" altLang="en-US" sz="1000"/>
              <a:t>Sort：spark2.x版本的默认值，普通机制，当shuffle read task 的数量小于等于spark.shuffle.sort.bypassMergeThreshold参数，自动开启bypass 机制</a:t>
            </a:r>
            <a:endParaRPr lang="zh-CN" altLang="en-US" sz="1000"/>
          </a:p>
          <a:p>
            <a:pPr algn="l">
              <a:lnSpc>
                <a:spcPct val="100000"/>
              </a:lnSpc>
              <a:buClrTx/>
              <a:buSzTx/>
            </a:pPr>
            <a:r>
              <a:rPr lang="zh-CN" altLang="en-US" sz="1000" b="1"/>
              <a:t>spark.shuffle.sort.bypassMergeThreshold</a:t>
            </a:r>
            <a:endParaRPr lang="zh-CN" altLang="en-US" sz="1000" b="1"/>
          </a:p>
          <a:p>
            <a:pPr>
              <a:lnSpc>
                <a:spcPct val="100000"/>
              </a:lnSpc>
            </a:pPr>
            <a:r>
              <a:rPr lang="zh-CN" altLang="en-US" sz="1000"/>
              <a:t>参数说明：当ShuffleManager为SortShuffleManager时，如果shuffle read task的数量小于这个阈值（默认是200），则shuffle write过程中不会进行排序操作。</a:t>
            </a:r>
            <a:endParaRPr lang="zh-CN" altLang="en-US" sz="1000"/>
          </a:p>
          <a:p>
            <a:pPr>
              <a:lnSpc>
                <a:spcPct val="100000"/>
              </a:lnSpc>
            </a:pPr>
            <a:r>
              <a:rPr lang="zh-CN" altLang="en-US" sz="1000"/>
              <a:t>调优建议：当你使用SortShuffleManager时，如果的确不需要排序操作，那么建议将这个参数调大一些</a:t>
            </a:r>
            <a:endParaRPr lang="zh-CN" altLang="en-US" sz="1000"/>
          </a:p>
        </p:txBody>
      </p:sp>
      <p:sp>
        <p:nvSpPr>
          <p:cNvPr id="7" name="文本占位符 2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>
                <a:solidFill>
                  <a:schemeClr val="tx1"/>
                </a:solidFill>
                <a:sym typeface="+mn-ea"/>
              </a:rPr>
              <a:t>6.7 Spark Shuffle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algn="l"/>
            <a:r>
              <a:rPr lang="en-US" altLang="zh-CN" sz="1600">
                <a:solidFill>
                  <a:schemeClr val="tx1"/>
                </a:solidFill>
                <a:sym typeface="+mn-ea"/>
              </a:rPr>
              <a:t>Shuffle</a:t>
            </a:r>
            <a:r>
              <a:rPr sz="1600">
                <a:solidFill>
                  <a:schemeClr val="tx1"/>
                </a:solidFill>
                <a:sym typeface="+mn-ea"/>
              </a:rPr>
              <a:t>的配置选项</a:t>
            </a:r>
            <a:endParaRPr sz="16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600" dirty="0" smtClean="0">
                <a:sym typeface="+mn-ea"/>
              </a:rPr>
              <a:t>1. DAG</a:t>
            </a:r>
            <a:r>
              <a:rPr lang="zh-CN" altLang="en-US" sz="1600" dirty="0" smtClean="0">
                <a:sym typeface="+mn-ea"/>
              </a:rPr>
              <a:t>是什么有什么用</a:t>
            </a:r>
            <a:r>
              <a:rPr lang="en-US" altLang="zh-CN" sz="1600" dirty="0" smtClean="0">
                <a:sym typeface="+mn-ea"/>
              </a:rPr>
              <a:t>? </a:t>
            </a:r>
            <a:endParaRPr lang="en-US" altLang="zh-CN" sz="1600" dirty="0" smtClean="0">
              <a:sym typeface="+mn-ea"/>
            </a:endParaRPr>
          </a:p>
          <a:p>
            <a:pPr marL="0" indent="0">
              <a:buNone/>
            </a:pPr>
            <a:r>
              <a:rPr lang="en-US" altLang="zh-CN" sz="1000" dirty="0" smtClean="0">
                <a:sym typeface="+mn-ea"/>
              </a:rPr>
              <a:t>DAG</a:t>
            </a:r>
            <a:r>
              <a:rPr lang="zh-CN" altLang="en-US" sz="1000" dirty="0" smtClean="0">
                <a:sym typeface="+mn-ea"/>
              </a:rPr>
              <a:t>有向无环图</a:t>
            </a:r>
            <a:r>
              <a:rPr lang="en-US" altLang="zh-CN" sz="1000" dirty="0" smtClean="0">
                <a:sym typeface="+mn-ea"/>
              </a:rPr>
              <a:t>, </a:t>
            </a:r>
            <a:r>
              <a:rPr lang="zh-CN" altLang="en-US" sz="1000" dirty="0" smtClean="0">
                <a:sym typeface="+mn-ea"/>
              </a:rPr>
              <a:t>用以描述任务执行流程</a:t>
            </a:r>
            <a:r>
              <a:rPr lang="en-US" altLang="zh-CN" sz="1000" dirty="0" smtClean="0">
                <a:sym typeface="+mn-ea"/>
              </a:rPr>
              <a:t>,</a:t>
            </a:r>
            <a:r>
              <a:rPr lang="zh-CN" altLang="en-US" sz="1000" dirty="0" smtClean="0">
                <a:sym typeface="+mn-ea"/>
              </a:rPr>
              <a:t>主要作用是协助</a:t>
            </a:r>
            <a:r>
              <a:rPr lang="en-US" altLang="zh-CN" sz="1000" dirty="0" smtClean="0">
                <a:sym typeface="+mn-ea"/>
              </a:rPr>
              <a:t>DAG</a:t>
            </a:r>
            <a:r>
              <a:rPr lang="zh-CN" altLang="en-US" sz="1000" dirty="0" smtClean="0">
                <a:sym typeface="+mn-ea"/>
              </a:rPr>
              <a:t>调度器构建</a:t>
            </a:r>
            <a:r>
              <a:rPr lang="en-US" altLang="zh-CN" sz="1000" dirty="0" smtClean="0">
                <a:sym typeface="+mn-ea"/>
              </a:rPr>
              <a:t>Task</a:t>
            </a:r>
            <a:r>
              <a:rPr lang="zh-CN" altLang="en-US" sz="1000" dirty="0" smtClean="0">
                <a:sym typeface="+mn-ea"/>
              </a:rPr>
              <a:t>分配用以做任务管理</a:t>
            </a:r>
            <a:endParaRPr lang="en-US" altLang="zh-CN" sz="1000" dirty="0" smtClean="0">
              <a:sym typeface="+mn-ea"/>
            </a:endParaRPr>
          </a:p>
          <a:p>
            <a:pPr marL="0" indent="0">
              <a:buNone/>
            </a:pPr>
            <a:r>
              <a:rPr lang="en-US" altLang="zh-CN" sz="1600" dirty="0" smtClean="0">
                <a:sym typeface="+mn-ea"/>
              </a:rPr>
              <a:t>2. </a:t>
            </a:r>
            <a:r>
              <a:rPr lang="zh-CN" altLang="en-US" sz="1600" dirty="0" smtClean="0">
                <a:sym typeface="+mn-ea"/>
              </a:rPr>
              <a:t>内存迭代</a:t>
            </a:r>
            <a:r>
              <a:rPr lang="en-US" altLang="zh-CN" sz="1600" dirty="0" smtClean="0">
                <a:sym typeface="+mn-ea"/>
              </a:rPr>
              <a:t>\</a:t>
            </a:r>
            <a:r>
              <a:rPr lang="zh-CN" altLang="en-US" sz="1600" dirty="0" smtClean="0">
                <a:sym typeface="+mn-ea"/>
              </a:rPr>
              <a:t>阶段划分</a:t>
            </a:r>
            <a:r>
              <a:rPr lang="en-US" altLang="zh-CN" sz="1600" dirty="0" smtClean="0">
                <a:sym typeface="+mn-ea"/>
              </a:rPr>
              <a:t>?</a:t>
            </a:r>
            <a:endParaRPr lang="en-US" altLang="zh-CN" sz="1600" dirty="0" smtClean="0">
              <a:sym typeface="+mn-ea"/>
            </a:endParaRPr>
          </a:p>
          <a:p>
            <a:pPr marL="0" indent="0">
              <a:buNone/>
            </a:pPr>
            <a:r>
              <a:rPr lang="zh-CN" altLang="en-US" sz="1000" dirty="0" smtClean="0">
                <a:sym typeface="+mn-ea"/>
              </a:rPr>
              <a:t>基于</a:t>
            </a:r>
            <a:r>
              <a:rPr lang="en-US" altLang="zh-CN" sz="1000" dirty="0" smtClean="0">
                <a:sym typeface="+mn-ea"/>
              </a:rPr>
              <a:t>DAG</a:t>
            </a:r>
            <a:r>
              <a:rPr lang="zh-CN" altLang="en-US" sz="1000" dirty="0" smtClean="0">
                <a:sym typeface="+mn-ea"/>
              </a:rPr>
              <a:t>的宽窄依赖划分阶段</a:t>
            </a:r>
            <a:r>
              <a:rPr lang="en-US" altLang="zh-CN" sz="1000" dirty="0" smtClean="0">
                <a:sym typeface="+mn-ea"/>
              </a:rPr>
              <a:t>,</a:t>
            </a:r>
            <a:r>
              <a:rPr lang="zh-CN" altLang="en-US" sz="1000" dirty="0" smtClean="0">
                <a:sym typeface="+mn-ea"/>
              </a:rPr>
              <a:t>阶段内部都是窄依赖可以构建内存迭代的管道</a:t>
            </a:r>
            <a:endParaRPr lang="en-US" altLang="zh-CN" sz="1000" dirty="0" smtClean="0">
              <a:sym typeface="+mn-ea"/>
            </a:endParaRPr>
          </a:p>
          <a:p>
            <a:pPr marL="0" indent="0">
              <a:buNone/>
            </a:pPr>
            <a:r>
              <a:rPr lang="en-US" altLang="zh-CN" sz="1600" dirty="0" smtClean="0">
                <a:sym typeface="+mn-ea"/>
              </a:rPr>
              <a:t>3. DAG</a:t>
            </a:r>
            <a:r>
              <a:rPr lang="zh-CN" altLang="en-US" sz="1600" dirty="0" smtClean="0">
                <a:sym typeface="+mn-ea"/>
              </a:rPr>
              <a:t>调度器是</a:t>
            </a:r>
            <a:r>
              <a:rPr lang="en-US" altLang="zh-CN" sz="1600" dirty="0" smtClean="0">
                <a:sym typeface="+mn-ea"/>
              </a:rPr>
              <a:t>?</a:t>
            </a:r>
            <a:endParaRPr lang="en-US" altLang="zh-CN" sz="1600" dirty="0" smtClean="0">
              <a:sym typeface="+mn-ea"/>
            </a:endParaRPr>
          </a:p>
          <a:p>
            <a:pPr marL="0" indent="0">
              <a:buNone/>
            </a:pPr>
            <a:r>
              <a:rPr lang="zh-CN" altLang="en-US" sz="1000" dirty="0" smtClean="0">
                <a:sym typeface="+mn-ea"/>
              </a:rPr>
              <a:t>构建</a:t>
            </a:r>
            <a:r>
              <a:rPr lang="en-US" altLang="zh-CN" sz="1000" dirty="0" smtClean="0">
                <a:sym typeface="+mn-ea"/>
              </a:rPr>
              <a:t>Task</a:t>
            </a:r>
            <a:r>
              <a:rPr lang="zh-CN" altLang="en-US" sz="1000" dirty="0" smtClean="0">
                <a:sym typeface="+mn-ea"/>
              </a:rPr>
              <a:t>分配用以做任务管理</a:t>
            </a:r>
            <a:endParaRPr lang="zh-CN" altLang="en-US" sz="1000" dirty="0" smtClean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RDD</a:t>
            </a:r>
            <a:r>
              <a:rPr lang="zh-CN" altLang="en-US"/>
              <a:t>详解</a:t>
            </a:r>
            <a:endParaRPr lang="zh-CN" altLang="en-US"/>
          </a:p>
          <a:p>
            <a:r>
              <a:rPr lang="en-US" altLang="zh-CN"/>
              <a:t>RDD</a:t>
            </a:r>
            <a:r>
              <a:rPr lang="zh-CN" altLang="en-US"/>
              <a:t>创建</a:t>
            </a:r>
            <a:endParaRPr lang="zh-CN" altLang="en-US"/>
          </a:p>
          <a:p>
            <a:r>
              <a:rPr lang="en-US" altLang="zh-CN"/>
              <a:t>RDD</a:t>
            </a:r>
            <a:r>
              <a:rPr lang="zh-CN" altLang="en-US"/>
              <a:t>的操作</a:t>
            </a:r>
            <a:endParaRPr lang="zh-CN" altLang="en-US"/>
          </a:p>
          <a:p>
            <a:r>
              <a:rPr lang="en-US" altLang="zh-CN"/>
              <a:t>RDD</a:t>
            </a:r>
            <a:r>
              <a:rPr lang="zh-CN" altLang="en-US"/>
              <a:t>持久化</a:t>
            </a:r>
            <a:endParaRPr lang="zh-CN" altLang="en-US"/>
          </a:p>
          <a:p>
            <a:r>
              <a:rPr lang="en-US" altLang="zh-CN"/>
              <a:t>RDD</a:t>
            </a:r>
            <a:r>
              <a:rPr lang="zh-CN" altLang="en-US"/>
              <a:t>的</a:t>
            </a:r>
            <a:r>
              <a:rPr lang="en-US" altLang="zh-CN"/>
              <a:t>checkpoint</a:t>
            </a:r>
            <a:endParaRPr lang="en-US" altLang="zh-CN"/>
          </a:p>
          <a:p>
            <a:r>
              <a:rPr lang="en-US" altLang="zh-CN"/>
              <a:t>Spark</a:t>
            </a:r>
            <a:r>
              <a:rPr lang="zh-CN" altLang="en-US"/>
              <a:t>案例练习</a:t>
            </a:r>
            <a:endParaRPr lang="zh-CN" altLang="en-US"/>
          </a:p>
          <a:p>
            <a:r>
              <a:rPr lang="zh-CN" altLang="en-US"/>
              <a:t>共享变量</a:t>
            </a:r>
            <a:endParaRPr lang="zh-CN" altLang="en-US"/>
          </a:p>
          <a:p>
            <a:r>
              <a:rPr lang="en-US" altLang="zh-CN"/>
              <a:t>Spark</a:t>
            </a:r>
            <a:r>
              <a:rPr lang="zh-CN" altLang="en-US"/>
              <a:t>内核调度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全天知识点总结</a:t>
            </a:r>
            <a:endParaRPr lang="zh-CN" altLang="en-US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RDD</a:t>
            </a:r>
            <a:r>
              <a:rPr lang="zh-CN" altLang="en-US" dirty="0"/>
              <a:t>的案例实战代码写</a:t>
            </a:r>
            <a:r>
              <a:rPr lang="en-US" altLang="zh-CN" dirty="0"/>
              <a:t>2</a:t>
            </a:r>
            <a:r>
              <a:rPr lang="zh-CN" altLang="en-US" dirty="0"/>
              <a:t>遍</a:t>
            </a:r>
            <a:endParaRPr lang="en-US" altLang="zh-CN" dirty="0"/>
          </a:p>
          <a:p>
            <a:r>
              <a:rPr lang="en-US" dirty="0"/>
              <a:t>Spark</a:t>
            </a:r>
            <a:r>
              <a:rPr lang="zh-CN" altLang="en-US" b="1" dirty="0"/>
              <a:t>内核调度概念做到理解</a:t>
            </a:r>
            <a:r>
              <a:rPr lang="zh-CN" altLang="en-US" dirty="0"/>
              <a:t>，原理图画</a:t>
            </a:r>
            <a:r>
              <a:rPr lang="en-US" altLang="zh-CN" dirty="0"/>
              <a:t>1</a:t>
            </a:r>
            <a:r>
              <a:rPr lang="zh-CN" altLang="en-US" dirty="0"/>
              <a:t>遍</a:t>
            </a:r>
            <a:endParaRPr lang="zh-CN" altLang="en-US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130,&quot;width&quot;:8700}"/>
</p:tagLst>
</file>

<file path=ppt/tags/tag2.xml><?xml version="1.0" encoding="utf-8"?>
<p:tagLst xmlns:p="http://schemas.openxmlformats.org/presentationml/2006/main">
  <p:tag name="KSO_WM_UNIT_PLACING_PICTURE_USER_VIEWPORT" val="{&quot;height&quot;:4530,&quot;width&quot;:12300}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13178</Words>
  <Application>WPS 演示</Application>
  <PresentationFormat>宽屏</PresentationFormat>
  <Paragraphs>592</Paragraphs>
  <Slides>156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28</vt:i4>
      </vt:variant>
      <vt:variant>
        <vt:lpstr>幻灯片标题</vt:lpstr>
      </vt:variant>
      <vt:variant>
        <vt:i4>156</vt:i4>
      </vt:variant>
    </vt:vector>
  </HeadingPairs>
  <TitlesOfParts>
    <vt:vector size="203" baseType="lpstr">
      <vt:lpstr>Arial</vt:lpstr>
      <vt:lpstr>宋体</vt:lpstr>
      <vt:lpstr>Wingdings</vt:lpstr>
      <vt:lpstr>Calibri</vt:lpstr>
      <vt:lpstr>黑体</vt:lpstr>
      <vt:lpstr>Sitka Heading</vt:lpstr>
      <vt:lpstr>Alibaba PuHuiTi R</vt:lpstr>
      <vt:lpstr>Segoe UI</vt:lpstr>
      <vt:lpstr>微软雅黑</vt:lpstr>
      <vt:lpstr>Verdana</vt:lpstr>
      <vt:lpstr>阿里巴巴普惠体</vt:lpstr>
      <vt:lpstr>Alibaba PuHuiTi M</vt:lpstr>
      <vt:lpstr>Segoe UI Light</vt:lpstr>
      <vt:lpstr>微软雅黑 Light</vt:lpstr>
      <vt:lpstr>华文楷体</vt:lpstr>
      <vt:lpstr>Alibaba PuHuiTi B</vt:lpstr>
      <vt:lpstr>Wingdings</vt:lpstr>
      <vt:lpstr>Arial Unicode MS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1_章节页版式（一级+二级标题）</vt:lpstr>
      <vt:lpstr>1_目录</vt:lpstr>
      <vt:lpstr>1_正文设计方案</vt:lpstr>
      <vt:lpstr>2_正文设计方案</vt:lpstr>
      <vt:lpstr>19_正文设计方案</vt:lpstr>
      <vt:lpstr>18_正文设计方案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13_正文设计方案</vt:lpstr>
      <vt:lpstr>14_正文设计方案</vt:lpstr>
      <vt:lpstr>15_正文设计方案</vt:lpstr>
      <vt:lpstr>16_正文设计方案</vt:lpstr>
      <vt:lpstr>17_正文设计方案</vt:lpstr>
      <vt:lpstr>Spark Core</vt:lpstr>
      <vt:lpstr>PowerPoint 演示文稿</vt:lpstr>
      <vt:lpstr>PowerPoint 演示文稿</vt:lpstr>
      <vt:lpstr> RDD详解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RDD 编程入门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RDD的持久化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Spark案例练习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共享变量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Spark 内核调度(重点理解)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全天知识点总结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曹宇[囧]</cp:lastModifiedBy>
  <cp:revision>2291</cp:revision>
  <dcterms:created xsi:type="dcterms:W3CDTF">2020-03-31T02:23:00Z</dcterms:created>
  <dcterms:modified xsi:type="dcterms:W3CDTF">2022-01-03T03:50:02Z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EB301631A7B446C8A504D74B1DA3704E</vt:lpwstr>
  </property>
</Properties>
</file>